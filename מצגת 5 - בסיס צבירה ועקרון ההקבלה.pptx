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92" r:id="rId1"/>
  </p:sldMasterIdLst>
  <p:notesMasterIdLst>
    <p:notesMasterId r:id="rId7"/>
  </p:notesMasterIdLst>
  <p:sldIdLst>
    <p:sldId id="256" r:id="rId2"/>
    <p:sldId id="609" r:id="rId3"/>
    <p:sldId id="615" r:id="rId4"/>
    <p:sldId id="616" r:id="rId5"/>
    <p:sldId id="617" r:id="rId6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2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3" pos="211" userDrawn="1">
          <p15:clr>
            <a:srgbClr val="A4A3A4"/>
          </p15:clr>
        </p15:guide>
        <p15:guide id="4" orient="horz" pos="3793" userDrawn="1">
          <p15:clr>
            <a:srgbClr val="A4A3A4"/>
          </p15:clr>
        </p15:guide>
        <p15:guide id="5" orient="horz" pos="4065" userDrawn="1">
          <p15:clr>
            <a:srgbClr val="A4A3A4"/>
          </p15:clr>
        </p15:guide>
        <p15:guide id="6" orient="horz" pos="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02" autoAdjust="0"/>
    <p:restoredTop sz="93915" autoAdjust="0"/>
  </p:normalViewPr>
  <p:slideViewPr>
    <p:cSldViewPr snapToGrid="0">
      <p:cViewPr varScale="1">
        <p:scale>
          <a:sx n="155" d="100"/>
          <a:sy n="155" d="100"/>
        </p:scale>
        <p:origin x="832" y="192"/>
      </p:cViewPr>
      <p:guideLst>
        <p:guide orient="horz" pos="482"/>
        <p:guide pos="7242"/>
        <p:guide pos="211"/>
        <p:guide orient="horz" pos="3793"/>
        <p:guide orient="horz" pos="4065"/>
        <p:guide orient="horz" pos="86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60F80C3D-4427-424E-9722-D57B80968263}" type="datetimeFigureOut">
              <a:rPr lang="he-IL" smtClean="0"/>
              <a:t>כ"ז.אלול.תשפ"ו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8BBBC12D-D2F2-4939-AC69-CA0ACD17177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849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6617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CD882-842E-0674-A1BC-51B93A31A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1A2A6-A1BF-3323-7388-5FDB0FD0A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B3C9D-9A83-5AF0-BF7E-C7D632354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448C3-DA94-5B31-4F72-63BBA79FD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5848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18F3-DC9E-3FED-9603-154CA01C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4D41F-65AC-A286-7505-F3A84AE11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BDFCB8-6ABF-E487-AB77-0E2FB6D4C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A2B89-F76F-5F48-CDD4-BB858C5D4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51893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8F259-E018-10C4-CEE2-118175233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BB002-CDDB-B279-9D7C-85C304007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F29A13-1F91-0B05-4006-F91FA44A2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5E82E-6CD5-2482-F337-AFF71A733A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49043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8CAF1-0F8B-11FB-6582-31CDEABE7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72F12B-D99B-EADF-66DD-470E443C2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A73F25-FE8F-D17F-7B84-D599C8EDC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1CEFB-A85B-69BE-4FDC-18C1DB752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BC12D-D2F2-4939-AC69-CA0ACD171770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3145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80B9C5-B38B-4AF6-88B2-C93C34D31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16E71AC1-ABB4-4516-AEF7-51492BFBD2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E70E375-2177-4488-BCA9-7B4E54C1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E28C2-0F06-4F36-886A-3804D3F77962}" type="datetime8">
              <a:rPr lang="he-IL" smtClean="0"/>
              <a:t>9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DF384B0-95D1-4D37-B57B-408DB6448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BDC20E5-6BF6-4423-8D8D-966B37EB9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9634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D0F5833-22CC-435F-BEA1-AF8085FC5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1F8480D-0D0E-4583-982B-27D7D937D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FC8D696-CBCE-45F6-91C5-4763C3239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1060-047E-4799-9B1E-376DF9501AF9}" type="datetime8">
              <a:rPr lang="he-IL" smtClean="0"/>
              <a:t>9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021F108-21DE-46C8-A0CB-830B4C57F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A154C54-8C12-41BC-897D-4C717C25B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97692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2D66B81-52E6-491E-ADCE-566B6D109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AB794D7-699C-415C-B232-9186A8EC7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0EDFEDD-CF0B-40A3-92B1-0742D8D1A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B4F7A-478C-478F-A129-B50C513A9D65}" type="datetime8">
              <a:rPr lang="he-IL" smtClean="0"/>
              <a:t>9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EFAC21B-A1C3-4492-8268-DB017B66A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EB3CEF8-B335-4761-A77E-8E89EF8DA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61151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99315BC-E298-4FE8-9007-00EFC8AF0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A9B19DE-927B-4C23-ADEE-7F21842310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B7999C3-605D-47FC-A673-778EA4435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6EC70B7-4CF1-4C1F-8667-108993BE5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2FE74-9DC4-4460-A8AF-12369A62080D}" type="datetime8">
              <a:rPr lang="he-IL" smtClean="0"/>
              <a:t>9 בספטמבר 26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022FB1E-86F7-4819-8F63-520E091B3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8CE15A6-6742-4B17-99D1-60F17CE2A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81911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4966954-05C3-43F9-BA5F-6D34444D1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60BC888-DB16-4CDA-AD8B-F23D4E5A3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BB6F1CD-45C1-4DCC-84B6-F6D27BF3F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CCA7BE57-5B78-4844-8870-E173474275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F3E68953-B9CC-4F05-AE65-4ABF75590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5D07E5C7-01D5-4AEB-86BD-7A3991DC7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8569-CA94-419E-8FED-D3857FB7C120}" type="datetime8">
              <a:rPr lang="he-IL" smtClean="0"/>
              <a:t>9 בספטמבר 26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3E8D898-EB0F-4AEC-A871-162672676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7A9C13EE-91B7-4DD0-9C9E-17FE2400C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18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7C37D0D-7F72-4FE2-B904-BA1C3FF0C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C6145B79-9884-42E3-AFE2-BB2D4D756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2ED25-44FA-40AF-A0CE-48D9A5CFC4B7}" type="datetime8">
              <a:rPr lang="he-IL" smtClean="0"/>
              <a:t>9 בספטמבר 26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5BAA4183-A8EF-45A7-B4A6-50720621B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DB88F70-7D39-4FB5-BD25-F08667FE1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86636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85D18A7F-D3EF-4845-BA9A-FF29D1228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8A85-D523-4934-9BB1-C16CB40C7F61}" type="datetime8">
              <a:rPr lang="he-IL" smtClean="0"/>
              <a:t>9 בספטמבר 26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4BE786F1-9DA3-4F66-BD99-58753BD0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5D297AA-FC66-4A4D-A97C-6A49D4B82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85686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1586B10-471D-4319-AE00-8DAF88E80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F4D7EE1-1D6E-43CF-AC80-C18EFE1E0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E7A05C6-21F9-4D6F-B835-CED277186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5118413-8ABD-4A34-96B7-EB27EF26D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DDA4-3223-45A6-A4CF-F31B5A57301F}" type="datetime8">
              <a:rPr lang="he-IL" smtClean="0"/>
              <a:t>9 בספטמבר 26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B86180F-9C05-404C-86D1-721223ADC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DB15874-FA3D-4E9F-A6FA-85E8A16F2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7407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3E9C88F-DA88-432A-AE9F-549B524A2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05FC37BE-B82D-47FF-A27D-27FC450366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4275B3F-B458-4ADA-8CBD-D70A25071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FB4872C-D475-4CF1-8EBD-DD513E8C3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D3BAA-3D3B-49C0-84B9-4E3C40A53051}" type="datetime8">
              <a:rPr lang="he-IL" smtClean="0"/>
              <a:t>9 בספטמבר 26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962AC37-5D9F-4D2A-973F-9DD1A1BF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E810D01-EED7-4D48-B2E1-98448D9A4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168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BD0AD62-FAF3-4CE2-9382-B9A530F4A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B8B050E7-ABA2-4659-B2BB-CFE82083B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FFA3A12-C275-4C64-8A79-B2C6F72EE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3AEE5-626A-4A95-8287-92698485905B}" type="datetime8">
              <a:rPr lang="he-IL" smtClean="0"/>
              <a:t>9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EB2DEDF-1539-475C-A2DA-072ED0976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E62C614-81F8-4EF0-8293-E95BC7B26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67378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20EC8CEC-D95C-4B2D-A15D-0A19A5D48E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06964C0-47A3-468B-B99E-3737CFE62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EA00D65-FA93-489D-B04D-ACFEF4C0C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239D8-6ACF-437D-AC0F-335C89A03CAD}" type="datetime8">
              <a:rPr lang="he-IL" smtClean="0"/>
              <a:t>9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8D0A5DC-770E-4DFB-B69D-CB98D00E4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785E96A-D14D-46B3-9545-25887A929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51157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F49EFEBF-3302-40B9-9A90-6433ECF3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6C63085-541E-4727-8334-58EA143D2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F8A6766-D0D5-428B-8ED5-809700D5A9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2C0F1-6FF9-4835-9D06-7FDC9ACA4C0D}" type="datetime8">
              <a:rPr lang="he-IL" smtClean="0"/>
              <a:t>9 בספטמבר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DFE62F2-5C03-44D7-86F6-7EE3CD707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D2813EB-BA3D-4268-8842-5725FB735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77E55-A8C3-4255-B9A2-095E6DAD864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1915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A782D7-A741-4698-8C4A-B05EE54E4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7953" y="2174180"/>
            <a:ext cx="6276089" cy="893134"/>
          </a:xfrm>
        </p:spPr>
        <p:txBody>
          <a:bodyPr>
            <a:noAutofit/>
          </a:bodyPr>
          <a:lstStyle/>
          <a:p>
            <a:r>
              <a:rPr lang="he-IL" sz="44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יסודות החשבונאות</a:t>
            </a:r>
            <a:br>
              <a:rPr lang="he-IL" sz="44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he-IL" sz="44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10280</a:t>
            </a:r>
          </a:p>
        </p:txBody>
      </p:sp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182E4EF0-5081-4592-9096-B4CA3DAE6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כותרת 1">
            <a:extLst>
              <a:ext uri="{FF2B5EF4-FFF2-40B4-BE49-F238E27FC236}">
                <a16:creationId xmlns:a16="http://schemas.microsoft.com/office/drawing/2014/main" id="{140FD856-B064-4B1D-BAA1-A713FB07BAF4}"/>
              </a:ext>
            </a:extLst>
          </p:cNvPr>
          <p:cNvSpPr txBox="1">
            <a:spLocks/>
          </p:cNvSpPr>
          <p:nvPr/>
        </p:nvSpPr>
        <p:spPr>
          <a:xfrm>
            <a:off x="2607689" y="4237253"/>
            <a:ext cx="697661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44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דיווח על בסיס צבירה</a:t>
            </a:r>
          </a:p>
          <a:p>
            <a:r>
              <a:rPr lang="he-IL" sz="44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ועקרון ההקבלה</a:t>
            </a:r>
          </a:p>
        </p:txBody>
      </p:sp>
    </p:spTree>
    <p:extLst>
      <p:ext uri="{BB962C8B-B14F-4D97-AF65-F5344CB8AC3E}">
        <p14:creationId xmlns:p14="http://schemas.microsoft.com/office/powerpoint/2010/main" val="39901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A5C12-B7D7-642E-F9DF-B13F54B12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D475FDB8-9CCE-9060-1DD7-9711058B1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0BDA26DA-BC40-150B-04FD-CFBC606580C6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עקרון מרכזי – בסיס צבירה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14FD9146-3988-ECA5-3CF1-604B4D9E4203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בסיס צבירה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403D09A4-D45E-8D07-2434-CF9B068AB8C4}"/>
              </a:ext>
            </a:extLst>
          </p:cNvPr>
          <p:cNvSpPr txBox="1">
            <a:spLocks/>
          </p:cNvSpPr>
          <p:nvPr/>
        </p:nvSpPr>
        <p:spPr>
          <a:xfrm>
            <a:off x="2090056" y="1715099"/>
            <a:ext cx="2711263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יציאה של משאבים</a:t>
            </a:r>
          </a:p>
          <a:p>
            <a:pPr algn="ctr"/>
            <a:r>
              <a:rPr lang="he-IL" sz="20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יכולה להירשם כנגד:</a:t>
            </a:r>
            <a:endParaRPr lang="he-IL" sz="1800" dirty="0">
              <a:solidFill>
                <a:schemeClr val="tx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6EF4C2D7-C0B3-CD01-C568-EA3EDAC576F4}"/>
              </a:ext>
            </a:extLst>
          </p:cNvPr>
          <p:cNvSpPr txBox="1">
            <a:spLocks/>
          </p:cNvSpPr>
          <p:nvPr/>
        </p:nvSpPr>
        <p:spPr>
          <a:xfrm>
            <a:off x="7390682" y="1715099"/>
            <a:ext cx="2711263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כניסה של משאבים</a:t>
            </a:r>
          </a:p>
          <a:p>
            <a:pPr algn="ctr"/>
            <a:r>
              <a:rPr lang="he-IL" sz="20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יכולה להירשם כנגד:</a:t>
            </a:r>
            <a:endParaRPr lang="he-IL" sz="1800" dirty="0">
              <a:solidFill>
                <a:schemeClr val="tx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6" name="גרפיקה 2" descr="חץ: עקומה נגד כיוון השעון">
            <a:extLst>
              <a:ext uri="{FF2B5EF4-FFF2-40B4-BE49-F238E27FC236}">
                <a16:creationId xmlns:a16="http://schemas.microsoft.com/office/drawing/2014/main" id="{381E9865-AFA8-88A2-FFB9-30B30BAA7E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9275231" y="3122767"/>
            <a:ext cx="914400" cy="914400"/>
          </a:xfrm>
          <a:prstGeom prst="rect">
            <a:avLst/>
          </a:prstGeom>
        </p:spPr>
      </p:pic>
      <p:pic>
        <p:nvPicPr>
          <p:cNvPr id="7" name="גרפיקה 4" descr="חץ: ישר">
            <a:extLst>
              <a:ext uri="{FF2B5EF4-FFF2-40B4-BE49-F238E27FC236}">
                <a16:creationId xmlns:a16="http://schemas.microsoft.com/office/drawing/2014/main" id="{BF33AE87-035E-E42C-61E8-35D2040357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8289113" y="3279710"/>
            <a:ext cx="914400" cy="914400"/>
          </a:xfrm>
          <a:prstGeom prst="rect">
            <a:avLst/>
          </a:prstGeom>
        </p:spPr>
      </p:pic>
      <p:pic>
        <p:nvPicPr>
          <p:cNvPr id="8" name="גרפיקה 18" descr="חץ: עקומה נגד כיוון השעון">
            <a:extLst>
              <a:ext uri="{FF2B5EF4-FFF2-40B4-BE49-F238E27FC236}">
                <a16:creationId xmlns:a16="http://schemas.microsoft.com/office/drawing/2014/main" id="{73C9D1B5-6DAD-C4B0-E3EA-728546CB6F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>
            <a:off x="7302994" y="3154353"/>
            <a:ext cx="914401" cy="914400"/>
          </a:xfrm>
          <a:prstGeom prst="rect">
            <a:avLst/>
          </a:prstGeom>
        </p:spPr>
      </p:pic>
      <p:pic>
        <p:nvPicPr>
          <p:cNvPr id="9" name="גרפיקה 19" descr="חץ: עקומה נגד כיוון השעון">
            <a:extLst>
              <a:ext uri="{FF2B5EF4-FFF2-40B4-BE49-F238E27FC236}">
                <a16:creationId xmlns:a16="http://schemas.microsoft.com/office/drawing/2014/main" id="{DC2235F5-8DA7-9818-239E-2A24AE018F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974605" y="3162445"/>
            <a:ext cx="914400" cy="914400"/>
          </a:xfrm>
          <a:prstGeom prst="rect">
            <a:avLst/>
          </a:prstGeom>
        </p:spPr>
      </p:pic>
      <p:pic>
        <p:nvPicPr>
          <p:cNvPr id="10" name="גרפיקה 20" descr="חץ: ישר">
            <a:extLst>
              <a:ext uri="{FF2B5EF4-FFF2-40B4-BE49-F238E27FC236}">
                <a16:creationId xmlns:a16="http://schemas.microsoft.com/office/drawing/2014/main" id="{696DAB6A-B43F-CFD2-87B1-BF84EBE24B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2988487" y="3319388"/>
            <a:ext cx="914400" cy="914400"/>
          </a:xfrm>
          <a:prstGeom prst="rect">
            <a:avLst/>
          </a:prstGeom>
        </p:spPr>
      </p:pic>
      <p:pic>
        <p:nvPicPr>
          <p:cNvPr id="11" name="גרפיקה 21" descr="חץ: עקומה נגד כיוון השעון">
            <a:extLst>
              <a:ext uri="{FF2B5EF4-FFF2-40B4-BE49-F238E27FC236}">
                <a16:creationId xmlns:a16="http://schemas.microsoft.com/office/drawing/2014/main" id="{AB79EB68-4E58-D883-B8E2-286C820DD4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>
            <a:off x="2002368" y="3194031"/>
            <a:ext cx="914401" cy="914400"/>
          </a:xfrm>
          <a:prstGeom prst="rect">
            <a:avLst/>
          </a:prstGeom>
        </p:spPr>
      </p:pic>
      <p:sp>
        <p:nvSpPr>
          <p:cNvPr id="12" name="כותרת משנה 2">
            <a:extLst>
              <a:ext uri="{FF2B5EF4-FFF2-40B4-BE49-F238E27FC236}">
                <a16:creationId xmlns:a16="http://schemas.microsoft.com/office/drawing/2014/main" id="{1EAC46D8-61C7-C166-7BDC-32A0256324D8}"/>
              </a:ext>
            </a:extLst>
          </p:cNvPr>
          <p:cNvSpPr txBox="1">
            <a:spLocks/>
          </p:cNvSpPr>
          <p:nvPr/>
        </p:nvSpPr>
        <p:spPr>
          <a:xfrm>
            <a:off x="9646706" y="3899175"/>
            <a:ext cx="130364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1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הכרה בהכנסה</a:t>
            </a:r>
          </a:p>
        </p:txBody>
      </p:sp>
      <p:sp>
        <p:nvSpPr>
          <p:cNvPr id="13" name="כותרת משנה 2">
            <a:extLst>
              <a:ext uri="{FF2B5EF4-FFF2-40B4-BE49-F238E27FC236}">
                <a16:creationId xmlns:a16="http://schemas.microsoft.com/office/drawing/2014/main" id="{CA5278CC-0CD6-8BB4-6665-CFDE224632D9}"/>
              </a:ext>
            </a:extLst>
          </p:cNvPr>
          <p:cNvSpPr txBox="1">
            <a:spLocks/>
          </p:cNvSpPr>
          <p:nvPr/>
        </p:nvSpPr>
        <p:spPr>
          <a:xfrm>
            <a:off x="6494187" y="3923695"/>
            <a:ext cx="130364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1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קיטון של נכס אחר</a:t>
            </a:r>
          </a:p>
        </p:txBody>
      </p:sp>
      <p:sp>
        <p:nvSpPr>
          <p:cNvPr id="14" name="כותרת משנה 2">
            <a:extLst>
              <a:ext uri="{FF2B5EF4-FFF2-40B4-BE49-F238E27FC236}">
                <a16:creationId xmlns:a16="http://schemas.microsoft.com/office/drawing/2014/main" id="{D608F0A4-F7D3-760C-F985-28FF51E2EEAE}"/>
              </a:ext>
            </a:extLst>
          </p:cNvPr>
          <p:cNvSpPr txBox="1">
            <a:spLocks/>
          </p:cNvSpPr>
          <p:nvPr/>
        </p:nvSpPr>
        <p:spPr>
          <a:xfrm>
            <a:off x="8094489" y="4241945"/>
            <a:ext cx="130364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1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רישום של התחייבות</a:t>
            </a:r>
          </a:p>
        </p:txBody>
      </p:sp>
      <p:sp>
        <p:nvSpPr>
          <p:cNvPr id="15" name="כותרת משנה 2">
            <a:extLst>
              <a:ext uri="{FF2B5EF4-FFF2-40B4-BE49-F238E27FC236}">
                <a16:creationId xmlns:a16="http://schemas.microsoft.com/office/drawing/2014/main" id="{0CD40E8A-C39D-F1FA-7E38-120699D5A62F}"/>
              </a:ext>
            </a:extLst>
          </p:cNvPr>
          <p:cNvSpPr txBox="1">
            <a:spLocks/>
          </p:cNvSpPr>
          <p:nvPr/>
        </p:nvSpPr>
        <p:spPr>
          <a:xfrm>
            <a:off x="4449094" y="3933221"/>
            <a:ext cx="130364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1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רישום של הוצאה</a:t>
            </a:r>
          </a:p>
        </p:txBody>
      </p:sp>
      <p:sp>
        <p:nvSpPr>
          <p:cNvPr id="16" name="כותרת משנה 2">
            <a:extLst>
              <a:ext uri="{FF2B5EF4-FFF2-40B4-BE49-F238E27FC236}">
                <a16:creationId xmlns:a16="http://schemas.microsoft.com/office/drawing/2014/main" id="{35AE8D90-4AED-F655-3E06-B9B86E906AD6}"/>
              </a:ext>
            </a:extLst>
          </p:cNvPr>
          <p:cNvSpPr txBox="1">
            <a:spLocks/>
          </p:cNvSpPr>
          <p:nvPr/>
        </p:nvSpPr>
        <p:spPr>
          <a:xfrm>
            <a:off x="1155922" y="3933221"/>
            <a:ext cx="130364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1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קיטון של התחייבות אחרת</a:t>
            </a:r>
          </a:p>
        </p:txBody>
      </p:sp>
      <p:sp>
        <p:nvSpPr>
          <p:cNvPr id="17" name="כותרת משנה 2">
            <a:extLst>
              <a:ext uri="{FF2B5EF4-FFF2-40B4-BE49-F238E27FC236}">
                <a16:creationId xmlns:a16="http://schemas.microsoft.com/office/drawing/2014/main" id="{F81E259B-B13A-5508-5D0C-7D03C0660B22}"/>
              </a:ext>
            </a:extLst>
          </p:cNvPr>
          <p:cNvSpPr txBox="1">
            <a:spLocks/>
          </p:cNvSpPr>
          <p:nvPr/>
        </p:nvSpPr>
        <p:spPr>
          <a:xfrm>
            <a:off x="2828781" y="4266466"/>
            <a:ext cx="1233810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e-IL" sz="1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הכרה בנכס</a:t>
            </a:r>
          </a:p>
        </p:txBody>
      </p:sp>
      <p:pic>
        <p:nvPicPr>
          <p:cNvPr id="19" name="תמונה 28">
            <a:extLst>
              <a:ext uri="{FF2B5EF4-FFF2-40B4-BE49-F238E27FC236}">
                <a16:creationId xmlns:a16="http://schemas.microsoft.com/office/drawing/2014/main" id="{6DE7897D-6B14-77DE-FEFE-928FBF2D19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19" y="209020"/>
            <a:ext cx="1556436" cy="155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615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1E65A-F474-8287-CD65-EDB1FBC6A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2052C9ED-829D-1328-2019-95C22B963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3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0C8F57E6-8685-DCF2-58B4-52C2CD5013A0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עקרון מרכזי – בסיס צבירה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E793B6B4-E1AD-7CF9-CAB7-163AAD7E4237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בסיס צבירה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9FAE1AC7-DDB4-28A3-5445-C898C6217125}"/>
              </a:ext>
            </a:extLst>
          </p:cNvPr>
          <p:cNvSpPr txBox="1">
            <a:spLocks/>
          </p:cNvSpPr>
          <p:nvPr/>
        </p:nvSpPr>
        <p:spPr>
          <a:xfrm>
            <a:off x="699248" y="1493709"/>
            <a:ext cx="1079742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תחת התקינה הבינלאומית (ה-</a:t>
            </a:r>
            <a:r>
              <a:rPr lang="en-US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IFRS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), כמו במערכות תקינה חשבונאית מודרניות נוספות, הרישום של הכנסות והוצאות נעשה על בסיס צבירה (וכתוצאה מכך, נוצרים הנכסים וההתחייבויות).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FE24E2ED-D52F-A85E-B428-F6C6D582594F}"/>
              </a:ext>
            </a:extLst>
          </p:cNvPr>
          <p:cNvSpPr txBox="1">
            <a:spLocks/>
          </p:cNvSpPr>
          <p:nvPr/>
        </p:nvSpPr>
        <p:spPr>
          <a:xfrm>
            <a:off x="697286" y="2881755"/>
            <a:ext cx="1079742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עיקרון זה עומד בסתירה עם העיקרון של רישום על בסיס מזומן. ברישום על בסיס מזומן כניסה של כסף משמעותה הכנסה ויציאה של כסף משמעותה הוצאה (מאוד לא משקף מהות עסקית!)</a:t>
            </a:r>
          </a:p>
        </p:txBody>
      </p:sp>
      <p:sp>
        <p:nvSpPr>
          <p:cNvPr id="6" name="כותרת משנה 2">
            <a:extLst>
              <a:ext uri="{FF2B5EF4-FFF2-40B4-BE49-F238E27FC236}">
                <a16:creationId xmlns:a16="http://schemas.microsoft.com/office/drawing/2014/main" id="{4477AD9C-C147-C05C-6190-25A8ECD00FEF}"/>
              </a:ext>
            </a:extLst>
          </p:cNvPr>
          <p:cNvSpPr txBox="1">
            <a:spLocks/>
          </p:cNvSpPr>
          <p:nvPr/>
        </p:nvSpPr>
        <p:spPr>
          <a:xfrm>
            <a:off x="699248" y="4364555"/>
            <a:ext cx="1079742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u="sng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על פי העיקרון של בסיס הצבירה</a:t>
            </a:r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– </a:t>
            </a:r>
          </a:p>
          <a:p>
            <a:pPr algn="ctr"/>
            <a:r>
              <a:rPr lang="he-IL" sz="2800" b="1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הכנסות והוצאות תוכרנה על בסיס התהוותן בפועל!</a:t>
            </a:r>
          </a:p>
        </p:txBody>
      </p:sp>
      <p:sp>
        <p:nvSpPr>
          <p:cNvPr id="7" name="מלבן: פינות מעוגלות 8">
            <a:extLst>
              <a:ext uri="{FF2B5EF4-FFF2-40B4-BE49-F238E27FC236}">
                <a16:creationId xmlns:a16="http://schemas.microsoft.com/office/drawing/2014/main" id="{512491CD-F635-21C0-A789-F4E81A92855F}"/>
              </a:ext>
            </a:extLst>
          </p:cNvPr>
          <p:cNvSpPr/>
          <p:nvPr/>
        </p:nvSpPr>
        <p:spPr>
          <a:xfrm>
            <a:off x="2237116" y="4930588"/>
            <a:ext cx="7704743" cy="601184"/>
          </a:xfrm>
          <a:prstGeom prst="roundRect">
            <a:avLst>
              <a:gd name="adj" fmla="val 14075"/>
            </a:avLst>
          </a:prstGeom>
          <a:noFill/>
          <a:ln w="127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8" name="תמונה 2">
            <a:extLst>
              <a:ext uri="{FF2B5EF4-FFF2-40B4-BE49-F238E27FC236}">
                <a16:creationId xmlns:a16="http://schemas.microsoft.com/office/drawing/2014/main" id="{AF13A3BF-04D5-7052-777E-07A936313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81" y="4468367"/>
            <a:ext cx="1362330" cy="136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033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C8B98-BF4E-45BA-D4D8-034AB1B9A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668B79E8-0041-54BB-9568-61C463E37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4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9684A453-76A5-C8B8-7B77-3A6852B2EA29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עקרון מרכזי – בסיס צבירה – דוגמה להמחשה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E9FC7F86-93F9-B638-E534-CA6CF17CC2AF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בסיס צבירה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BA6DA0B6-C92F-AE63-FCE4-23EDA0B53639}"/>
              </a:ext>
            </a:extLst>
          </p:cNvPr>
          <p:cNvSpPr txBox="1">
            <a:spLocks/>
          </p:cNvSpPr>
          <p:nvPr/>
        </p:nvSpPr>
        <p:spPr>
          <a:xfrm>
            <a:off x="699248" y="1493709"/>
            <a:ext cx="1079742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החברה רכשה בסוף שנה 1 מכונה תמורת 400,000 ש״ח, שיכולה לשמש אותה 4 שנים ולהפיק רווח גולמי שנתי בסך 150,000 ש״ח.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A5945DDF-296C-449A-DC13-45B964222B30}"/>
              </a:ext>
            </a:extLst>
          </p:cNvPr>
          <p:cNvSpPr txBox="1">
            <a:spLocks/>
          </p:cNvSpPr>
          <p:nvPr/>
        </p:nvSpPr>
        <p:spPr>
          <a:xfrm>
            <a:off x="699248" y="2548509"/>
            <a:ext cx="1079742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איך יראה דיווח על בסיס מזומן?</a:t>
            </a:r>
          </a:p>
        </p:txBody>
      </p:sp>
    </p:spTree>
    <p:extLst>
      <p:ext uri="{BB962C8B-B14F-4D97-AF65-F5344CB8AC3E}">
        <p14:creationId xmlns:p14="http://schemas.microsoft.com/office/powerpoint/2010/main" val="577713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C1F17-99B3-5231-D72F-C93508B8D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ציין מיקום של מספר שקופית 17">
            <a:extLst>
              <a:ext uri="{FF2B5EF4-FFF2-40B4-BE49-F238E27FC236}">
                <a16:creationId xmlns:a16="http://schemas.microsoft.com/office/drawing/2014/main" id="{EE13DDC7-196E-27D3-D33A-D04AAE464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4963" y="6192000"/>
            <a:ext cx="905540" cy="666491"/>
          </a:xfrm>
        </p:spPr>
        <p:txBody>
          <a:bodyPr/>
          <a:lstStyle/>
          <a:p>
            <a:fld id="{3FA77E55-A8C3-4255-B9A2-095E6DAD864F}" type="slidenum">
              <a:rPr lang="he-IL" sz="1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5</a:t>
            </a:fld>
            <a:endParaRPr lang="he-IL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CFF662E1-9CF2-DBE3-3079-176EF54F9925}"/>
              </a:ext>
            </a:extLst>
          </p:cNvPr>
          <p:cNvSpPr txBox="1">
            <a:spLocks/>
          </p:cNvSpPr>
          <p:nvPr/>
        </p:nvSpPr>
        <p:spPr>
          <a:xfrm>
            <a:off x="2237116" y="483229"/>
            <a:ext cx="9259557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b="1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עקרון מרכזי – בסיס צבירה – דוגמה להמחשה</a:t>
            </a: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0D84782D-3291-89DD-9E79-F700F4AE9DD0}"/>
              </a:ext>
            </a:extLst>
          </p:cNvPr>
          <p:cNvSpPr txBox="1">
            <a:spLocks/>
          </p:cNvSpPr>
          <p:nvPr/>
        </p:nvSpPr>
        <p:spPr>
          <a:xfrm>
            <a:off x="5220584" y="-120980"/>
            <a:ext cx="6276089" cy="893134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4000" dirty="0">
                <a:solidFill>
                  <a:schemeClr val="tx1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בסיס צבירה</a:t>
            </a:r>
          </a:p>
        </p:txBody>
      </p: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0321FE24-7A9E-CA6B-6EE6-A6C577E2CAFB}"/>
              </a:ext>
            </a:extLst>
          </p:cNvPr>
          <p:cNvSpPr txBox="1">
            <a:spLocks/>
          </p:cNvSpPr>
          <p:nvPr/>
        </p:nvSpPr>
        <p:spPr>
          <a:xfrm>
            <a:off x="699248" y="1493709"/>
            <a:ext cx="1079742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החברה רכשה בסוף שנה 1 מכונה תמורת 400,000 ש״ח, שיכולה לשמש אותה 4 שנים ולהפיק רווח גולמי שנתי בסך 150,000 ש״ח.</a:t>
            </a:r>
          </a:p>
        </p:txBody>
      </p:sp>
      <p:sp>
        <p:nvSpPr>
          <p:cNvPr id="5" name="כותרת משנה 2">
            <a:extLst>
              <a:ext uri="{FF2B5EF4-FFF2-40B4-BE49-F238E27FC236}">
                <a16:creationId xmlns:a16="http://schemas.microsoft.com/office/drawing/2014/main" id="{BD35064F-B0E2-7585-748E-B866DFE8881F}"/>
              </a:ext>
            </a:extLst>
          </p:cNvPr>
          <p:cNvSpPr txBox="1">
            <a:spLocks/>
          </p:cNvSpPr>
          <p:nvPr/>
        </p:nvSpPr>
        <p:spPr>
          <a:xfrm>
            <a:off x="699248" y="2548509"/>
            <a:ext cx="10797427" cy="66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1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he-IL" sz="2800" dirty="0">
                <a:solidFill>
                  <a:schemeClr val="tx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איך יראה דיווח על בסיס צבירה?</a:t>
            </a:r>
          </a:p>
        </p:txBody>
      </p:sp>
    </p:spTree>
    <p:extLst>
      <p:ext uri="{BB962C8B-B14F-4D97-AF65-F5344CB8AC3E}">
        <p14:creationId xmlns:p14="http://schemas.microsoft.com/office/powerpoint/2010/main" val="348191563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20154</TotalTime>
  <Words>232</Words>
  <Application>Microsoft Macintosh PowerPoint</Application>
  <PresentationFormat>Widescreen</PresentationFormat>
  <Paragraphs>39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Segoe UI Light</vt:lpstr>
      <vt:lpstr>ערכת נושא Office</vt:lpstr>
      <vt:lpstr>יסודות החשבונאות 10280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מסים על ההכנסה</dc:title>
  <dc:creator>דימה פנטליס</dc:creator>
  <cp:lastModifiedBy>Dima Fantalis</cp:lastModifiedBy>
  <cp:revision>232</cp:revision>
  <dcterms:created xsi:type="dcterms:W3CDTF">2018-10-16T21:27:06Z</dcterms:created>
  <dcterms:modified xsi:type="dcterms:W3CDTF">2026-09-09T10:05:55Z</dcterms:modified>
</cp:coreProperties>
</file>