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92" r:id="rId1"/>
  </p:sldMasterIdLst>
  <p:notesMasterIdLst>
    <p:notesMasterId r:id="rId14"/>
  </p:notesMasterIdLst>
  <p:sldIdLst>
    <p:sldId id="256" r:id="rId2"/>
    <p:sldId id="602" r:id="rId3"/>
    <p:sldId id="603" r:id="rId4"/>
    <p:sldId id="604" r:id="rId5"/>
    <p:sldId id="605" r:id="rId6"/>
    <p:sldId id="606" r:id="rId7"/>
    <p:sldId id="608" r:id="rId8"/>
    <p:sldId id="611" r:id="rId9"/>
    <p:sldId id="612" r:id="rId10"/>
    <p:sldId id="613" r:id="rId11"/>
    <p:sldId id="614" r:id="rId12"/>
    <p:sldId id="609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orient="horz" pos="3793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 autoAdjust="0"/>
    <p:restoredTop sz="93915" autoAdjust="0"/>
  </p:normalViewPr>
  <p:slideViewPr>
    <p:cSldViewPr snapToGrid="0">
      <p:cViewPr varScale="1">
        <p:scale>
          <a:sx n="127" d="100"/>
          <a:sy n="127" d="100"/>
        </p:scale>
        <p:origin x="624" y="192"/>
      </p:cViewPr>
      <p:guideLst>
        <p:guide orient="horz" pos="482"/>
        <p:guide pos="7242"/>
        <p:guide pos="211"/>
        <p:guide orient="horz" pos="3793"/>
        <p:guide orient="horz" pos="4065"/>
        <p:guide orient="horz" pos="8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0F80C3D-4427-424E-9722-D57B80968263}" type="datetimeFigureOut">
              <a:rPr lang="he-IL" smtClean="0"/>
              <a:t>כ"ד.אלול.תשפ"ו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BBBC12D-D2F2-4939-AC69-CA0ACD17177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84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6617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013EF-9190-FC4B-8CAC-7B795B36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5BD52-7236-BBDE-4B02-3CC3B14F6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BA92D-AB34-4E87-2A79-C0323A3CC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D25B4-45EC-4920-80E7-985C64E6C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8946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43ED-4D54-C271-77A8-80CCFA25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658B3-E7AE-3BB3-FE26-E75625964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7BA4A-0CA5-7E0C-B9F7-970743719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77C6-7319-26E6-EFC7-A3ABD3ACA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2747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0ABB3-4A49-E34D-5014-F9C3E3F9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29580-F656-07D0-2440-28D5FF269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8568A-5E09-558A-5672-DDABC7684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CA6CD-4EE4-0C95-95BE-A18458DFD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6032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F8D5-4E4B-5925-4A7C-392B4C3BD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038FC-C7FC-5752-7C6A-D19C0513C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C7AEB-99A4-0D15-A8CB-78E4129F7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75455-F5D3-8840-128C-0CAFEA997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8924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4A97-B03B-703D-D94E-C13C9556E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3D10A-4ADD-1EA5-4090-41A812696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C69B4-4BB7-D7D0-7223-9678D73C8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7C635-1FDD-A4A7-F6A9-5425891F4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006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6D56-8DFE-B205-A1F8-36C32A01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63DA0-2A15-28E5-7058-2899D3BFB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18823-A32A-281E-637D-E87FDA1ED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C5686-320D-2491-AC88-86E721AE7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578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93D0-AFAE-EEF3-935B-B213E3F4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DC5B1-59F8-1F57-B557-B4F699BE3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9A0E7-F521-CBED-D285-D649FFFA5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6E1F7-45A9-46D3-8B40-6FCF86B1A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3877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3EAF4-3BCB-031C-B33E-37546AEDE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EB7A4-3CF7-9644-D5E2-A0607E0A0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ED6CA-9584-6FDE-C8AC-1DAD4E406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70ED9-E93B-2520-5FB2-6EBEEF911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3651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DFDA-98F6-B066-FBE2-0FAF2A64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862D5-380F-5D8A-1C8B-6330C5135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F4BD1-F06A-0238-B4E1-C8C673B1F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522B3-D03B-2A45-83A4-F51663133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9184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21FD2-A8E9-78DA-2137-5D801ED8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27E79-2761-3758-EE80-54FAB719F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A40B5-0F82-87E6-4806-07955E267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CCD83-0EA0-5029-8320-9AC429DAD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3903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CD882-842E-0674-A1BC-51B93A31A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1A2A6-A1BF-3323-7388-5FDB0FD0A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B3C9D-9A83-5AF0-BF7E-C7D632354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448C3-DA94-5B31-4F72-63BBA79FD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5848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80B9C5-B38B-4AF6-88B2-C93C34D31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6E71AC1-ABB4-4516-AEF7-51492BFBD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E70E375-2177-4488-BCA9-7B4E54C1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28C2-0F06-4F36-886A-3804D3F77962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F384B0-95D1-4D37-B57B-408DB644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DC20E5-6BF6-4423-8D8D-966B37EB9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634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0F5833-22CC-435F-BEA1-AF8085FC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F8480D-0D0E-4583-982B-27D7D937D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FC8D696-CBCE-45F6-91C5-4763C323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1060-047E-4799-9B1E-376DF9501AF9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21F108-21DE-46C8-A0CB-830B4C57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154C54-8C12-41BC-897D-4C717C25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769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D66B81-52E6-491E-ADCE-566B6D10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AB794D7-699C-415C-B232-9186A8EC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EDFEDD-CF0B-40A3-92B1-0742D8D1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B4F7A-478C-478F-A129-B50C513A9D65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FAC21B-A1C3-4492-8268-DB017B66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EB3CEF8-B335-4761-A77E-8E89EF8D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15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9315BC-E298-4FE8-9007-00EFC8AF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A9B19DE-927B-4C23-ADEE-7F2184231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7999C3-605D-47FC-A673-778EA4435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6EC70B7-4CF1-4C1F-8667-108993BE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FE74-9DC4-4460-A8AF-12369A62080D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022FB1E-86F7-4819-8F63-520E091B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8CE15A6-6742-4B17-99D1-60F17CE2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191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966954-05C3-43F9-BA5F-6D34444D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60BC888-DB16-4CDA-AD8B-F23D4E5A3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BB6F1CD-45C1-4DCC-84B6-F6D27BF3F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CA7BE57-5B78-4844-8870-E17347427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3E68953-B9CC-4F05-AE65-4ABF75590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D07E5C7-01D5-4AEB-86BD-7A3991DC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8569-CA94-419E-8FED-D3857FB7C120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3E8D898-EB0F-4AEC-A871-16267267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A9C13EE-91B7-4DD0-9C9E-17FE2400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18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C37D0D-7F72-4FE2-B904-BA1C3FF0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6145B79-9884-42E3-AFE2-BB2D4D75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2ED25-44FA-40AF-A0CE-48D9A5CFC4B7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BAA4183-A8EF-45A7-B4A6-50720621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DB88F70-7D39-4FB5-BD25-F08667FE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663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5D18A7F-D3EF-4845-BA9A-FF29D122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8A85-D523-4934-9BB1-C16CB40C7F61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BE786F1-9DA3-4F66-BD99-58753BD0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5D297AA-FC66-4A4D-A97C-6A49D4B8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568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586B10-471D-4319-AE00-8DAF88E8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F4D7EE1-1D6E-43CF-AC80-C18EFE1E0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7A05C6-21F9-4D6F-B835-CED277186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5118413-8ABD-4A34-96B7-EB27EF26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DDA4-3223-45A6-A4CF-F31B5A57301F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B86180F-9C05-404C-86D1-721223AD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DB15874-FA3D-4E9F-A6FA-85E8A16F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40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E9C88F-DA88-432A-AE9F-549B524A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5FC37BE-B82D-47FF-A27D-27FC45036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4275B3F-B458-4ADA-8CBD-D70A25071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FB4872C-D475-4CF1-8EBD-DD513E8C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3BAA-3D3B-49C0-84B9-4E3C40A53051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962AC37-5D9F-4D2A-973F-9DD1A1B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810D01-EED7-4D48-B2E1-98448D9A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16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D0AD62-FAF3-4CE2-9382-B9A530F4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8B050E7-ABA2-4659-B2BB-CFE82083B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FA3A12-C275-4C64-8A79-B2C6F72E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AEE5-626A-4A95-8287-92698485905B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B2DEDF-1539-475C-A2DA-072ED097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E62C614-81F8-4EF0-8293-E95BC7B2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3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0EC8CEC-D95C-4B2D-A15D-0A19A5D48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06964C0-47A3-468B-B99E-3737CFE62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A00D65-FA93-489D-B04D-ACFEF4C0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239D8-6ACF-437D-AC0F-335C89A03CAD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8D0A5DC-770E-4DFB-B69D-CB98D00E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85E96A-D14D-46B3-9545-25887A92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115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49EFEBF-3302-40B9-9A90-6433ECF3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6C63085-541E-4727-8334-58EA143D2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F8A6766-D0D5-428B-8ED5-809700D5A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C0F1-6FF9-4835-9D06-7FDC9ACA4C0D}" type="datetime8">
              <a:rPr lang="he-IL" smtClean="0"/>
              <a:t>6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FE62F2-5C03-44D7-86F6-7EE3CD707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2813EB-BA3D-4268-8842-5725FB73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19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A782D7-A741-4698-8C4A-B05EE54E4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7953" y="2174180"/>
            <a:ext cx="6276089" cy="893134"/>
          </a:xfrm>
        </p:spPr>
        <p:txBody>
          <a:bodyPr>
            <a:noAutofit/>
          </a:bodyPr>
          <a:lstStyle/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יסודות החשבונאות</a:t>
            </a:r>
            <a:b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10280</a:t>
            </a:r>
          </a:p>
        </p:txBody>
      </p:sp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182E4EF0-5081-4592-9096-B4CA3DA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140FD856-B064-4B1D-BAA1-A713FB07BAF4}"/>
              </a:ext>
            </a:extLst>
          </p:cNvPr>
          <p:cNvSpPr txBox="1">
            <a:spLocks/>
          </p:cNvSpPr>
          <p:nvPr/>
        </p:nvSpPr>
        <p:spPr>
          <a:xfrm>
            <a:off x="2607689" y="4237253"/>
            <a:ext cx="697661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 רווח או הפסד - הצגה</a:t>
            </a:r>
          </a:p>
        </p:txBody>
      </p:sp>
    </p:spTree>
    <p:extLst>
      <p:ext uri="{BB962C8B-B14F-4D97-AF65-F5344CB8AC3E}">
        <p14:creationId xmlns:p14="http://schemas.microsoft.com/office/powerpoint/2010/main" val="3990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D0ED0-7059-B803-C29D-27B105BA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68E27436-2EAC-31EA-7270-ABACB0F2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8B3743C-552D-DBC2-D895-892A015C1938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A5384513-EEA2-65B1-B96A-DF052EBF38A1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7320B616-5925-6C0B-04CB-2D820C2EA6C4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כפי שראינו, בכל פעם שהחברה מרוויחה או מפסידה, העודפים גדלים או קטנים (בהתאמה).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D4D4F649-00B5-19A6-0246-B6E4C6A5F886}"/>
              </a:ext>
            </a:extLst>
          </p:cNvPr>
          <p:cNvSpPr txBox="1">
            <a:spLocks/>
          </p:cNvSpPr>
          <p:nvPr/>
        </p:nvSpPr>
        <p:spPr>
          <a:xfrm>
            <a:off x="695325" y="25485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על מנת שנוכל לעקוב בצורה מיטבית אחר </a:t>
            </a:r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ההתפתחות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של התנועה בעודפים במהלך </a:t>
            </a:r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כל תקופת הדיווח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עדיף לתת לתנועות הללו בעודפים שמות יותר מפורטים. לכן: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B716D30E-3531-1BE5-1AF5-530DAF1CDFE6}"/>
              </a:ext>
            </a:extLst>
          </p:cNvPr>
          <p:cNvSpPr txBox="1">
            <a:spLocks/>
          </p:cNvSpPr>
          <p:nvPr/>
        </p:nvSpPr>
        <p:spPr>
          <a:xfrm>
            <a:off x="8875060" y="4327288"/>
            <a:ext cx="2617692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במקום לרשום: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02451E2C-D294-936E-B682-B492E6530BFB}"/>
              </a:ext>
            </a:extLst>
          </p:cNvPr>
          <p:cNvSpPr txBox="1">
            <a:spLocks/>
          </p:cNvSpPr>
          <p:nvPr/>
        </p:nvSpPr>
        <p:spPr>
          <a:xfrm>
            <a:off x="7288306" y="4327288"/>
            <a:ext cx="1733572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ז. עודפים </a:t>
            </a:r>
          </a:p>
        </p:txBody>
      </p:sp>
      <p:grpSp>
        <p:nvGrpSpPr>
          <p:cNvPr id="8" name="קבוצה 2">
            <a:extLst>
              <a:ext uri="{FF2B5EF4-FFF2-40B4-BE49-F238E27FC236}">
                <a16:creationId xmlns:a16="http://schemas.microsoft.com/office/drawing/2014/main" id="{53638DBF-32FB-5275-5061-23C67C2182D5}"/>
              </a:ext>
            </a:extLst>
          </p:cNvPr>
          <p:cNvGrpSpPr/>
          <p:nvPr/>
        </p:nvGrpSpPr>
        <p:grpSpPr>
          <a:xfrm>
            <a:off x="6221506" y="4325248"/>
            <a:ext cx="1066800" cy="540548"/>
            <a:chOff x="6140823" y="4327288"/>
            <a:chExt cx="1066800" cy="540548"/>
          </a:xfrm>
        </p:grpSpPr>
        <p:sp>
          <p:nvSpPr>
            <p:cNvPr id="9" name="חץ: שמאלה-ימינה 1">
              <a:extLst>
                <a:ext uri="{FF2B5EF4-FFF2-40B4-BE49-F238E27FC236}">
                  <a16:creationId xmlns:a16="http://schemas.microsoft.com/office/drawing/2014/main" id="{B238EB59-91EB-C611-313D-FB65AE89BB18}"/>
                </a:ext>
              </a:extLst>
            </p:cNvPr>
            <p:cNvSpPr/>
            <p:nvPr/>
          </p:nvSpPr>
          <p:spPr>
            <a:xfrm>
              <a:off x="6212541" y="4327288"/>
              <a:ext cx="995082" cy="540548"/>
            </a:xfrm>
            <a:prstGeom prst="left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כותרת משנה 2">
              <a:extLst>
                <a:ext uri="{FF2B5EF4-FFF2-40B4-BE49-F238E27FC236}">
                  <a16:creationId xmlns:a16="http://schemas.microsoft.com/office/drawing/2014/main" id="{D0C8BB43-E364-137F-DAAA-6E0186BF4248}"/>
                </a:ext>
              </a:extLst>
            </p:cNvPr>
            <p:cNvSpPr txBox="1">
              <a:spLocks/>
            </p:cNvSpPr>
            <p:nvPr/>
          </p:nvSpPr>
          <p:spPr>
            <a:xfrm>
              <a:off x="6140823" y="4403826"/>
              <a:ext cx="995082" cy="4318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1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None/>
                <a:defRPr sz="2200" kern="1200" spc="10" baseline="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he-IL" sz="2000" dirty="0">
                  <a:solidFill>
                    <a:schemeClr val="tx1">
                      <a:lumMod val="9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נרשום</a:t>
              </a:r>
            </a:p>
          </p:txBody>
        </p:sp>
      </p:grpSp>
      <p:sp>
        <p:nvSpPr>
          <p:cNvPr id="11" name="כותרת משנה 2">
            <a:extLst>
              <a:ext uri="{FF2B5EF4-FFF2-40B4-BE49-F238E27FC236}">
                <a16:creationId xmlns:a16="http://schemas.microsoft.com/office/drawing/2014/main" id="{27B39548-B7A6-4A0B-403A-BCF9C111CBA7}"/>
              </a:ext>
            </a:extLst>
          </p:cNvPr>
          <p:cNvSpPr txBox="1">
            <a:spLocks/>
          </p:cNvSpPr>
          <p:nvPr/>
        </p:nvSpPr>
        <p:spPr>
          <a:xfrm>
            <a:off x="334962" y="4325248"/>
            <a:ext cx="5814825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ז. הכנסות מ.../ רווח מ... </a:t>
            </a:r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C0B9B2C2-A5A4-F603-9359-5947362460C3}"/>
              </a:ext>
            </a:extLst>
          </p:cNvPr>
          <p:cNvSpPr txBox="1">
            <a:spLocks/>
          </p:cNvSpPr>
          <p:nvPr/>
        </p:nvSpPr>
        <p:spPr>
          <a:xfrm>
            <a:off x="8878983" y="5121941"/>
            <a:ext cx="2617692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במקום לרשום: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4F8AEF74-3D0D-B843-9BB0-A81FAE885250}"/>
              </a:ext>
            </a:extLst>
          </p:cNvPr>
          <p:cNvSpPr txBox="1">
            <a:spLocks/>
          </p:cNvSpPr>
          <p:nvPr/>
        </p:nvSpPr>
        <p:spPr>
          <a:xfrm>
            <a:off x="7292229" y="5121941"/>
            <a:ext cx="1733572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ח. עודפים </a:t>
            </a:r>
          </a:p>
        </p:txBody>
      </p:sp>
      <p:grpSp>
        <p:nvGrpSpPr>
          <p:cNvPr id="14" name="קבוצה 22">
            <a:extLst>
              <a:ext uri="{FF2B5EF4-FFF2-40B4-BE49-F238E27FC236}">
                <a16:creationId xmlns:a16="http://schemas.microsoft.com/office/drawing/2014/main" id="{3DB28582-E3AF-96C9-359F-70A61B139D49}"/>
              </a:ext>
            </a:extLst>
          </p:cNvPr>
          <p:cNvGrpSpPr/>
          <p:nvPr/>
        </p:nvGrpSpPr>
        <p:grpSpPr>
          <a:xfrm>
            <a:off x="6225429" y="5119901"/>
            <a:ext cx="1066800" cy="540548"/>
            <a:chOff x="6140823" y="4327288"/>
            <a:chExt cx="1066800" cy="540548"/>
          </a:xfrm>
        </p:grpSpPr>
        <p:sp>
          <p:nvSpPr>
            <p:cNvPr id="15" name="חץ: שמאלה-ימינה 23">
              <a:extLst>
                <a:ext uri="{FF2B5EF4-FFF2-40B4-BE49-F238E27FC236}">
                  <a16:creationId xmlns:a16="http://schemas.microsoft.com/office/drawing/2014/main" id="{60FA278D-C7A5-E042-B303-F05916CFAD82}"/>
                </a:ext>
              </a:extLst>
            </p:cNvPr>
            <p:cNvSpPr/>
            <p:nvPr/>
          </p:nvSpPr>
          <p:spPr>
            <a:xfrm>
              <a:off x="6212541" y="4327288"/>
              <a:ext cx="995082" cy="540548"/>
            </a:xfrm>
            <a:prstGeom prst="left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כותרת משנה 2">
              <a:extLst>
                <a:ext uri="{FF2B5EF4-FFF2-40B4-BE49-F238E27FC236}">
                  <a16:creationId xmlns:a16="http://schemas.microsoft.com/office/drawing/2014/main" id="{DCC4D041-ED6A-2DDA-60D5-90C3A6E3F1DE}"/>
                </a:ext>
              </a:extLst>
            </p:cNvPr>
            <p:cNvSpPr txBox="1">
              <a:spLocks/>
            </p:cNvSpPr>
            <p:nvPr/>
          </p:nvSpPr>
          <p:spPr>
            <a:xfrm>
              <a:off x="6140823" y="4403826"/>
              <a:ext cx="995082" cy="4318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1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None/>
                <a:defRPr sz="2200" kern="1200" spc="10" baseline="0">
                  <a:solidFill>
                    <a:schemeClr val="tx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1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None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he-IL" sz="2000" dirty="0">
                  <a:solidFill>
                    <a:schemeClr val="tx1">
                      <a:lumMod val="9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נרשום</a:t>
              </a:r>
            </a:p>
          </p:txBody>
        </p:sp>
      </p:grpSp>
      <p:sp>
        <p:nvSpPr>
          <p:cNvPr id="17" name="כותרת משנה 2">
            <a:extLst>
              <a:ext uri="{FF2B5EF4-FFF2-40B4-BE49-F238E27FC236}">
                <a16:creationId xmlns:a16="http://schemas.microsoft.com/office/drawing/2014/main" id="{2D64F782-D039-768C-4740-24E8E71D97D0}"/>
              </a:ext>
            </a:extLst>
          </p:cNvPr>
          <p:cNvSpPr txBox="1">
            <a:spLocks/>
          </p:cNvSpPr>
          <p:nvPr/>
        </p:nvSpPr>
        <p:spPr>
          <a:xfrm>
            <a:off x="338885" y="5119901"/>
            <a:ext cx="5814825" cy="54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ח. הוצאות מ.../ הפסד מ... </a:t>
            </a:r>
          </a:p>
        </p:txBody>
      </p:sp>
      <p:pic>
        <p:nvPicPr>
          <p:cNvPr id="19" name="תמונה 4">
            <a:extLst>
              <a:ext uri="{FF2B5EF4-FFF2-40B4-BE49-F238E27FC236}">
                <a16:creationId xmlns:a16="http://schemas.microsoft.com/office/drawing/2014/main" id="{4BF816D1-18F5-8C97-7597-4C67561263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8" t="68108"/>
          <a:stretch/>
        </p:blipFill>
        <p:spPr>
          <a:xfrm>
            <a:off x="704289" y="0"/>
            <a:ext cx="1736912" cy="171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7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93A39-9CDE-6935-FEE7-8F69DAE5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6EAEBC99-AFA6-DC90-CE2F-5DA6DECD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0C9BB1D-1A58-FFAA-A89B-931594AEDAB5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7445A7F8-49CB-EAAE-B7DD-372DF8842DFC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pic>
        <p:nvPicPr>
          <p:cNvPr id="4" name="תמונה 4">
            <a:extLst>
              <a:ext uri="{FF2B5EF4-FFF2-40B4-BE49-F238E27FC236}">
                <a16:creationId xmlns:a16="http://schemas.microsoft.com/office/drawing/2014/main" id="{E0848DCA-1CB8-0969-9D42-27641E2099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8" t="68108"/>
          <a:stretch/>
        </p:blipFill>
        <p:spPr>
          <a:xfrm>
            <a:off x="704289" y="0"/>
            <a:ext cx="1736912" cy="1713264"/>
          </a:xfrm>
          <a:prstGeom prst="rect">
            <a:avLst/>
          </a:prstGeom>
        </p:spPr>
      </p:pic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349903D7-B06B-E99A-0CDB-D73D68237A68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הקשר שבין הוצאה/הכנסה לקיטון/גידול בעודפים מעוגן גם בהגדרה של הוצאות/הכנסות בתקינה הבינלאומית. להלן ההגדרות מתוך המסגרת המושגית לדיווח כספי: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D29F96B2-BC7B-31D3-CC13-4B6190B70417}"/>
              </a:ext>
            </a:extLst>
          </p:cNvPr>
          <p:cNvSpPr txBox="1">
            <a:spLocks/>
          </p:cNvSpPr>
          <p:nvPr/>
        </p:nvSpPr>
        <p:spPr>
          <a:xfrm>
            <a:off x="699248" y="2973712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הכנסה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– "הכנסות הן גידול בנכסים, או קיטון בהתחייבויות שתוצאתם גידול בהון, למעט אלה הנובעים מהשקעות של מחזיקים בזכויות הוניות". 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9F031C20-6447-4859-3C40-017EB7D7A286}"/>
              </a:ext>
            </a:extLst>
          </p:cNvPr>
          <p:cNvSpPr txBox="1">
            <a:spLocks/>
          </p:cNvSpPr>
          <p:nvPr/>
        </p:nvSpPr>
        <p:spPr>
          <a:xfrm>
            <a:off x="697286" y="4182751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הוצאה – 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"הוצאות הן קיטון בנכסים או גידול בהתחייבויות, שתוצאתם קיטון בהון, למעט אלה הנובעים מחלוקות למחזיקים בזכויות הוניות". </a:t>
            </a:r>
          </a:p>
        </p:txBody>
      </p:sp>
    </p:spTree>
    <p:extLst>
      <p:ext uri="{BB962C8B-B14F-4D97-AF65-F5344CB8AC3E}">
        <p14:creationId xmlns:p14="http://schemas.microsoft.com/office/powerpoint/2010/main" val="323495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AD672-2FC4-50BC-3A5A-1C5B00E9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A955A861-C71B-08B9-419B-40D5DF5D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4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2F2A678-D3E6-1D61-1015-7145C3FFE6A7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81C66EBB-03B2-5DED-741A-4A702F3177C7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3AEF3879-292C-A0EC-1E6D-BF9049DB8BB7}"/>
              </a:ext>
            </a:extLst>
          </p:cNvPr>
          <p:cNvSpPr txBox="1">
            <a:spLocks/>
          </p:cNvSpPr>
          <p:nvPr/>
        </p:nvSpPr>
        <p:spPr>
          <a:xfrm>
            <a:off x="5651770" y="1380018"/>
            <a:ext cx="5844905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את כל ההכנסות וההוצאות במהלך התקופה נרכז בדוח רווח או הפסד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graphicFrame>
        <p:nvGraphicFramePr>
          <p:cNvPr id="5" name="טבלה 5">
            <a:extLst>
              <a:ext uri="{FF2B5EF4-FFF2-40B4-BE49-F238E27FC236}">
                <a16:creationId xmlns:a16="http://schemas.microsoft.com/office/drawing/2014/main" id="{25FAFF14-015B-FFFD-E718-53CB729CA089}"/>
              </a:ext>
            </a:extLst>
          </p:cNvPr>
          <p:cNvGraphicFramePr>
            <a:graphicFrameLocks noGrp="1"/>
          </p:cNvGraphicFramePr>
          <p:nvPr/>
        </p:nvGraphicFramePr>
        <p:xfrm>
          <a:off x="1988101" y="527015"/>
          <a:ext cx="4044103" cy="492201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12486">
                  <a:extLst>
                    <a:ext uri="{9D8B030D-6E8A-4147-A177-3AD203B41FA5}">
                      <a16:colId xmlns:a16="http://schemas.microsoft.com/office/drawing/2014/main" val="3331422628"/>
                    </a:ext>
                  </a:extLst>
                </a:gridCol>
                <a:gridCol w="1131617">
                  <a:extLst>
                    <a:ext uri="{9D8B030D-6E8A-4147-A177-3AD203B41FA5}">
                      <a16:colId xmlns:a16="http://schemas.microsoft.com/office/drawing/2014/main" val="2416818779"/>
                    </a:ext>
                  </a:extLst>
                </a:gridCol>
              </a:tblGrid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ממכירות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12254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עלות המכר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(XXX)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769079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גולמי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39686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הנהלה וכלליות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0945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מכירה ושיווק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756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הוצאות/הכנסות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)/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5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תפעולי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9205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מהשקעות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72619"/>
                  </a:ext>
                </a:extLst>
              </a:tr>
              <a:tr h="420562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מימון ומס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94689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מימון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9747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38254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מסים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68960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נקי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413241"/>
                  </a:ext>
                </a:extLst>
              </a:tr>
            </a:tbl>
          </a:graphicData>
        </a:graphic>
      </p:graphicFrame>
      <p:cxnSp>
        <p:nvCxnSpPr>
          <p:cNvPr id="6" name="מחבר ישר 37">
            <a:extLst>
              <a:ext uri="{FF2B5EF4-FFF2-40B4-BE49-F238E27FC236}">
                <a16:creationId xmlns:a16="http://schemas.microsoft.com/office/drawing/2014/main" id="{96AC3297-5020-9385-2A41-1BECD34DF4BD}"/>
              </a:ext>
            </a:extLst>
          </p:cNvPr>
          <p:cNvCxnSpPr>
            <a:cxnSpLocks/>
          </p:cNvCxnSpPr>
          <p:nvPr/>
        </p:nvCxnSpPr>
        <p:spPr>
          <a:xfrm>
            <a:off x="3227294" y="3540830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מחבר ישר 42">
            <a:extLst>
              <a:ext uri="{FF2B5EF4-FFF2-40B4-BE49-F238E27FC236}">
                <a16:creationId xmlns:a16="http://schemas.microsoft.com/office/drawing/2014/main" id="{8A34D66A-0CFB-9F96-0569-DCC2756C1D18}"/>
              </a:ext>
            </a:extLst>
          </p:cNvPr>
          <p:cNvCxnSpPr>
            <a:cxnSpLocks/>
          </p:cNvCxnSpPr>
          <p:nvPr/>
        </p:nvCxnSpPr>
        <p:spPr>
          <a:xfrm>
            <a:off x="2484696" y="3540830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מחבר ישר 23">
            <a:extLst>
              <a:ext uri="{FF2B5EF4-FFF2-40B4-BE49-F238E27FC236}">
                <a16:creationId xmlns:a16="http://schemas.microsoft.com/office/drawing/2014/main" id="{B2D13631-497D-873A-8464-8D611F246744}"/>
              </a:ext>
            </a:extLst>
          </p:cNvPr>
          <p:cNvCxnSpPr>
            <a:cxnSpLocks/>
          </p:cNvCxnSpPr>
          <p:nvPr/>
        </p:nvCxnSpPr>
        <p:spPr>
          <a:xfrm>
            <a:off x="3227293" y="12742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מחבר ישר 24">
            <a:extLst>
              <a:ext uri="{FF2B5EF4-FFF2-40B4-BE49-F238E27FC236}">
                <a16:creationId xmlns:a16="http://schemas.microsoft.com/office/drawing/2014/main" id="{9C889A47-341A-D1FD-4B1D-EBF1714CCF72}"/>
              </a:ext>
            </a:extLst>
          </p:cNvPr>
          <p:cNvCxnSpPr>
            <a:cxnSpLocks/>
          </p:cNvCxnSpPr>
          <p:nvPr/>
        </p:nvCxnSpPr>
        <p:spPr>
          <a:xfrm>
            <a:off x="2484695" y="12742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מחבר ישר 25">
            <a:extLst>
              <a:ext uri="{FF2B5EF4-FFF2-40B4-BE49-F238E27FC236}">
                <a16:creationId xmlns:a16="http://schemas.microsoft.com/office/drawing/2014/main" id="{619B2E36-6D8F-6604-40D9-8FF42CF1A635}"/>
              </a:ext>
            </a:extLst>
          </p:cNvPr>
          <p:cNvCxnSpPr>
            <a:cxnSpLocks/>
          </p:cNvCxnSpPr>
          <p:nvPr/>
        </p:nvCxnSpPr>
        <p:spPr>
          <a:xfrm>
            <a:off x="3227292" y="277328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מחבר ישר 27">
            <a:extLst>
              <a:ext uri="{FF2B5EF4-FFF2-40B4-BE49-F238E27FC236}">
                <a16:creationId xmlns:a16="http://schemas.microsoft.com/office/drawing/2014/main" id="{7091DC01-57AE-954C-27AD-980E6DAEB060}"/>
              </a:ext>
            </a:extLst>
          </p:cNvPr>
          <p:cNvCxnSpPr>
            <a:cxnSpLocks/>
          </p:cNvCxnSpPr>
          <p:nvPr/>
        </p:nvCxnSpPr>
        <p:spPr>
          <a:xfrm>
            <a:off x="2484694" y="277328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מחבר ישר 29">
            <a:extLst>
              <a:ext uri="{FF2B5EF4-FFF2-40B4-BE49-F238E27FC236}">
                <a16:creationId xmlns:a16="http://schemas.microsoft.com/office/drawing/2014/main" id="{0133EFE7-EFC0-1731-E687-72CBDE29343F}"/>
              </a:ext>
            </a:extLst>
          </p:cNvPr>
          <p:cNvCxnSpPr>
            <a:cxnSpLocks/>
          </p:cNvCxnSpPr>
          <p:nvPr/>
        </p:nvCxnSpPr>
        <p:spPr>
          <a:xfrm>
            <a:off x="3245321" y="433875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מחבר ישר 30">
            <a:extLst>
              <a:ext uri="{FF2B5EF4-FFF2-40B4-BE49-F238E27FC236}">
                <a16:creationId xmlns:a16="http://schemas.microsoft.com/office/drawing/2014/main" id="{5F77A223-6EA5-5277-A8AC-EFC8C1C0D837}"/>
              </a:ext>
            </a:extLst>
          </p:cNvPr>
          <p:cNvCxnSpPr>
            <a:cxnSpLocks/>
          </p:cNvCxnSpPr>
          <p:nvPr/>
        </p:nvCxnSpPr>
        <p:spPr>
          <a:xfrm>
            <a:off x="2502723" y="433875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מחבר ישר 31">
            <a:extLst>
              <a:ext uri="{FF2B5EF4-FFF2-40B4-BE49-F238E27FC236}">
                <a16:creationId xmlns:a16="http://schemas.microsoft.com/office/drawing/2014/main" id="{44E9893D-1185-EAB8-186A-1934E67E2C29}"/>
              </a:ext>
            </a:extLst>
          </p:cNvPr>
          <p:cNvCxnSpPr>
            <a:cxnSpLocks/>
          </p:cNvCxnSpPr>
          <p:nvPr/>
        </p:nvCxnSpPr>
        <p:spPr>
          <a:xfrm>
            <a:off x="3235605" y="50841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ישר 32">
            <a:extLst>
              <a:ext uri="{FF2B5EF4-FFF2-40B4-BE49-F238E27FC236}">
                <a16:creationId xmlns:a16="http://schemas.microsoft.com/office/drawing/2014/main" id="{7AA38F95-6FD9-A18D-6C58-D0F7F7F001B7}"/>
              </a:ext>
            </a:extLst>
          </p:cNvPr>
          <p:cNvCxnSpPr>
            <a:cxnSpLocks/>
          </p:cNvCxnSpPr>
          <p:nvPr/>
        </p:nvCxnSpPr>
        <p:spPr>
          <a:xfrm>
            <a:off x="2493007" y="50841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5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3CA37-9ABC-0504-4D91-F1C5B163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7CD8C16A-69A9-80A2-64D7-FCDE3D2B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880608F-38F8-3AA6-207D-A3C252034B3C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54CF0353-FB96-D54C-2012-23009B50DA9D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9EC9D14A-1C68-DD6A-0442-F78E49498D42}"/>
              </a:ext>
            </a:extLst>
          </p:cNvPr>
          <p:cNvSpPr txBox="1">
            <a:spLocks/>
          </p:cNvSpPr>
          <p:nvPr/>
        </p:nvSpPr>
        <p:spPr>
          <a:xfrm>
            <a:off x="5651770" y="1380018"/>
            <a:ext cx="5844905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את כל ההכנסות וההוצאות במהלך התקופה נרכז בדוח רווח או הפסד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graphicFrame>
        <p:nvGraphicFramePr>
          <p:cNvPr id="5" name="טבלה 5">
            <a:extLst>
              <a:ext uri="{FF2B5EF4-FFF2-40B4-BE49-F238E27FC236}">
                <a16:creationId xmlns:a16="http://schemas.microsoft.com/office/drawing/2014/main" id="{FCD0A88B-4FD1-5D4B-3D0D-4A5F04226E14}"/>
              </a:ext>
            </a:extLst>
          </p:cNvPr>
          <p:cNvGraphicFramePr>
            <a:graphicFrameLocks noGrp="1"/>
          </p:cNvGraphicFramePr>
          <p:nvPr/>
        </p:nvGraphicFramePr>
        <p:xfrm>
          <a:off x="1988101" y="527015"/>
          <a:ext cx="4044103" cy="492201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12486">
                  <a:extLst>
                    <a:ext uri="{9D8B030D-6E8A-4147-A177-3AD203B41FA5}">
                      <a16:colId xmlns:a16="http://schemas.microsoft.com/office/drawing/2014/main" val="3331422628"/>
                    </a:ext>
                  </a:extLst>
                </a:gridCol>
                <a:gridCol w="1131617">
                  <a:extLst>
                    <a:ext uri="{9D8B030D-6E8A-4147-A177-3AD203B41FA5}">
                      <a16:colId xmlns:a16="http://schemas.microsoft.com/office/drawing/2014/main" val="2416818779"/>
                    </a:ext>
                  </a:extLst>
                </a:gridCol>
              </a:tblGrid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ממכירות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12254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עלות המכר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(XXX)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769079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גולמי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39686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הנהלה וכלליות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0945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מכירה ושיווק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756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הוצאות/הכנסות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)/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5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תפעולי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9205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מהשקעות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72619"/>
                  </a:ext>
                </a:extLst>
              </a:tr>
              <a:tr h="420562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מימון ומס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94689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מימון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9747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38254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מסים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68960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נקי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413241"/>
                  </a:ext>
                </a:extLst>
              </a:tr>
            </a:tbl>
          </a:graphicData>
        </a:graphic>
      </p:graphicFrame>
      <p:pic>
        <p:nvPicPr>
          <p:cNvPr id="6" name="גרפיקה 8" descr="ספרים על מדף">
            <a:extLst>
              <a:ext uri="{FF2B5EF4-FFF2-40B4-BE49-F238E27FC236}">
                <a16:creationId xmlns:a16="http://schemas.microsoft.com/office/drawing/2014/main" id="{44AEC2AF-1B6C-873A-9227-01AA687C6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539" y="1732933"/>
            <a:ext cx="858696" cy="858696"/>
          </a:xfrm>
          <a:prstGeom prst="rect">
            <a:avLst/>
          </a:prstGeom>
        </p:spPr>
      </p:pic>
      <p:pic>
        <p:nvPicPr>
          <p:cNvPr id="7" name="תמונה 26">
            <a:extLst>
              <a:ext uri="{FF2B5EF4-FFF2-40B4-BE49-F238E27FC236}">
                <a16:creationId xmlns:a16="http://schemas.microsoft.com/office/drawing/2014/main" id="{D15CE0A7-738B-4530-E607-4E8F5EC45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587" y="587939"/>
            <a:ext cx="666491" cy="666491"/>
          </a:xfrm>
          <a:prstGeom prst="rect">
            <a:avLst/>
          </a:prstGeom>
        </p:spPr>
      </p:pic>
      <p:cxnSp>
        <p:nvCxnSpPr>
          <p:cNvPr id="8" name="מחבר ישר 37">
            <a:extLst>
              <a:ext uri="{FF2B5EF4-FFF2-40B4-BE49-F238E27FC236}">
                <a16:creationId xmlns:a16="http://schemas.microsoft.com/office/drawing/2014/main" id="{98CC6FEB-1831-1A23-D346-2B6F1A661BD5}"/>
              </a:ext>
            </a:extLst>
          </p:cNvPr>
          <p:cNvCxnSpPr>
            <a:cxnSpLocks/>
          </p:cNvCxnSpPr>
          <p:nvPr/>
        </p:nvCxnSpPr>
        <p:spPr>
          <a:xfrm>
            <a:off x="3227294" y="3540830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מחבר ישר 42">
            <a:extLst>
              <a:ext uri="{FF2B5EF4-FFF2-40B4-BE49-F238E27FC236}">
                <a16:creationId xmlns:a16="http://schemas.microsoft.com/office/drawing/2014/main" id="{A0E40711-50F4-D6D9-EEEF-76CB653CB97D}"/>
              </a:ext>
            </a:extLst>
          </p:cNvPr>
          <p:cNvCxnSpPr>
            <a:cxnSpLocks/>
          </p:cNvCxnSpPr>
          <p:nvPr/>
        </p:nvCxnSpPr>
        <p:spPr>
          <a:xfrm>
            <a:off x="2484696" y="3540830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מחבר ישר 23">
            <a:extLst>
              <a:ext uri="{FF2B5EF4-FFF2-40B4-BE49-F238E27FC236}">
                <a16:creationId xmlns:a16="http://schemas.microsoft.com/office/drawing/2014/main" id="{C241BDE6-A5EB-0864-6890-0753808F05B2}"/>
              </a:ext>
            </a:extLst>
          </p:cNvPr>
          <p:cNvCxnSpPr>
            <a:cxnSpLocks/>
          </p:cNvCxnSpPr>
          <p:nvPr/>
        </p:nvCxnSpPr>
        <p:spPr>
          <a:xfrm>
            <a:off x="3227293" y="12742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מחבר ישר 24">
            <a:extLst>
              <a:ext uri="{FF2B5EF4-FFF2-40B4-BE49-F238E27FC236}">
                <a16:creationId xmlns:a16="http://schemas.microsoft.com/office/drawing/2014/main" id="{710DA550-8E27-59C3-A127-899D0995C099}"/>
              </a:ext>
            </a:extLst>
          </p:cNvPr>
          <p:cNvCxnSpPr>
            <a:cxnSpLocks/>
          </p:cNvCxnSpPr>
          <p:nvPr/>
        </p:nvCxnSpPr>
        <p:spPr>
          <a:xfrm>
            <a:off x="2484695" y="12742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מחבר ישר 25">
            <a:extLst>
              <a:ext uri="{FF2B5EF4-FFF2-40B4-BE49-F238E27FC236}">
                <a16:creationId xmlns:a16="http://schemas.microsoft.com/office/drawing/2014/main" id="{6BC12379-5B0D-4B61-9682-E235FEE00C9C}"/>
              </a:ext>
            </a:extLst>
          </p:cNvPr>
          <p:cNvCxnSpPr>
            <a:cxnSpLocks/>
          </p:cNvCxnSpPr>
          <p:nvPr/>
        </p:nvCxnSpPr>
        <p:spPr>
          <a:xfrm>
            <a:off x="3227292" y="277328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מחבר ישר 27">
            <a:extLst>
              <a:ext uri="{FF2B5EF4-FFF2-40B4-BE49-F238E27FC236}">
                <a16:creationId xmlns:a16="http://schemas.microsoft.com/office/drawing/2014/main" id="{2AB06CD2-EA4A-CD1B-76F2-30219964D04D}"/>
              </a:ext>
            </a:extLst>
          </p:cNvPr>
          <p:cNvCxnSpPr>
            <a:cxnSpLocks/>
          </p:cNvCxnSpPr>
          <p:nvPr/>
        </p:nvCxnSpPr>
        <p:spPr>
          <a:xfrm>
            <a:off x="2484694" y="277328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מחבר ישר 29">
            <a:extLst>
              <a:ext uri="{FF2B5EF4-FFF2-40B4-BE49-F238E27FC236}">
                <a16:creationId xmlns:a16="http://schemas.microsoft.com/office/drawing/2014/main" id="{77B008BC-BB72-6B4A-F999-3072860AFCD3}"/>
              </a:ext>
            </a:extLst>
          </p:cNvPr>
          <p:cNvCxnSpPr>
            <a:cxnSpLocks/>
          </p:cNvCxnSpPr>
          <p:nvPr/>
        </p:nvCxnSpPr>
        <p:spPr>
          <a:xfrm>
            <a:off x="3245321" y="433875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ישר 30">
            <a:extLst>
              <a:ext uri="{FF2B5EF4-FFF2-40B4-BE49-F238E27FC236}">
                <a16:creationId xmlns:a16="http://schemas.microsoft.com/office/drawing/2014/main" id="{1B8198C5-5481-7E1C-0A25-6D4E5C4762E7}"/>
              </a:ext>
            </a:extLst>
          </p:cNvPr>
          <p:cNvCxnSpPr>
            <a:cxnSpLocks/>
          </p:cNvCxnSpPr>
          <p:nvPr/>
        </p:nvCxnSpPr>
        <p:spPr>
          <a:xfrm>
            <a:off x="2502723" y="433875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31">
            <a:extLst>
              <a:ext uri="{FF2B5EF4-FFF2-40B4-BE49-F238E27FC236}">
                <a16:creationId xmlns:a16="http://schemas.microsoft.com/office/drawing/2014/main" id="{779B1E98-B006-9FCA-A5F1-67CF47398610}"/>
              </a:ext>
            </a:extLst>
          </p:cNvPr>
          <p:cNvCxnSpPr>
            <a:cxnSpLocks/>
          </p:cNvCxnSpPr>
          <p:nvPr/>
        </p:nvCxnSpPr>
        <p:spPr>
          <a:xfrm>
            <a:off x="3235605" y="50841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ישר 32">
            <a:extLst>
              <a:ext uri="{FF2B5EF4-FFF2-40B4-BE49-F238E27FC236}">
                <a16:creationId xmlns:a16="http://schemas.microsoft.com/office/drawing/2014/main" id="{42CE3889-BC6C-956F-626F-B196F2F0F5B8}"/>
              </a:ext>
            </a:extLst>
          </p:cNvPr>
          <p:cNvCxnSpPr>
            <a:cxnSpLocks/>
          </p:cNvCxnSpPr>
          <p:nvPr/>
        </p:nvCxnSpPr>
        <p:spPr>
          <a:xfrm>
            <a:off x="2493007" y="50841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מלבן 1">
            <a:extLst>
              <a:ext uri="{FF2B5EF4-FFF2-40B4-BE49-F238E27FC236}">
                <a16:creationId xmlns:a16="http://schemas.microsoft.com/office/drawing/2014/main" id="{6B168446-E3A5-795D-F296-3D85C229D717}"/>
              </a:ext>
            </a:extLst>
          </p:cNvPr>
          <p:cNvSpPr/>
          <p:nvPr/>
        </p:nvSpPr>
        <p:spPr>
          <a:xfrm>
            <a:off x="0" y="-16271"/>
            <a:ext cx="12192000" cy="543285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מלבן 7">
            <a:extLst>
              <a:ext uri="{FF2B5EF4-FFF2-40B4-BE49-F238E27FC236}">
                <a16:creationId xmlns:a16="http://schemas.microsoft.com/office/drawing/2014/main" id="{8ED1A863-56DD-16DC-C4A4-4C562AF1D43D}"/>
              </a:ext>
            </a:extLst>
          </p:cNvPr>
          <p:cNvSpPr/>
          <p:nvPr/>
        </p:nvSpPr>
        <p:spPr>
          <a:xfrm>
            <a:off x="5988051" y="527015"/>
            <a:ext cx="6203950" cy="2538561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כותרת משנה 2">
            <a:extLst>
              <a:ext uri="{FF2B5EF4-FFF2-40B4-BE49-F238E27FC236}">
                <a16:creationId xmlns:a16="http://schemas.microsoft.com/office/drawing/2014/main" id="{36840023-AB04-D6DB-2CEE-4CB16B27C241}"/>
              </a:ext>
            </a:extLst>
          </p:cNvPr>
          <p:cNvSpPr txBox="1">
            <a:spLocks/>
          </p:cNvSpPr>
          <p:nvPr/>
        </p:nvSpPr>
        <p:spPr>
          <a:xfrm rot="18092574">
            <a:off x="-519570" y="1560483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קטגוריה תפעולית</a:t>
            </a:r>
          </a:p>
        </p:txBody>
      </p:sp>
      <p:sp>
        <p:nvSpPr>
          <p:cNvPr id="22" name="מלבן 3">
            <a:extLst>
              <a:ext uri="{FF2B5EF4-FFF2-40B4-BE49-F238E27FC236}">
                <a16:creationId xmlns:a16="http://schemas.microsoft.com/office/drawing/2014/main" id="{220DBCDA-9A1F-AAB4-3B86-E82680054B39}"/>
              </a:ext>
            </a:extLst>
          </p:cNvPr>
          <p:cNvSpPr/>
          <p:nvPr/>
        </p:nvSpPr>
        <p:spPr>
          <a:xfrm>
            <a:off x="0" y="3065581"/>
            <a:ext cx="12192000" cy="3780374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015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BF05-A2D1-EA63-3735-A7CA02B2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7C5FDD75-7E40-9F69-AF69-DBA8CE4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6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797F8B6-68A3-4C01-9088-73E0B2584443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116E371E-32FD-5B12-070C-1441AACF0A06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3F648196-F521-7E96-C9C3-278ED8C2AD23}"/>
              </a:ext>
            </a:extLst>
          </p:cNvPr>
          <p:cNvSpPr txBox="1">
            <a:spLocks/>
          </p:cNvSpPr>
          <p:nvPr/>
        </p:nvSpPr>
        <p:spPr>
          <a:xfrm>
            <a:off x="5651770" y="1380018"/>
            <a:ext cx="5844905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את כל ההכנסות וההוצאות במהלך התקופה נרכז בדוח רווח או הפסד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F8D83FA0-5D17-977A-28B6-FFE758F2CE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8" t="68108"/>
          <a:stretch/>
        </p:blipFill>
        <p:spPr>
          <a:xfrm>
            <a:off x="1164102" y="2961116"/>
            <a:ext cx="1131850" cy="1116440"/>
          </a:xfrm>
          <a:prstGeom prst="rect">
            <a:avLst/>
          </a:prstGeom>
        </p:spPr>
      </p:pic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B227363B-99DF-E506-07F9-AE88EB921CD9}"/>
              </a:ext>
            </a:extLst>
          </p:cNvPr>
          <p:cNvGraphicFramePr>
            <a:graphicFrameLocks noGrp="1"/>
          </p:cNvGraphicFramePr>
          <p:nvPr/>
        </p:nvGraphicFramePr>
        <p:xfrm>
          <a:off x="1988101" y="527015"/>
          <a:ext cx="4044103" cy="492201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12486">
                  <a:extLst>
                    <a:ext uri="{9D8B030D-6E8A-4147-A177-3AD203B41FA5}">
                      <a16:colId xmlns:a16="http://schemas.microsoft.com/office/drawing/2014/main" val="3331422628"/>
                    </a:ext>
                  </a:extLst>
                </a:gridCol>
                <a:gridCol w="1131617">
                  <a:extLst>
                    <a:ext uri="{9D8B030D-6E8A-4147-A177-3AD203B41FA5}">
                      <a16:colId xmlns:a16="http://schemas.microsoft.com/office/drawing/2014/main" val="2416818779"/>
                    </a:ext>
                  </a:extLst>
                </a:gridCol>
              </a:tblGrid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ממכירות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12254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עלות המכר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(XXX)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769079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גולמי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39686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הנהלה וכלליות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0945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מכירה ושיווק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756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הוצאות/הכנסות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)/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5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תפעולי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9205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מהשקעות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72619"/>
                  </a:ext>
                </a:extLst>
              </a:tr>
              <a:tr h="420562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מימון ומס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94689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מימון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9747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38254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מסים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68960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נקי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413241"/>
                  </a:ext>
                </a:extLst>
              </a:tr>
            </a:tbl>
          </a:graphicData>
        </a:graphic>
      </p:graphicFrame>
      <p:pic>
        <p:nvPicPr>
          <p:cNvPr id="7" name="גרפיקה 8" descr="ספרים על מדף">
            <a:extLst>
              <a:ext uri="{FF2B5EF4-FFF2-40B4-BE49-F238E27FC236}">
                <a16:creationId xmlns:a16="http://schemas.microsoft.com/office/drawing/2014/main" id="{42237A40-DD4A-395B-F161-2FFCF4C1A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7539" y="1732933"/>
            <a:ext cx="858696" cy="858696"/>
          </a:xfrm>
          <a:prstGeom prst="rect">
            <a:avLst/>
          </a:prstGeom>
        </p:spPr>
      </p:pic>
      <p:pic>
        <p:nvPicPr>
          <p:cNvPr id="8" name="תמונה 26">
            <a:extLst>
              <a:ext uri="{FF2B5EF4-FFF2-40B4-BE49-F238E27FC236}">
                <a16:creationId xmlns:a16="http://schemas.microsoft.com/office/drawing/2014/main" id="{68A4ACCD-6F1B-F517-C66F-AAE318B56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587" y="587939"/>
            <a:ext cx="666491" cy="666491"/>
          </a:xfrm>
          <a:prstGeom prst="rect">
            <a:avLst/>
          </a:prstGeom>
        </p:spPr>
      </p:pic>
      <p:cxnSp>
        <p:nvCxnSpPr>
          <p:cNvPr id="9" name="מחבר ישר 37">
            <a:extLst>
              <a:ext uri="{FF2B5EF4-FFF2-40B4-BE49-F238E27FC236}">
                <a16:creationId xmlns:a16="http://schemas.microsoft.com/office/drawing/2014/main" id="{76D26EE5-DF53-74AD-6418-01DC65F2F96E}"/>
              </a:ext>
            </a:extLst>
          </p:cNvPr>
          <p:cNvCxnSpPr>
            <a:cxnSpLocks/>
          </p:cNvCxnSpPr>
          <p:nvPr/>
        </p:nvCxnSpPr>
        <p:spPr>
          <a:xfrm>
            <a:off x="3227294" y="3540830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מחבר ישר 42">
            <a:extLst>
              <a:ext uri="{FF2B5EF4-FFF2-40B4-BE49-F238E27FC236}">
                <a16:creationId xmlns:a16="http://schemas.microsoft.com/office/drawing/2014/main" id="{BA2C19CC-ADDE-B31C-906F-D557118F1178}"/>
              </a:ext>
            </a:extLst>
          </p:cNvPr>
          <p:cNvCxnSpPr>
            <a:cxnSpLocks/>
          </p:cNvCxnSpPr>
          <p:nvPr/>
        </p:nvCxnSpPr>
        <p:spPr>
          <a:xfrm>
            <a:off x="2484696" y="3540830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מחבר ישר 23">
            <a:extLst>
              <a:ext uri="{FF2B5EF4-FFF2-40B4-BE49-F238E27FC236}">
                <a16:creationId xmlns:a16="http://schemas.microsoft.com/office/drawing/2014/main" id="{E9BFEADE-4549-313C-C7B0-080EE0A85368}"/>
              </a:ext>
            </a:extLst>
          </p:cNvPr>
          <p:cNvCxnSpPr>
            <a:cxnSpLocks/>
          </p:cNvCxnSpPr>
          <p:nvPr/>
        </p:nvCxnSpPr>
        <p:spPr>
          <a:xfrm>
            <a:off x="3227293" y="12742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מחבר ישר 24">
            <a:extLst>
              <a:ext uri="{FF2B5EF4-FFF2-40B4-BE49-F238E27FC236}">
                <a16:creationId xmlns:a16="http://schemas.microsoft.com/office/drawing/2014/main" id="{2A07E79B-6999-513F-31DB-B15EEDB8F279}"/>
              </a:ext>
            </a:extLst>
          </p:cNvPr>
          <p:cNvCxnSpPr>
            <a:cxnSpLocks/>
          </p:cNvCxnSpPr>
          <p:nvPr/>
        </p:nvCxnSpPr>
        <p:spPr>
          <a:xfrm>
            <a:off x="2484695" y="12742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מחבר ישר 25">
            <a:extLst>
              <a:ext uri="{FF2B5EF4-FFF2-40B4-BE49-F238E27FC236}">
                <a16:creationId xmlns:a16="http://schemas.microsoft.com/office/drawing/2014/main" id="{8DEC0878-38D1-982B-47E0-1C35778A5EF7}"/>
              </a:ext>
            </a:extLst>
          </p:cNvPr>
          <p:cNvCxnSpPr>
            <a:cxnSpLocks/>
          </p:cNvCxnSpPr>
          <p:nvPr/>
        </p:nvCxnSpPr>
        <p:spPr>
          <a:xfrm>
            <a:off x="3227292" y="277328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מחבר ישר 27">
            <a:extLst>
              <a:ext uri="{FF2B5EF4-FFF2-40B4-BE49-F238E27FC236}">
                <a16:creationId xmlns:a16="http://schemas.microsoft.com/office/drawing/2014/main" id="{8FEC5DBB-6150-2DD3-AA89-9BC850147903}"/>
              </a:ext>
            </a:extLst>
          </p:cNvPr>
          <p:cNvCxnSpPr>
            <a:cxnSpLocks/>
          </p:cNvCxnSpPr>
          <p:nvPr/>
        </p:nvCxnSpPr>
        <p:spPr>
          <a:xfrm>
            <a:off x="2484694" y="277328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ישר 29">
            <a:extLst>
              <a:ext uri="{FF2B5EF4-FFF2-40B4-BE49-F238E27FC236}">
                <a16:creationId xmlns:a16="http://schemas.microsoft.com/office/drawing/2014/main" id="{01866B99-6548-3BFA-2E72-3B6DF622709F}"/>
              </a:ext>
            </a:extLst>
          </p:cNvPr>
          <p:cNvCxnSpPr>
            <a:cxnSpLocks/>
          </p:cNvCxnSpPr>
          <p:nvPr/>
        </p:nvCxnSpPr>
        <p:spPr>
          <a:xfrm>
            <a:off x="3245321" y="433875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30">
            <a:extLst>
              <a:ext uri="{FF2B5EF4-FFF2-40B4-BE49-F238E27FC236}">
                <a16:creationId xmlns:a16="http://schemas.microsoft.com/office/drawing/2014/main" id="{9D9E4F96-184B-F704-09BE-8C8768D25FA8}"/>
              </a:ext>
            </a:extLst>
          </p:cNvPr>
          <p:cNvCxnSpPr>
            <a:cxnSpLocks/>
          </p:cNvCxnSpPr>
          <p:nvPr/>
        </p:nvCxnSpPr>
        <p:spPr>
          <a:xfrm>
            <a:off x="2502723" y="433875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ישר 31">
            <a:extLst>
              <a:ext uri="{FF2B5EF4-FFF2-40B4-BE49-F238E27FC236}">
                <a16:creationId xmlns:a16="http://schemas.microsoft.com/office/drawing/2014/main" id="{399D74A1-348F-783B-55BC-E63483F00969}"/>
              </a:ext>
            </a:extLst>
          </p:cNvPr>
          <p:cNvCxnSpPr>
            <a:cxnSpLocks/>
          </p:cNvCxnSpPr>
          <p:nvPr/>
        </p:nvCxnSpPr>
        <p:spPr>
          <a:xfrm>
            <a:off x="3235605" y="50841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מחבר ישר 32">
            <a:extLst>
              <a:ext uri="{FF2B5EF4-FFF2-40B4-BE49-F238E27FC236}">
                <a16:creationId xmlns:a16="http://schemas.microsoft.com/office/drawing/2014/main" id="{0F64BD64-BB39-2795-4F55-4D098215F48E}"/>
              </a:ext>
            </a:extLst>
          </p:cNvPr>
          <p:cNvCxnSpPr>
            <a:cxnSpLocks/>
          </p:cNvCxnSpPr>
          <p:nvPr/>
        </p:nvCxnSpPr>
        <p:spPr>
          <a:xfrm>
            <a:off x="2493007" y="50841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מלבן 1">
            <a:extLst>
              <a:ext uri="{FF2B5EF4-FFF2-40B4-BE49-F238E27FC236}">
                <a16:creationId xmlns:a16="http://schemas.microsoft.com/office/drawing/2014/main" id="{5EB104F7-1FB7-D475-F3F9-FFA7A70AC22A}"/>
              </a:ext>
            </a:extLst>
          </p:cNvPr>
          <p:cNvSpPr/>
          <p:nvPr/>
        </p:nvSpPr>
        <p:spPr>
          <a:xfrm>
            <a:off x="0" y="8545"/>
            <a:ext cx="12192000" cy="518470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מלבן 3">
            <a:extLst>
              <a:ext uri="{FF2B5EF4-FFF2-40B4-BE49-F238E27FC236}">
                <a16:creationId xmlns:a16="http://schemas.microsoft.com/office/drawing/2014/main" id="{D16345C4-78FE-6AFC-3594-7E2215768376}"/>
              </a:ext>
            </a:extLst>
          </p:cNvPr>
          <p:cNvSpPr/>
          <p:nvPr/>
        </p:nvSpPr>
        <p:spPr>
          <a:xfrm>
            <a:off x="0" y="3890963"/>
            <a:ext cx="12192000" cy="2967037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מלבן 7">
            <a:extLst>
              <a:ext uri="{FF2B5EF4-FFF2-40B4-BE49-F238E27FC236}">
                <a16:creationId xmlns:a16="http://schemas.microsoft.com/office/drawing/2014/main" id="{85F096BE-9D80-0860-C41B-08F7EF80E367}"/>
              </a:ext>
            </a:extLst>
          </p:cNvPr>
          <p:cNvSpPr/>
          <p:nvPr/>
        </p:nvSpPr>
        <p:spPr>
          <a:xfrm>
            <a:off x="0" y="527015"/>
            <a:ext cx="12192000" cy="2538561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כותרת משנה 2">
            <a:extLst>
              <a:ext uri="{FF2B5EF4-FFF2-40B4-BE49-F238E27FC236}">
                <a16:creationId xmlns:a16="http://schemas.microsoft.com/office/drawing/2014/main" id="{128C5097-7A4F-3506-3035-3604736BF48E}"/>
              </a:ext>
            </a:extLst>
          </p:cNvPr>
          <p:cNvSpPr txBox="1">
            <a:spLocks/>
          </p:cNvSpPr>
          <p:nvPr/>
        </p:nvSpPr>
        <p:spPr>
          <a:xfrm rot="18092574">
            <a:off x="-519570" y="1560483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קטגוריה תפעולית</a:t>
            </a:r>
          </a:p>
        </p:txBody>
      </p:sp>
      <p:sp>
        <p:nvSpPr>
          <p:cNvPr id="24" name="כותרת משנה 2">
            <a:extLst>
              <a:ext uri="{FF2B5EF4-FFF2-40B4-BE49-F238E27FC236}">
                <a16:creationId xmlns:a16="http://schemas.microsoft.com/office/drawing/2014/main" id="{6570C604-90A1-5716-5BB5-B6EA1752FF3C}"/>
              </a:ext>
            </a:extLst>
          </p:cNvPr>
          <p:cNvSpPr txBox="1">
            <a:spLocks/>
          </p:cNvSpPr>
          <p:nvPr/>
        </p:nvSpPr>
        <p:spPr>
          <a:xfrm>
            <a:off x="6065724" y="3275420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השקעה</a:t>
            </a:r>
          </a:p>
        </p:txBody>
      </p:sp>
      <p:sp>
        <p:nvSpPr>
          <p:cNvPr id="25" name="מלבן 10">
            <a:extLst>
              <a:ext uri="{FF2B5EF4-FFF2-40B4-BE49-F238E27FC236}">
                <a16:creationId xmlns:a16="http://schemas.microsoft.com/office/drawing/2014/main" id="{18C7565C-CC92-4455-1B60-280F6FB47595}"/>
              </a:ext>
            </a:extLst>
          </p:cNvPr>
          <p:cNvSpPr/>
          <p:nvPr/>
        </p:nvSpPr>
        <p:spPr>
          <a:xfrm>
            <a:off x="8427988" y="3065576"/>
            <a:ext cx="3764012" cy="832992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77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264A5-174B-79A7-B019-7931C044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B930DDFC-15D9-ED51-26B2-5336F0DAB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7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C2B8E4F-9BA9-DF9C-EA81-8485FF574F10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DCDE35B8-9D99-5375-6220-C63381975A8C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58F682A2-548C-C2FD-9B78-058B4810342A}"/>
              </a:ext>
            </a:extLst>
          </p:cNvPr>
          <p:cNvSpPr txBox="1">
            <a:spLocks/>
          </p:cNvSpPr>
          <p:nvPr/>
        </p:nvSpPr>
        <p:spPr>
          <a:xfrm>
            <a:off x="5651770" y="1380018"/>
            <a:ext cx="5844905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את כל ההכנסות וההוצאות במהלך התקופה נרכז בדוח רווח או הפסד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CC4F8A7-0F47-ED23-4A01-90ED026819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8" t="68108"/>
          <a:stretch/>
        </p:blipFill>
        <p:spPr>
          <a:xfrm>
            <a:off x="1164102" y="2961116"/>
            <a:ext cx="1131850" cy="1116440"/>
          </a:xfrm>
          <a:prstGeom prst="rect">
            <a:avLst/>
          </a:prstGeom>
        </p:spPr>
      </p:pic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85E52B8C-F40A-DF9E-E19B-BA33235CB79A}"/>
              </a:ext>
            </a:extLst>
          </p:cNvPr>
          <p:cNvGraphicFramePr>
            <a:graphicFrameLocks noGrp="1"/>
          </p:cNvGraphicFramePr>
          <p:nvPr/>
        </p:nvGraphicFramePr>
        <p:xfrm>
          <a:off x="1988101" y="527015"/>
          <a:ext cx="4044103" cy="492201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12486">
                  <a:extLst>
                    <a:ext uri="{9D8B030D-6E8A-4147-A177-3AD203B41FA5}">
                      <a16:colId xmlns:a16="http://schemas.microsoft.com/office/drawing/2014/main" val="3331422628"/>
                    </a:ext>
                  </a:extLst>
                </a:gridCol>
                <a:gridCol w="1131617">
                  <a:extLst>
                    <a:ext uri="{9D8B030D-6E8A-4147-A177-3AD203B41FA5}">
                      <a16:colId xmlns:a16="http://schemas.microsoft.com/office/drawing/2014/main" val="2416818779"/>
                    </a:ext>
                  </a:extLst>
                </a:gridCol>
              </a:tblGrid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ממכירות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12254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עלות המכר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(XXX)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769079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גולמי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39686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הנהלה וכלליות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0945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מכירה ושיווק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756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הוצאות/הכנסות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)/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5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תפעולי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9205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מהשקעות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72619"/>
                  </a:ext>
                </a:extLst>
              </a:tr>
              <a:tr h="420562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מימון ומס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94689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מימון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9747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38254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מסים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68960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נקי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413241"/>
                  </a:ext>
                </a:extLst>
              </a:tr>
            </a:tbl>
          </a:graphicData>
        </a:graphic>
      </p:graphicFrame>
      <p:pic>
        <p:nvPicPr>
          <p:cNvPr id="7" name="גרפיקה 8" descr="ספרים על מדף">
            <a:extLst>
              <a:ext uri="{FF2B5EF4-FFF2-40B4-BE49-F238E27FC236}">
                <a16:creationId xmlns:a16="http://schemas.microsoft.com/office/drawing/2014/main" id="{E562F84B-3880-4642-C783-335EC33882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7539" y="1732933"/>
            <a:ext cx="858696" cy="858696"/>
          </a:xfrm>
          <a:prstGeom prst="rect">
            <a:avLst/>
          </a:prstGeom>
        </p:spPr>
      </p:pic>
      <p:pic>
        <p:nvPicPr>
          <p:cNvPr id="8" name="תמונה 18">
            <a:extLst>
              <a:ext uri="{FF2B5EF4-FFF2-40B4-BE49-F238E27FC236}">
                <a16:creationId xmlns:a16="http://schemas.microsoft.com/office/drawing/2014/main" id="{1BA43E19-A472-7770-3B95-DBF698008E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699" y="3948166"/>
            <a:ext cx="649342" cy="649342"/>
          </a:xfrm>
          <a:prstGeom prst="rect">
            <a:avLst/>
          </a:prstGeom>
        </p:spPr>
      </p:pic>
      <p:pic>
        <p:nvPicPr>
          <p:cNvPr id="9" name="תמונה 26">
            <a:extLst>
              <a:ext uri="{FF2B5EF4-FFF2-40B4-BE49-F238E27FC236}">
                <a16:creationId xmlns:a16="http://schemas.microsoft.com/office/drawing/2014/main" id="{03F6A0ED-8A92-A551-A484-E3924C845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587" y="587939"/>
            <a:ext cx="666491" cy="666491"/>
          </a:xfrm>
          <a:prstGeom prst="rect">
            <a:avLst/>
          </a:prstGeom>
        </p:spPr>
      </p:pic>
      <p:cxnSp>
        <p:nvCxnSpPr>
          <p:cNvPr id="10" name="מחבר ישר 37">
            <a:extLst>
              <a:ext uri="{FF2B5EF4-FFF2-40B4-BE49-F238E27FC236}">
                <a16:creationId xmlns:a16="http://schemas.microsoft.com/office/drawing/2014/main" id="{BFA835C1-8898-0147-61E0-DA3E14EF4636}"/>
              </a:ext>
            </a:extLst>
          </p:cNvPr>
          <p:cNvCxnSpPr>
            <a:cxnSpLocks/>
          </p:cNvCxnSpPr>
          <p:nvPr/>
        </p:nvCxnSpPr>
        <p:spPr>
          <a:xfrm>
            <a:off x="3227294" y="3540830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מחבר ישר 42">
            <a:extLst>
              <a:ext uri="{FF2B5EF4-FFF2-40B4-BE49-F238E27FC236}">
                <a16:creationId xmlns:a16="http://schemas.microsoft.com/office/drawing/2014/main" id="{A1CD0A5C-44FD-3634-B544-A272BBAE7C29}"/>
              </a:ext>
            </a:extLst>
          </p:cNvPr>
          <p:cNvCxnSpPr>
            <a:cxnSpLocks/>
          </p:cNvCxnSpPr>
          <p:nvPr/>
        </p:nvCxnSpPr>
        <p:spPr>
          <a:xfrm>
            <a:off x="2484696" y="3540830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מחבר ישר 23">
            <a:extLst>
              <a:ext uri="{FF2B5EF4-FFF2-40B4-BE49-F238E27FC236}">
                <a16:creationId xmlns:a16="http://schemas.microsoft.com/office/drawing/2014/main" id="{85315E31-B27F-AB30-36DC-866F1887D18F}"/>
              </a:ext>
            </a:extLst>
          </p:cNvPr>
          <p:cNvCxnSpPr>
            <a:cxnSpLocks/>
          </p:cNvCxnSpPr>
          <p:nvPr/>
        </p:nvCxnSpPr>
        <p:spPr>
          <a:xfrm>
            <a:off x="3227293" y="12742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מחבר ישר 24">
            <a:extLst>
              <a:ext uri="{FF2B5EF4-FFF2-40B4-BE49-F238E27FC236}">
                <a16:creationId xmlns:a16="http://schemas.microsoft.com/office/drawing/2014/main" id="{53EBEE84-C36E-22E9-C116-353FAE8CF6EC}"/>
              </a:ext>
            </a:extLst>
          </p:cNvPr>
          <p:cNvCxnSpPr>
            <a:cxnSpLocks/>
          </p:cNvCxnSpPr>
          <p:nvPr/>
        </p:nvCxnSpPr>
        <p:spPr>
          <a:xfrm>
            <a:off x="2484695" y="12742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מחבר ישר 25">
            <a:extLst>
              <a:ext uri="{FF2B5EF4-FFF2-40B4-BE49-F238E27FC236}">
                <a16:creationId xmlns:a16="http://schemas.microsoft.com/office/drawing/2014/main" id="{301A1E73-71D8-070F-1402-61FD8D2F1C68}"/>
              </a:ext>
            </a:extLst>
          </p:cNvPr>
          <p:cNvCxnSpPr>
            <a:cxnSpLocks/>
          </p:cNvCxnSpPr>
          <p:nvPr/>
        </p:nvCxnSpPr>
        <p:spPr>
          <a:xfrm>
            <a:off x="3227292" y="277328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ישר 27">
            <a:extLst>
              <a:ext uri="{FF2B5EF4-FFF2-40B4-BE49-F238E27FC236}">
                <a16:creationId xmlns:a16="http://schemas.microsoft.com/office/drawing/2014/main" id="{A3FE38CB-C1A4-4D97-AFCA-8AF41527D397}"/>
              </a:ext>
            </a:extLst>
          </p:cNvPr>
          <p:cNvCxnSpPr>
            <a:cxnSpLocks/>
          </p:cNvCxnSpPr>
          <p:nvPr/>
        </p:nvCxnSpPr>
        <p:spPr>
          <a:xfrm>
            <a:off x="2484694" y="277328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29">
            <a:extLst>
              <a:ext uri="{FF2B5EF4-FFF2-40B4-BE49-F238E27FC236}">
                <a16:creationId xmlns:a16="http://schemas.microsoft.com/office/drawing/2014/main" id="{9136DF27-A2D4-4782-9A83-62DC0C258F4A}"/>
              </a:ext>
            </a:extLst>
          </p:cNvPr>
          <p:cNvCxnSpPr>
            <a:cxnSpLocks/>
          </p:cNvCxnSpPr>
          <p:nvPr/>
        </p:nvCxnSpPr>
        <p:spPr>
          <a:xfrm>
            <a:off x="3245321" y="433875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ישר 30">
            <a:extLst>
              <a:ext uri="{FF2B5EF4-FFF2-40B4-BE49-F238E27FC236}">
                <a16:creationId xmlns:a16="http://schemas.microsoft.com/office/drawing/2014/main" id="{3C202255-C6C6-3E33-965A-16200301E30D}"/>
              </a:ext>
            </a:extLst>
          </p:cNvPr>
          <p:cNvCxnSpPr>
            <a:cxnSpLocks/>
          </p:cNvCxnSpPr>
          <p:nvPr/>
        </p:nvCxnSpPr>
        <p:spPr>
          <a:xfrm>
            <a:off x="2502723" y="433875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מחבר ישר 31">
            <a:extLst>
              <a:ext uri="{FF2B5EF4-FFF2-40B4-BE49-F238E27FC236}">
                <a16:creationId xmlns:a16="http://schemas.microsoft.com/office/drawing/2014/main" id="{CBB4C036-B10C-A76F-6E9B-1FE60B1C68A8}"/>
              </a:ext>
            </a:extLst>
          </p:cNvPr>
          <p:cNvCxnSpPr>
            <a:cxnSpLocks/>
          </p:cNvCxnSpPr>
          <p:nvPr/>
        </p:nvCxnSpPr>
        <p:spPr>
          <a:xfrm>
            <a:off x="3235605" y="50841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מחבר ישר 32">
            <a:extLst>
              <a:ext uri="{FF2B5EF4-FFF2-40B4-BE49-F238E27FC236}">
                <a16:creationId xmlns:a16="http://schemas.microsoft.com/office/drawing/2014/main" id="{F8744792-3A42-840D-27A4-B3237C2C3D25}"/>
              </a:ext>
            </a:extLst>
          </p:cNvPr>
          <p:cNvCxnSpPr>
            <a:cxnSpLocks/>
          </p:cNvCxnSpPr>
          <p:nvPr/>
        </p:nvCxnSpPr>
        <p:spPr>
          <a:xfrm>
            <a:off x="2493007" y="50841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מלבן 1">
            <a:extLst>
              <a:ext uri="{FF2B5EF4-FFF2-40B4-BE49-F238E27FC236}">
                <a16:creationId xmlns:a16="http://schemas.microsoft.com/office/drawing/2014/main" id="{5F6C3B1A-C6C7-846D-F786-C06FEFBAF35D}"/>
              </a:ext>
            </a:extLst>
          </p:cNvPr>
          <p:cNvSpPr/>
          <p:nvPr/>
        </p:nvSpPr>
        <p:spPr>
          <a:xfrm>
            <a:off x="0" y="-16271"/>
            <a:ext cx="12192000" cy="543285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2" name="מלבן 3">
            <a:extLst>
              <a:ext uri="{FF2B5EF4-FFF2-40B4-BE49-F238E27FC236}">
                <a16:creationId xmlns:a16="http://schemas.microsoft.com/office/drawing/2014/main" id="{87E5CED4-24EB-7443-EF7D-6ADD2FE23380}"/>
              </a:ext>
            </a:extLst>
          </p:cNvPr>
          <p:cNvSpPr/>
          <p:nvPr/>
        </p:nvSpPr>
        <p:spPr>
          <a:xfrm>
            <a:off x="0" y="4696495"/>
            <a:ext cx="12192000" cy="2161505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3" name="מלבן 7">
            <a:extLst>
              <a:ext uri="{FF2B5EF4-FFF2-40B4-BE49-F238E27FC236}">
                <a16:creationId xmlns:a16="http://schemas.microsoft.com/office/drawing/2014/main" id="{0122DF61-8AAF-A627-8F0C-7ECB999BDC94}"/>
              </a:ext>
            </a:extLst>
          </p:cNvPr>
          <p:cNvSpPr/>
          <p:nvPr/>
        </p:nvSpPr>
        <p:spPr>
          <a:xfrm>
            <a:off x="0" y="527015"/>
            <a:ext cx="12192000" cy="3320130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4" name="כותרת משנה 2">
            <a:extLst>
              <a:ext uri="{FF2B5EF4-FFF2-40B4-BE49-F238E27FC236}">
                <a16:creationId xmlns:a16="http://schemas.microsoft.com/office/drawing/2014/main" id="{C2B9157B-BC11-1705-42D5-D8EEB6F0A1A4}"/>
              </a:ext>
            </a:extLst>
          </p:cNvPr>
          <p:cNvSpPr txBox="1">
            <a:spLocks/>
          </p:cNvSpPr>
          <p:nvPr/>
        </p:nvSpPr>
        <p:spPr>
          <a:xfrm rot="18092574">
            <a:off x="-519570" y="1560483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קטגוריה תפעולית</a:t>
            </a:r>
          </a:p>
        </p:txBody>
      </p:sp>
      <p:sp>
        <p:nvSpPr>
          <p:cNvPr id="25" name="כותרת משנה 2">
            <a:extLst>
              <a:ext uri="{FF2B5EF4-FFF2-40B4-BE49-F238E27FC236}">
                <a16:creationId xmlns:a16="http://schemas.microsoft.com/office/drawing/2014/main" id="{68B71DD6-4647-8D38-582D-AA37E0202D60}"/>
              </a:ext>
            </a:extLst>
          </p:cNvPr>
          <p:cNvSpPr txBox="1">
            <a:spLocks/>
          </p:cNvSpPr>
          <p:nvPr/>
        </p:nvSpPr>
        <p:spPr>
          <a:xfrm>
            <a:off x="6065724" y="3275420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השקעה</a:t>
            </a:r>
          </a:p>
        </p:txBody>
      </p:sp>
      <p:sp>
        <p:nvSpPr>
          <p:cNvPr id="26" name="מלבן 10">
            <a:extLst>
              <a:ext uri="{FF2B5EF4-FFF2-40B4-BE49-F238E27FC236}">
                <a16:creationId xmlns:a16="http://schemas.microsoft.com/office/drawing/2014/main" id="{50712F0F-AD04-53B2-7724-1EA8A3A0DED5}"/>
              </a:ext>
            </a:extLst>
          </p:cNvPr>
          <p:cNvSpPr/>
          <p:nvPr/>
        </p:nvSpPr>
        <p:spPr>
          <a:xfrm>
            <a:off x="8426027" y="3856341"/>
            <a:ext cx="3765973" cy="832992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7" name="כותרת משנה 2">
            <a:extLst>
              <a:ext uri="{FF2B5EF4-FFF2-40B4-BE49-F238E27FC236}">
                <a16:creationId xmlns:a16="http://schemas.microsoft.com/office/drawing/2014/main" id="{17E95FE3-3AD5-6A90-BFD0-5F761E296CA5}"/>
              </a:ext>
            </a:extLst>
          </p:cNvPr>
          <p:cNvSpPr txBox="1">
            <a:spLocks/>
          </p:cNvSpPr>
          <p:nvPr/>
        </p:nvSpPr>
        <p:spPr>
          <a:xfrm>
            <a:off x="6065723" y="4068971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מימון</a:t>
            </a:r>
          </a:p>
        </p:txBody>
      </p:sp>
    </p:spTree>
    <p:extLst>
      <p:ext uri="{BB962C8B-B14F-4D97-AF65-F5344CB8AC3E}">
        <p14:creationId xmlns:p14="http://schemas.microsoft.com/office/powerpoint/2010/main" val="129034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5530D-B05B-BB4C-6F44-F4EAEEE9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D72E1F28-B7D5-FAD2-3959-EF4E58BD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8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82B44EA-628C-699E-2462-2CE1E67E28C5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08F88781-B74A-1267-7B66-729D131666F5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CC021BEA-7206-4264-006C-33ED4D60295D}"/>
              </a:ext>
            </a:extLst>
          </p:cNvPr>
          <p:cNvSpPr txBox="1">
            <a:spLocks/>
          </p:cNvSpPr>
          <p:nvPr/>
        </p:nvSpPr>
        <p:spPr>
          <a:xfrm>
            <a:off x="5651770" y="1380018"/>
            <a:ext cx="5844905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את כל ההכנסות וההוצאות במהלך התקופה נרכז בדוח רווח או הפסד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A756DFC-086C-F854-CB88-4D65FF79A6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8" t="68108"/>
          <a:stretch/>
        </p:blipFill>
        <p:spPr>
          <a:xfrm>
            <a:off x="1164102" y="2961116"/>
            <a:ext cx="1131850" cy="1116440"/>
          </a:xfrm>
          <a:prstGeom prst="rect">
            <a:avLst/>
          </a:prstGeom>
        </p:spPr>
      </p:pic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CB34678E-4EE1-7ECD-C989-7F70B135D279}"/>
              </a:ext>
            </a:extLst>
          </p:cNvPr>
          <p:cNvGraphicFramePr>
            <a:graphicFrameLocks noGrp="1"/>
          </p:cNvGraphicFramePr>
          <p:nvPr/>
        </p:nvGraphicFramePr>
        <p:xfrm>
          <a:off x="1988101" y="527015"/>
          <a:ext cx="4044103" cy="492201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12486">
                  <a:extLst>
                    <a:ext uri="{9D8B030D-6E8A-4147-A177-3AD203B41FA5}">
                      <a16:colId xmlns:a16="http://schemas.microsoft.com/office/drawing/2014/main" val="3331422628"/>
                    </a:ext>
                  </a:extLst>
                </a:gridCol>
                <a:gridCol w="1131617">
                  <a:extLst>
                    <a:ext uri="{9D8B030D-6E8A-4147-A177-3AD203B41FA5}">
                      <a16:colId xmlns:a16="http://schemas.microsoft.com/office/drawing/2014/main" val="2416818779"/>
                    </a:ext>
                  </a:extLst>
                </a:gridCol>
              </a:tblGrid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ממכירות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12254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עלות המכר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(XXX)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769079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גולמי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39686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הנהלה וכלליות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0945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מכירה ושיווק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756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הוצאות/הכנסות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)/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5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תפעולי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9205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מהשקעות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72619"/>
                  </a:ext>
                </a:extLst>
              </a:tr>
              <a:tr h="420562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מימון ומס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94689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מימון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9747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38254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מסים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68960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נקי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413241"/>
                  </a:ext>
                </a:extLst>
              </a:tr>
            </a:tbl>
          </a:graphicData>
        </a:graphic>
      </p:graphicFrame>
      <p:pic>
        <p:nvPicPr>
          <p:cNvPr id="7" name="גרפיקה 8" descr="ספרים על מדף">
            <a:extLst>
              <a:ext uri="{FF2B5EF4-FFF2-40B4-BE49-F238E27FC236}">
                <a16:creationId xmlns:a16="http://schemas.microsoft.com/office/drawing/2014/main" id="{C258AAB4-FF83-A030-2303-B05999F37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7539" y="1732933"/>
            <a:ext cx="858696" cy="858696"/>
          </a:xfrm>
          <a:prstGeom prst="rect">
            <a:avLst/>
          </a:prstGeom>
        </p:spPr>
      </p:pic>
      <p:pic>
        <p:nvPicPr>
          <p:cNvPr id="8" name="תמונה 18">
            <a:extLst>
              <a:ext uri="{FF2B5EF4-FFF2-40B4-BE49-F238E27FC236}">
                <a16:creationId xmlns:a16="http://schemas.microsoft.com/office/drawing/2014/main" id="{2377AE12-F8FD-1AC6-1EC7-DD4AAEE15B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699" y="3948166"/>
            <a:ext cx="649342" cy="649342"/>
          </a:xfrm>
          <a:prstGeom prst="rect">
            <a:avLst/>
          </a:prstGeom>
        </p:spPr>
      </p:pic>
      <p:pic>
        <p:nvPicPr>
          <p:cNvPr id="9" name="תמונה 26">
            <a:extLst>
              <a:ext uri="{FF2B5EF4-FFF2-40B4-BE49-F238E27FC236}">
                <a16:creationId xmlns:a16="http://schemas.microsoft.com/office/drawing/2014/main" id="{4C5295A4-FF1E-117F-F512-3FECB9E679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587" y="587939"/>
            <a:ext cx="666491" cy="666491"/>
          </a:xfrm>
          <a:prstGeom prst="rect">
            <a:avLst/>
          </a:prstGeom>
        </p:spPr>
      </p:pic>
      <p:pic>
        <p:nvPicPr>
          <p:cNvPr id="10" name="תמונה 28">
            <a:extLst>
              <a:ext uri="{FF2B5EF4-FFF2-40B4-BE49-F238E27FC236}">
                <a16:creationId xmlns:a16="http://schemas.microsoft.com/office/drawing/2014/main" id="{681B1658-9D23-8B34-98D7-9782D558CE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321" y="4757210"/>
            <a:ext cx="618260" cy="618260"/>
          </a:xfrm>
          <a:prstGeom prst="rect">
            <a:avLst/>
          </a:prstGeom>
        </p:spPr>
      </p:pic>
      <p:cxnSp>
        <p:nvCxnSpPr>
          <p:cNvPr id="11" name="מחבר ישר 37">
            <a:extLst>
              <a:ext uri="{FF2B5EF4-FFF2-40B4-BE49-F238E27FC236}">
                <a16:creationId xmlns:a16="http://schemas.microsoft.com/office/drawing/2014/main" id="{160DAE14-E1D1-5ABA-D6E5-0CFD64169B3B}"/>
              </a:ext>
            </a:extLst>
          </p:cNvPr>
          <p:cNvCxnSpPr>
            <a:cxnSpLocks/>
          </p:cNvCxnSpPr>
          <p:nvPr/>
        </p:nvCxnSpPr>
        <p:spPr>
          <a:xfrm>
            <a:off x="3227294" y="3540830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מחבר ישר 42">
            <a:extLst>
              <a:ext uri="{FF2B5EF4-FFF2-40B4-BE49-F238E27FC236}">
                <a16:creationId xmlns:a16="http://schemas.microsoft.com/office/drawing/2014/main" id="{4E7E2E2E-2B6C-0DEF-34C5-52DB4AB6C9A2}"/>
              </a:ext>
            </a:extLst>
          </p:cNvPr>
          <p:cNvCxnSpPr>
            <a:cxnSpLocks/>
          </p:cNvCxnSpPr>
          <p:nvPr/>
        </p:nvCxnSpPr>
        <p:spPr>
          <a:xfrm>
            <a:off x="2484696" y="3540830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מחבר ישר 23">
            <a:extLst>
              <a:ext uri="{FF2B5EF4-FFF2-40B4-BE49-F238E27FC236}">
                <a16:creationId xmlns:a16="http://schemas.microsoft.com/office/drawing/2014/main" id="{FD1F04AF-FE9A-44B2-F0B4-C83EE3E0FB6B}"/>
              </a:ext>
            </a:extLst>
          </p:cNvPr>
          <p:cNvCxnSpPr>
            <a:cxnSpLocks/>
          </p:cNvCxnSpPr>
          <p:nvPr/>
        </p:nvCxnSpPr>
        <p:spPr>
          <a:xfrm>
            <a:off x="3227293" y="12742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מחבר ישר 24">
            <a:extLst>
              <a:ext uri="{FF2B5EF4-FFF2-40B4-BE49-F238E27FC236}">
                <a16:creationId xmlns:a16="http://schemas.microsoft.com/office/drawing/2014/main" id="{0510BAB5-4570-76AD-0280-24E495634623}"/>
              </a:ext>
            </a:extLst>
          </p:cNvPr>
          <p:cNvCxnSpPr>
            <a:cxnSpLocks/>
          </p:cNvCxnSpPr>
          <p:nvPr/>
        </p:nvCxnSpPr>
        <p:spPr>
          <a:xfrm>
            <a:off x="2484695" y="12742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ישר 25">
            <a:extLst>
              <a:ext uri="{FF2B5EF4-FFF2-40B4-BE49-F238E27FC236}">
                <a16:creationId xmlns:a16="http://schemas.microsoft.com/office/drawing/2014/main" id="{9BF5EC08-7DB0-BEFF-ED32-8D3D61E29FAC}"/>
              </a:ext>
            </a:extLst>
          </p:cNvPr>
          <p:cNvCxnSpPr>
            <a:cxnSpLocks/>
          </p:cNvCxnSpPr>
          <p:nvPr/>
        </p:nvCxnSpPr>
        <p:spPr>
          <a:xfrm>
            <a:off x="3227292" y="277328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27">
            <a:extLst>
              <a:ext uri="{FF2B5EF4-FFF2-40B4-BE49-F238E27FC236}">
                <a16:creationId xmlns:a16="http://schemas.microsoft.com/office/drawing/2014/main" id="{2B0D9D93-9807-FD5F-27F9-60E5F36D1B9F}"/>
              </a:ext>
            </a:extLst>
          </p:cNvPr>
          <p:cNvCxnSpPr>
            <a:cxnSpLocks/>
          </p:cNvCxnSpPr>
          <p:nvPr/>
        </p:nvCxnSpPr>
        <p:spPr>
          <a:xfrm>
            <a:off x="2484694" y="277328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ישר 29">
            <a:extLst>
              <a:ext uri="{FF2B5EF4-FFF2-40B4-BE49-F238E27FC236}">
                <a16:creationId xmlns:a16="http://schemas.microsoft.com/office/drawing/2014/main" id="{AECCFB65-1A3A-D245-22C3-5C5DFEEA16A5}"/>
              </a:ext>
            </a:extLst>
          </p:cNvPr>
          <p:cNvCxnSpPr>
            <a:cxnSpLocks/>
          </p:cNvCxnSpPr>
          <p:nvPr/>
        </p:nvCxnSpPr>
        <p:spPr>
          <a:xfrm>
            <a:off x="3245321" y="433875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מחבר ישר 30">
            <a:extLst>
              <a:ext uri="{FF2B5EF4-FFF2-40B4-BE49-F238E27FC236}">
                <a16:creationId xmlns:a16="http://schemas.microsoft.com/office/drawing/2014/main" id="{0BB5B3BD-DDC7-82F5-8F34-8ACBA6EA08E3}"/>
              </a:ext>
            </a:extLst>
          </p:cNvPr>
          <p:cNvCxnSpPr>
            <a:cxnSpLocks/>
          </p:cNvCxnSpPr>
          <p:nvPr/>
        </p:nvCxnSpPr>
        <p:spPr>
          <a:xfrm>
            <a:off x="2502723" y="433875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מחבר ישר 31">
            <a:extLst>
              <a:ext uri="{FF2B5EF4-FFF2-40B4-BE49-F238E27FC236}">
                <a16:creationId xmlns:a16="http://schemas.microsoft.com/office/drawing/2014/main" id="{B0E34408-BC2B-5DC0-8275-D23140239FAB}"/>
              </a:ext>
            </a:extLst>
          </p:cNvPr>
          <p:cNvCxnSpPr>
            <a:cxnSpLocks/>
          </p:cNvCxnSpPr>
          <p:nvPr/>
        </p:nvCxnSpPr>
        <p:spPr>
          <a:xfrm>
            <a:off x="3235605" y="50841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מחבר ישר 32">
            <a:extLst>
              <a:ext uri="{FF2B5EF4-FFF2-40B4-BE49-F238E27FC236}">
                <a16:creationId xmlns:a16="http://schemas.microsoft.com/office/drawing/2014/main" id="{BBDB998F-F6FB-56C7-728A-9E45CB366A6D}"/>
              </a:ext>
            </a:extLst>
          </p:cNvPr>
          <p:cNvCxnSpPr>
            <a:cxnSpLocks/>
          </p:cNvCxnSpPr>
          <p:nvPr/>
        </p:nvCxnSpPr>
        <p:spPr>
          <a:xfrm>
            <a:off x="2493007" y="50841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מלבן 1">
            <a:extLst>
              <a:ext uri="{FF2B5EF4-FFF2-40B4-BE49-F238E27FC236}">
                <a16:creationId xmlns:a16="http://schemas.microsoft.com/office/drawing/2014/main" id="{D4C2BDF6-722C-1C64-FC6D-8E077F04FCEA}"/>
              </a:ext>
            </a:extLst>
          </p:cNvPr>
          <p:cNvSpPr/>
          <p:nvPr/>
        </p:nvSpPr>
        <p:spPr>
          <a:xfrm>
            <a:off x="0" y="-16271"/>
            <a:ext cx="12192000" cy="543285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3" name="מלבן 3">
            <a:extLst>
              <a:ext uri="{FF2B5EF4-FFF2-40B4-BE49-F238E27FC236}">
                <a16:creationId xmlns:a16="http://schemas.microsoft.com/office/drawing/2014/main" id="{E2FE3CCF-E0DB-0518-505A-03770231BFF7}"/>
              </a:ext>
            </a:extLst>
          </p:cNvPr>
          <p:cNvSpPr/>
          <p:nvPr/>
        </p:nvSpPr>
        <p:spPr>
          <a:xfrm>
            <a:off x="0" y="5492815"/>
            <a:ext cx="12192000" cy="1365185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4" name="מלבן 7">
            <a:extLst>
              <a:ext uri="{FF2B5EF4-FFF2-40B4-BE49-F238E27FC236}">
                <a16:creationId xmlns:a16="http://schemas.microsoft.com/office/drawing/2014/main" id="{E1A6B120-1CD3-FF22-7FF6-A127E80A6AB8}"/>
              </a:ext>
            </a:extLst>
          </p:cNvPr>
          <p:cNvSpPr/>
          <p:nvPr/>
        </p:nvSpPr>
        <p:spPr>
          <a:xfrm>
            <a:off x="0" y="527015"/>
            <a:ext cx="12192000" cy="4132808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5" name="כותרת משנה 2">
            <a:extLst>
              <a:ext uri="{FF2B5EF4-FFF2-40B4-BE49-F238E27FC236}">
                <a16:creationId xmlns:a16="http://schemas.microsoft.com/office/drawing/2014/main" id="{E5536D84-F68F-D083-BB73-F9E084BEDB77}"/>
              </a:ext>
            </a:extLst>
          </p:cNvPr>
          <p:cNvSpPr txBox="1">
            <a:spLocks/>
          </p:cNvSpPr>
          <p:nvPr/>
        </p:nvSpPr>
        <p:spPr>
          <a:xfrm rot="18092574">
            <a:off x="-519570" y="1560483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קטגוריה תפעולית</a:t>
            </a:r>
          </a:p>
        </p:txBody>
      </p:sp>
      <p:sp>
        <p:nvSpPr>
          <p:cNvPr id="26" name="כותרת משנה 2">
            <a:extLst>
              <a:ext uri="{FF2B5EF4-FFF2-40B4-BE49-F238E27FC236}">
                <a16:creationId xmlns:a16="http://schemas.microsoft.com/office/drawing/2014/main" id="{22097559-10FB-7631-DAC7-CE83A8BB5849}"/>
              </a:ext>
            </a:extLst>
          </p:cNvPr>
          <p:cNvSpPr txBox="1">
            <a:spLocks/>
          </p:cNvSpPr>
          <p:nvPr/>
        </p:nvSpPr>
        <p:spPr>
          <a:xfrm>
            <a:off x="6065724" y="3275420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השקעה</a:t>
            </a:r>
          </a:p>
        </p:txBody>
      </p:sp>
      <p:sp>
        <p:nvSpPr>
          <p:cNvPr id="27" name="מלבן 10">
            <a:extLst>
              <a:ext uri="{FF2B5EF4-FFF2-40B4-BE49-F238E27FC236}">
                <a16:creationId xmlns:a16="http://schemas.microsoft.com/office/drawing/2014/main" id="{AABABE10-A314-F655-370E-67487197A7C0}"/>
              </a:ext>
            </a:extLst>
          </p:cNvPr>
          <p:cNvSpPr/>
          <p:nvPr/>
        </p:nvSpPr>
        <p:spPr>
          <a:xfrm>
            <a:off x="8427988" y="4659823"/>
            <a:ext cx="3764012" cy="832992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/>
          </a:p>
        </p:txBody>
      </p:sp>
      <p:sp>
        <p:nvSpPr>
          <p:cNvPr id="28" name="כותרת משנה 2">
            <a:extLst>
              <a:ext uri="{FF2B5EF4-FFF2-40B4-BE49-F238E27FC236}">
                <a16:creationId xmlns:a16="http://schemas.microsoft.com/office/drawing/2014/main" id="{581CFC54-9C03-DFD8-8BB4-863437A62EF6}"/>
              </a:ext>
            </a:extLst>
          </p:cNvPr>
          <p:cNvSpPr txBox="1">
            <a:spLocks/>
          </p:cNvSpPr>
          <p:nvPr/>
        </p:nvSpPr>
        <p:spPr>
          <a:xfrm>
            <a:off x="6065723" y="4068971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מימון</a:t>
            </a:r>
          </a:p>
        </p:txBody>
      </p:sp>
      <p:sp>
        <p:nvSpPr>
          <p:cNvPr id="29" name="כותרת משנה 2">
            <a:extLst>
              <a:ext uri="{FF2B5EF4-FFF2-40B4-BE49-F238E27FC236}">
                <a16:creationId xmlns:a16="http://schemas.microsoft.com/office/drawing/2014/main" id="{6FD9E816-8A25-E19B-E332-CA92DBA682DB}"/>
              </a:ext>
            </a:extLst>
          </p:cNvPr>
          <p:cNvSpPr txBox="1">
            <a:spLocks/>
          </p:cNvSpPr>
          <p:nvPr/>
        </p:nvSpPr>
        <p:spPr>
          <a:xfrm>
            <a:off x="6065722" y="4881278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מס</a:t>
            </a:r>
          </a:p>
        </p:txBody>
      </p:sp>
    </p:spTree>
    <p:extLst>
      <p:ext uri="{BB962C8B-B14F-4D97-AF65-F5344CB8AC3E}">
        <p14:creationId xmlns:p14="http://schemas.microsoft.com/office/powerpoint/2010/main" val="324557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7EC0A-CCFD-842E-FABE-05EFC19A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24B4C077-6679-7F50-07B5-3310954B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9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CF01FDB-127A-ED89-DA20-BDBD2B2635B9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5B13E0FB-2553-A5A4-D0F2-9B72EEE0E018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85EA43DF-DD65-113F-D1EA-6E7D823D1F7B}"/>
              </a:ext>
            </a:extLst>
          </p:cNvPr>
          <p:cNvSpPr txBox="1">
            <a:spLocks/>
          </p:cNvSpPr>
          <p:nvPr/>
        </p:nvSpPr>
        <p:spPr>
          <a:xfrm>
            <a:off x="5651770" y="1380018"/>
            <a:ext cx="5844905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את כל ההכנסות וההוצאות במהלך התקופה נרכז בדוח רווח או הפסד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8360787-210D-79E2-1D96-C729903F96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8" t="68108"/>
          <a:stretch/>
        </p:blipFill>
        <p:spPr>
          <a:xfrm>
            <a:off x="1164102" y="2961116"/>
            <a:ext cx="1131850" cy="1116440"/>
          </a:xfrm>
          <a:prstGeom prst="rect">
            <a:avLst/>
          </a:prstGeom>
        </p:spPr>
      </p:pic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6FC23299-92E8-E082-DED0-D1E54207FECA}"/>
              </a:ext>
            </a:extLst>
          </p:cNvPr>
          <p:cNvGraphicFramePr>
            <a:graphicFrameLocks noGrp="1"/>
          </p:cNvGraphicFramePr>
          <p:nvPr/>
        </p:nvGraphicFramePr>
        <p:xfrm>
          <a:off x="1988101" y="527015"/>
          <a:ext cx="4044103" cy="492201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12486">
                  <a:extLst>
                    <a:ext uri="{9D8B030D-6E8A-4147-A177-3AD203B41FA5}">
                      <a16:colId xmlns:a16="http://schemas.microsoft.com/office/drawing/2014/main" val="3331422628"/>
                    </a:ext>
                  </a:extLst>
                </a:gridCol>
                <a:gridCol w="1131617">
                  <a:extLst>
                    <a:ext uri="{9D8B030D-6E8A-4147-A177-3AD203B41FA5}">
                      <a16:colId xmlns:a16="http://schemas.microsoft.com/office/drawing/2014/main" val="2416818779"/>
                    </a:ext>
                  </a:extLst>
                </a:gridCol>
              </a:tblGrid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ממכירות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12254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עלות המכר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(XXX)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769079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גולמי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39686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הנהלה וכלליות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0945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מכירה ושיווק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756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הוצאות/הכנסות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)/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5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תפעולי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9205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מהשקעות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72619"/>
                  </a:ext>
                </a:extLst>
              </a:tr>
              <a:tr h="420562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מימון ומס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946897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מימון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9747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לפני מס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382548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מסים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68960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רווח (הפסד) נקי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413241"/>
                  </a:ext>
                </a:extLst>
              </a:tr>
            </a:tbl>
          </a:graphicData>
        </a:graphic>
      </p:graphicFrame>
      <p:pic>
        <p:nvPicPr>
          <p:cNvPr id="7" name="גרפיקה 8" descr="ספרים על מדף">
            <a:extLst>
              <a:ext uri="{FF2B5EF4-FFF2-40B4-BE49-F238E27FC236}">
                <a16:creationId xmlns:a16="http://schemas.microsoft.com/office/drawing/2014/main" id="{A1671D24-B758-6461-CBEE-AB8892C448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7539" y="1732933"/>
            <a:ext cx="858696" cy="858696"/>
          </a:xfrm>
          <a:prstGeom prst="rect">
            <a:avLst/>
          </a:prstGeom>
        </p:spPr>
      </p:pic>
      <p:pic>
        <p:nvPicPr>
          <p:cNvPr id="8" name="תמונה 18">
            <a:extLst>
              <a:ext uri="{FF2B5EF4-FFF2-40B4-BE49-F238E27FC236}">
                <a16:creationId xmlns:a16="http://schemas.microsoft.com/office/drawing/2014/main" id="{9487006B-B65F-35F1-BC08-507387FF1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699" y="3948166"/>
            <a:ext cx="649342" cy="649342"/>
          </a:xfrm>
          <a:prstGeom prst="rect">
            <a:avLst/>
          </a:prstGeom>
        </p:spPr>
      </p:pic>
      <p:pic>
        <p:nvPicPr>
          <p:cNvPr id="9" name="תמונה 26">
            <a:extLst>
              <a:ext uri="{FF2B5EF4-FFF2-40B4-BE49-F238E27FC236}">
                <a16:creationId xmlns:a16="http://schemas.microsoft.com/office/drawing/2014/main" id="{5BD01428-F923-3F67-D7B0-AFD4A757C9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587" y="587939"/>
            <a:ext cx="666491" cy="666491"/>
          </a:xfrm>
          <a:prstGeom prst="rect">
            <a:avLst/>
          </a:prstGeom>
        </p:spPr>
      </p:pic>
      <p:pic>
        <p:nvPicPr>
          <p:cNvPr id="10" name="תמונה 28">
            <a:extLst>
              <a:ext uri="{FF2B5EF4-FFF2-40B4-BE49-F238E27FC236}">
                <a16:creationId xmlns:a16="http://schemas.microsoft.com/office/drawing/2014/main" id="{26DA48FB-E7BA-E10D-7468-A67CC08F28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321" y="4757210"/>
            <a:ext cx="618260" cy="618260"/>
          </a:xfrm>
          <a:prstGeom prst="rect">
            <a:avLst/>
          </a:prstGeom>
        </p:spPr>
      </p:pic>
      <p:cxnSp>
        <p:nvCxnSpPr>
          <p:cNvPr id="11" name="מחבר ישר 37">
            <a:extLst>
              <a:ext uri="{FF2B5EF4-FFF2-40B4-BE49-F238E27FC236}">
                <a16:creationId xmlns:a16="http://schemas.microsoft.com/office/drawing/2014/main" id="{C4F2CDEB-A712-4487-1C3E-A3BFC804E23C}"/>
              </a:ext>
            </a:extLst>
          </p:cNvPr>
          <p:cNvCxnSpPr>
            <a:cxnSpLocks/>
          </p:cNvCxnSpPr>
          <p:nvPr/>
        </p:nvCxnSpPr>
        <p:spPr>
          <a:xfrm>
            <a:off x="3227294" y="3540830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מחבר ישר 42">
            <a:extLst>
              <a:ext uri="{FF2B5EF4-FFF2-40B4-BE49-F238E27FC236}">
                <a16:creationId xmlns:a16="http://schemas.microsoft.com/office/drawing/2014/main" id="{5B180F2F-B1D2-126E-D30C-6D5BE471E9F9}"/>
              </a:ext>
            </a:extLst>
          </p:cNvPr>
          <p:cNvCxnSpPr>
            <a:cxnSpLocks/>
          </p:cNvCxnSpPr>
          <p:nvPr/>
        </p:nvCxnSpPr>
        <p:spPr>
          <a:xfrm>
            <a:off x="2484696" y="3540830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מחבר ישר 23">
            <a:extLst>
              <a:ext uri="{FF2B5EF4-FFF2-40B4-BE49-F238E27FC236}">
                <a16:creationId xmlns:a16="http://schemas.microsoft.com/office/drawing/2014/main" id="{2C9643FE-B830-23AE-2B4A-7024DD75F455}"/>
              </a:ext>
            </a:extLst>
          </p:cNvPr>
          <p:cNvCxnSpPr>
            <a:cxnSpLocks/>
          </p:cNvCxnSpPr>
          <p:nvPr/>
        </p:nvCxnSpPr>
        <p:spPr>
          <a:xfrm>
            <a:off x="3227293" y="12742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מחבר ישר 24">
            <a:extLst>
              <a:ext uri="{FF2B5EF4-FFF2-40B4-BE49-F238E27FC236}">
                <a16:creationId xmlns:a16="http://schemas.microsoft.com/office/drawing/2014/main" id="{4C46B9AF-7990-7280-F404-63DBB0B1A6A6}"/>
              </a:ext>
            </a:extLst>
          </p:cNvPr>
          <p:cNvCxnSpPr>
            <a:cxnSpLocks/>
          </p:cNvCxnSpPr>
          <p:nvPr/>
        </p:nvCxnSpPr>
        <p:spPr>
          <a:xfrm>
            <a:off x="2484695" y="12742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ישר 25">
            <a:extLst>
              <a:ext uri="{FF2B5EF4-FFF2-40B4-BE49-F238E27FC236}">
                <a16:creationId xmlns:a16="http://schemas.microsoft.com/office/drawing/2014/main" id="{D3E220D7-EE98-B397-ED2E-27ACF1A0CCDB}"/>
              </a:ext>
            </a:extLst>
          </p:cNvPr>
          <p:cNvCxnSpPr>
            <a:cxnSpLocks/>
          </p:cNvCxnSpPr>
          <p:nvPr/>
        </p:nvCxnSpPr>
        <p:spPr>
          <a:xfrm>
            <a:off x="3227292" y="277328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ישר 27">
            <a:extLst>
              <a:ext uri="{FF2B5EF4-FFF2-40B4-BE49-F238E27FC236}">
                <a16:creationId xmlns:a16="http://schemas.microsoft.com/office/drawing/2014/main" id="{9C15CE69-210B-1687-77E8-FB7A92EE31B0}"/>
              </a:ext>
            </a:extLst>
          </p:cNvPr>
          <p:cNvCxnSpPr>
            <a:cxnSpLocks/>
          </p:cNvCxnSpPr>
          <p:nvPr/>
        </p:nvCxnSpPr>
        <p:spPr>
          <a:xfrm>
            <a:off x="2484694" y="277328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ישר 29">
            <a:extLst>
              <a:ext uri="{FF2B5EF4-FFF2-40B4-BE49-F238E27FC236}">
                <a16:creationId xmlns:a16="http://schemas.microsoft.com/office/drawing/2014/main" id="{EA1DBCE6-E2A1-02C3-818A-4A968E2AD4CA}"/>
              </a:ext>
            </a:extLst>
          </p:cNvPr>
          <p:cNvCxnSpPr>
            <a:cxnSpLocks/>
          </p:cNvCxnSpPr>
          <p:nvPr/>
        </p:nvCxnSpPr>
        <p:spPr>
          <a:xfrm>
            <a:off x="3245321" y="433875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מחבר ישר 30">
            <a:extLst>
              <a:ext uri="{FF2B5EF4-FFF2-40B4-BE49-F238E27FC236}">
                <a16:creationId xmlns:a16="http://schemas.microsoft.com/office/drawing/2014/main" id="{C8C25441-E9E3-70DD-7394-8AEB51615469}"/>
              </a:ext>
            </a:extLst>
          </p:cNvPr>
          <p:cNvCxnSpPr>
            <a:cxnSpLocks/>
          </p:cNvCxnSpPr>
          <p:nvPr/>
        </p:nvCxnSpPr>
        <p:spPr>
          <a:xfrm>
            <a:off x="2502723" y="433875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מחבר ישר 31">
            <a:extLst>
              <a:ext uri="{FF2B5EF4-FFF2-40B4-BE49-F238E27FC236}">
                <a16:creationId xmlns:a16="http://schemas.microsoft.com/office/drawing/2014/main" id="{DE11AD2E-A15C-12D9-28AC-68FEE0932C8D}"/>
              </a:ext>
            </a:extLst>
          </p:cNvPr>
          <p:cNvCxnSpPr>
            <a:cxnSpLocks/>
          </p:cNvCxnSpPr>
          <p:nvPr/>
        </p:nvCxnSpPr>
        <p:spPr>
          <a:xfrm>
            <a:off x="3235605" y="5084127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מחבר ישר 32">
            <a:extLst>
              <a:ext uri="{FF2B5EF4-FFF2-40B4-BE49-F238E27FC236}">
                <a16:creationId xmlns:a16="http://schemas.microsoft.com/office/drawing/2014/main" id="{9F8F4BA4-CABD-0CFA-F137-AFE31DA44FC6}"/>
              </a:ext>
            </a:extLst>
          </p:cNvPr>
          <p:cNvCxnSpPr>
            <a:cxnSpLocks/>
          </p:cNvCxnSpPr>
          <p:nvPr/>
        </p:nvCxnSpPr>
        <p:spPr>
          <a:xfrm>
            <a:off x="2493007" y="5084127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כותרת משנה 2">
            <a:extLst>
              <a:ext uri="{FF2B5EF4-FFF2-40B4-BE49-F238E27FC236}">
                <a16:creationId xmlns:a16="http://schemas.microsoft.com/office/drawing/2014/main" id="{66609550-2D25-C378-B847-87B21EC671F0}"/>
              </a:ext>
            </a:extLst>
          </p:cNvPr>
          <p:cNvSpPr txBox="1">
            <a:spLocks/>
          </p:cNvSpPr>
          <p:nvPr/>
        </p:nvSpPr>
        <p:spPr>
          <a:xfrm rot="18092574">
            <a:off x="-519570" y="1560483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קטגוריה תפעולית</a:t>
            </a:r>
          </a:p>
        </p:txBody>
      </p:sp>
      <p:sp>
        <p:nvSpPr>
          <p:cNvPr id="23" name="כותרת משנה 2">
            <a:extLst>
              <a:ext uri="{FF2B5EF4-FFF2-40B4-BE49-F238E27FC236}">
                <a16:creationId xmlns:a16="http://schemas.microsoft.com/office/drawing/2014/main" id="{BBD5AAC0-D790-D1D8-693B-69CA73EB0D2F}"/>
              </a:ext>
            </a:extLst>
          </p:cNvPr>
          <p:cNvSpPr txBox="1">
            <a:spLocks/>
          </p:cNvSpPr>
          <p:nvPr/>
        </p:nvSpPr>
        <p:spPr>
          <a:xfrm>
            <a:off x="6065724" y="3275420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השקעה</a:t>
            </a:r>
          </a:p>
        </p:txBody>
      </p:sp>
      <p:sp>
        <p:nvSpPr>
          <p:cNvPr id="24" name="כותרת משנה 2">
            <a:extLst>
              <a:ext uri="{FF2B5EF4-FFF2-40B4-BE49-F238E27FC236}">
                <a16:creationId xmlns:a16="http://schemas.microsoft.com/office/drawing/2014/main" id="{0BA2011C-9606-8BEE-9888-69856A6F270F}"/>
              </a:ext>
            </a:extLst>
          </p:cNvPr>
          <p:cNvSpPr txBox="1">
            <a:spLocks/>
          </p:cNvSpPr>
          <p:nvPr/>
        </p:nvSpPr>
        <p:spPr>
          <a:xfrm>
            <a:off x="6065723" y="4068971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מימון</a:t>
            </a:r>
          </a:p>
        </p:txBody>
      </p:sp>
      <p:sp>
        <p:nvSpPr>
          <p:cNvPr id="25" name="כותרת משנה 2">
            <a:extLst>
              <a:ext uri="{FF2B5EF4-FFF2-40B4-BE49-F238E27FC236}">
                <a16:creationId xmlns:a16="http://schemas.microsoft.com/office/drawing/2014/main" id="{D7778E10-562A-BA67-10BC-EECDA94B2D1C}"/>
              </a:ext>
            </a:extLst>
          </p:cNvPr>
          <p:cNvSpPr txBox="1">
            <a:spLocks/>
          </p:cNvSpPr>
          <p:nvPr/>
        </p:nvSpPr>
        <p:spPr>
          <a:xfrm>
            <a:off x="6065722" y="4881278"/>
            <a:ext cx="2287581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0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קטגוריית מס</a:t>
            </a:r>
          </a:p>
        </p:txBody>
      </p:sp>
      <p:sp>
        <p:nvSpPr>
          <p:cNvPr id="26" name="הסבר: קו מכופף 3">
            <a:extLst>
              <a:ext uri="{FF2B5EF4-FFF2-40B4-BE49-F238E27FC236}">
                <a16:creationId xmlns:a16="http://schemas.microsoft.com/office/drawing/2014/main" id="{33D95236-33B7-A037-D114-2B3BDF665EE6}"/>
              </a:ext>
            </a:extLst>
          </p:cNvPr>
          <p:cNvSpPr/>
          <p:nvPr/>
        </p:nvSpPr>
        <p:spPr>
          <a:xfrm rot="10800000">
            <a:off x="2547224" y="5022939"/>
            <a:ext cx="3217037" cy="461725"/>
          </a:xfrm>
          <a:prstGeom prst="borderCallout2">
            <a:avLst>
              <a:gd name="adj1" fmla="val 54442"/>
              <a:gd name="adj2" fmla="val -146"/>
              <a:gd name="adj3" fmla="val -69404"/>
              <a:gd name="adj4" fmla="val -4059"/>
              <a:gd name="adj5" fmla="val -72179"/>
              <a:gd name="adj6" fmla="val -13723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בועת דיבור: מלבן עם פינות מעוגלות 7">
            <a:extLst>
              <a:ext uri="{FF2B5EF4-FFF2-40B4-BE49-F238E27FC236}">
                <a16:creationId xmlns:a16="http://schemas.microsoft.com/office/drawing/2014/main" id="{BAA8EF2C-2DAA-A78C-541F-2E16066771E1}"/>
              </a:ext>
            </a:extLst>
          </p:cNvPr>
          <p:cNvSpPr/>
          <p:nvPr/>
        </p:nvSpPr>
        <p:spPr>
          <a:xfrm>
            <a:off x="8817520" y="3857700"/>
            <a:ext cx="2712405" cy="1647533"/>
          </a:xfrm>
          <a:prstGeom prst="wedgeRoundRectCallout">
            <a:avLst>
              <a:gd name="adj1" fmla="val 110"/>
              <a:gd name="adj2" fmla="val 69195"/>
              <a:gd name="adj3" fmla="val 16667"/>
            </a:avLst>
          </a:prstGeom>
          <a:noFill/>
          <a:ln w="285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כותרת משנה 2">
            <a:extLst>
              <a:ext uri="{FF2B5EF4-FFF2-40B4-BE49-F238E27FC236}">
                <a16:creationId xmlns:a16="http://schemas.microsoft.com/office/drawing/2014/main" id="{DC4E3138-D3A6-BA27-9490-7DF0FF05234B}"/>
              </a:ext>
            </a:extLst>
          </p:cNvPr>
          <p:cNvSpPr txBox="1">
            <a:spLocks/>
          </p:cNvSpPr>
          <p:nvPr/>
        </p:nvSpPr>
        <p:spPr>
          <a:xfrm>
            <a:off x="8749295" y="3852105"/>
            <a:ext cx="2599713" cy="40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שורת הרווח הנקי מייצגת את יתרת הרווח שנותר לבעלים (אותו רווח שיגדיל או יקטין את העודפים)</a:t>
            </a:r>
          </a:p>
        </p:txBody>
      </p:sp>
    </p:spTree>
    <p:extLst>
      <p:ext uri="{BB962C8B-B14F-4D97-AF65-F5344CB8AC3E}">
        <p14:creationId xmlns:p14="http://schemas.microsoft.com/office/powerpoint/2010/main" val="333424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08846-FCC9-123B-BC03-A9FFDC6C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963C790A-E4CF-6A73-53C4-DA0DE5A6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780EE97-A63F-67B0-3CDF-D72D5CFFA2AF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הדוח על הרווח או ההפסד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33BF7E2-FBA5-54BC-EEB0-01BAC05DD965}"/>
              </a:ext>
            </a:extLst>
          </p:cNvPr>
          <p:cNvSpPr txBox="1">
            <a:spLocks/>
          </p:cNvSpPr>
          <p:nvPr/>
        </p:nvSpPr>
        <p:spPr>
          <a:xfrm>
            <a:off x="5651770" y="1380018"/>
            <a:ext cx="5844905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הצגת הקטגוריה התפעולית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</p:txBody>
      </p:sp>
      <p:graphicFrame>
        <p:nvGraphicFramePr>
          <p:cNvPr id="4" name="טבלה 5">
            <a:extLst>
              <a:ext uri="{FF2B5EF4-FFF2-40B4-BE49-F238E27FC236}">
                <a16:creationId xmlns:a16="http://schemas.microsoft.com/office/drawing/2014/main" id="{0614CADC-38CB-A044-F740-D25E31BF83A5}"/>
              </a:ext>
            </a:extLst>
          </p:cNvPr>
          <p:cNvGraphicFramePr>
            <a:graphicFrameLocks noGrp="1"/>
          </p:cNvGraphicFramePr>
          <p:nvPr/>
        </p:nvGraphicFramePr>
        <p:xfrm>
          <a:off x="7452570" y="2611707"/>
          <a:ext cx="4044103" cy="262584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12486">
                  <a:extLst>
                    <a:ext uri="{9D8B030D-6E8A-4147-A177-3AD203B41FA5}">
                      <a16:colId xmlns:a16="http://schemas.microsoft.com/office/drawing/2014/main" val="3331422628"/>
                    </a:ext>
                  </a:extLst>
                </a:gridCol>
                <a:gridCol w="1131617">
                  <a:extLst>
                    <a:ext uri="{9D8B030D-6E8A-4147-A177-3AD203B41FA5}">
                      <a16:colId xmlns:a16="http://schemas.microsoft.com/office/drawing/2014/main" val="2416818779"/>
                    </a:ext>
                  </a:extLst>
                </a:gridCol>
              </a:tblGrid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ממכירות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12254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עלות המכר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(XXX)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769079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גולמי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39686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הנהלה וכלליות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0945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מכירה ושיווק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756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הוצאות/הכנסות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)/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5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תפעולי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92057"/>
                  </a:ext>
                </a:extLst>
              </a:tr>
            </a:tbl>
          </a:graphicData>
        </a:graphic>
      </p:graphicFrame>
      <p:cxnSp>
        <p:nvCxnSpPr>
          <p:cNvPr id="5" name="מחבר ישר 23">
            <a:extLst>
              <a:ext uri="{FF2B5EF4-FFF2-40B4-BE49-F238E27FC236}">
                <a16:creationId xmlns:a16="http://schemas.microsoft.com/office/drawing/2014/main" id="{1F4116B0-F62A-43A4-3D1A-BDC9E3E85953}"/>
              </a:ext>
            </a:extLst>
          </p:cNvPr>
          <p:cNvCxnSpPr>
            <a:cxnSpLocks/>
          </p:cNvCxnSpPr>
          <p:nvPr/>
        </p:nvCxnSpPr>
        <p:spPr>
          <a:xfrm>
            <a:off x="8691762" y="3358919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מחבר ישר 24">
            <a:extLst>
              <a:ext uri="{FF2B5EF4-FFF2-40B4-BE49-F238E27FC236}">
                <a16:creationId xmlns:a16="http://schemas.microsoft.com/office/drawing/2014/main" id="{504460E9-39BA-9000-63E3-3D3B1751072E}"/>
              </a:ext>
            </a:extLst>
          </p:cNvPr>
          <p:cNvCxnSpPr>
            <a:cxnSpLocks/>
          </p:cNvCxnSpPr>
          <p:nvPr/>
        </p:nvCxnSpPr>
        <p:spPr>
          <a:xfrm>
            <a:off x="7949164" y="3358919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מחבר ישר 25">
            <a:extLst>
              <a:ext uri="{FF2B5EF4-FFF2-40B4-BE49-F238E27FC236}">
                <a16:creationId xmlns:a16="http://schemas.microsoft.com/office/drawing/2014/main" id="{582A1A57-AA31-7DD0-DDB4-C0610FFC97DA}"/>
              </a:ext>
            </a:extLst>
          </p:cNvPr>
          <p:cNvCxnSpPr>
            <a:cxnSpLocks/>
          </p:cNvCxnSpPr>
          <p:nvPr/>
        </p:nvCxnSpPr>
        <p:spPr>
          <a:xfrm>
            <a:off x="8691761" y="4857981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מחבר ישר 27">
            <a:extLst>
              <a:ext uri="{FF2B5EF4-FFF2-40B4-BE49-F238E27FC236}">
                <a16:creationId xmlns:a16="http://schemas.microsoft.com/office/drawing/2014/main" id="{2ADAE043-2ECB-739E-C6DB-5CE1321C8124}"/>
              </a:ext>
            </a:extLst>
          </p:cNvPr>
          <p:cNvCxnSpPr>
            <a:cxnSpLocks/>
          </p:cNvCxnSpPr>
          <p:nvPr/>
        </p:nvCxnSpPr>
        <p:spPr>
          <a:xfrm>
            <a:off x="7949163" y="4857981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טבלה 1">
            <a:extLst>
              <a:ext uri="{FF2B5EF4-FFF2-40B4-BE49-F238E27FC236}">
                <a16:creationId xmlns:a16="http://schemas.microsoft.com/office/drawing/2014/main" id="{DCEFD855-1703-3328-4E7D-6AE6FFE40A7B}"/>
              </a:ext>
            </a:extLst>
          </p:cNvPr>
          <p:cNvGraphicFramePr>
            <a:graphicFrameLocks noGrp="1"/>
          </p:cNvGraphicFramePr>
          <p:nvPr/>
        </p:nvGraphicFramePr>
        <p:xfrm>
          <a:off x="1240503" y="2611707"/>
          <a:ext cx="4044103" cy="262584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12486">
                  <a:extLst>
                    <a:ext uri="{9D8B030D-6E8A-4147-A177-3AD203B41FA5}">
                      <a16:colId xmlns:a16="http://schemas.microsoft.com/office/drawing/2014/main" val="3331422628"/>
                    </a:ext>
                  </a:extLst>
                </a:gridCol>
                <a:gridCol w="1131617">
                  <a:extLst>
                    <a:ext uri="{9D8B030D-6E8A-4147-A177-3AD203B41FA5}">
                      <a16:colId xmlns:a16="http://schemas.microsoft.com/office/drawing/2014/main" val="2416818779"/>
                    </a:ext>
                  </a:extLst>
                </a:gridCol>
              </a:tblGrid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ממכירות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XXX 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12254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הכנסות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769079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שינויים במלאי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(XXX)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39686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שכר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0945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פחת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756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הוצאות אחרות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r>
                        <a:rPr lang="he-IL" sz="16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541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 רווח (הפסד) תפעולי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XX</a:t>
                      </a:r>
                      <a:endParaRPr lang="he-IL" sz="1600" b="1" dirty="0">
                        <a:solidFill>
                          <a:schemeClr val="tx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92057"/>
                  </a:ext>
                </a:extLst>
              </a:tr>
            </a:tbl>
          </a:graphicData>
        </a:graphic>
      </p:graphicFrame>
      <p:cxnSp>
        <p:nvCxnSpPr>
          <p:cNvPr id="10" name="מחבר ישר 3">
            <a:extLst>
              <a:ext uri="{FF2B5EF4-FFF2-40B4-BE49-F238E27FC236}">
                <a16:creationId xmlns:a16="http://schemas.microsoft.com/office/drawing/2014/main" id="{934F36E6-4FF4-DBB9-C918-6B4E250486DA}"/>
              </a:ext>
            </a:extLst>
          </p:cNvPr>
          <p:cNvCxnSpPr>
            <a:cxnSpLocks/>
          </p:cNvCxnSpPr>
          <p:nvPr/>
        </p:nvCxnSpPr>
        <p:spPr>
          <a:xfrm>
            <a:off x="2477855" y="4857981"/>
            <a:ext cx="27427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מחבר ישר 7">
            <a:extLst>
              <a:ext uri="{FF2B5EF4-FFF2-40B4-BE49-F238E27FC236}">
                <a16:creationId xmlns:a16="http://schemas.microsoft.com/office/drawing/2014/main" id="{344116F7-7D5C-A026-FB03-2DE8FB2B1457}"/>
              </a:ext>
            </a:extLst>
          </p:cNvPr>
          <p:cNvCxnSpPr>
            <a:cxnSpLocks/>
          </p:cNvCxnSpPr>
          <p:nvPr/>
        </p:nvCxnSpPr>
        <p:spPr>
          <a:xfrm>
            <a:off x="1735257" y="4857981"/>
            <a:ext cx="584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4C601562-9611-3953-071C-7D7027BF075F}"/>
              </a:ext>
            </a:extLst>
          </p:cNvPr>
          <p:cNvSpPr txBox="1">
            <a:spLocks/>
          </p:cNvSpPr>
          <p:nvPr/>
        </p:nvSpPr>
        <p:spPr>
          <a:xfrm>
            <a:off x="6658495" y="2066169"/>
            <a:ext cx="4838180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1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לפי מאפיין הפעילות:</a:t>
            </a:r>
            <a:endParaRPr lang="he-IL" sz="1800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43FC579C-67A7-01C4-49AA-827C40C24BEA}"/>
              </a:ext>
            </a:extLst>
          </p:cNvPr>
          <p:cNvSpPr txBox="1">
            <a:spLocks/>
          </p:cNvSpPr>
          <p:nvPr/>
        </p:nvSpPr>
        <p:spPr>
          <a:xfrm>
            <a:off x="465996" y="2046509"/>
            <a:ext cx="4838180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1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לפי מהות ההוצאה:</a:t>
            </a:r>
            <a:endParaRPr lang="he-IL" sz="1800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3D4F7A59-8BBE-A41F-7701-2E8F840A6A6A}"/>
              </a:ext>
            </a:extLst>
          </p:cNvPr>
          <p:cNvSpPr txBox="1">
            <a:spLocks/>
          </p:cNvSpPr>
          <p:nvPr/>
        </p:nvSpPr>
        <p:spPr>
          <a:xfrm>
            <a:off x="591437" y="5570797"/>
            <a:ext cx="10881533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1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*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IFRS 18</a:t>
            </a:r>
            <a:r>
              <a:rPr lang="he-IL" sz="1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מאפשר גם הצגה מעורבת בין שתי השיטות, אנו בקורס ננקוט בשיטת מאפיין הפעילות.</a:t>
            </a:r>
          </a:p>
        </p:txBody>
      </p:sp>
    </p:spTree>
    <p:extLst>
      <p:ext uri="{BB962C8B-B14F-4D97-AF65-F5344CB8AC3E}">
        <p14:creationId xmlns:p14="http://schemas.microsoft.com/office/powerpoint/2010/main" val="676976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C6A2-A405-1FB7-1F2B-FB984FBB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030B7F83-CAD6-5A09-8E8C-0BADFEF0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11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C355F95-155C-FD56-9A51-F185A7A53895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דוח רווח או הפסד – סימנים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1A295B04-3839-0D8B-D03D-12681F37A6F0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רכיבי הדוחות הכספיים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9F5906A6-B9B5-CA53-EE68-D424FC2DEBCD}"/>
              </a:ext>
            </a:extLst>
          </p:cNvPr>
          <p:cNvSpPr txBox="1">
            <a:spLocks/>
          </p:cNvSpPr>
          <p:nvPr/>
        </p:nvSpPr>
        <p:spPr>
          <a:xfrm>
            <a:off x="9932276" y="1601341"/>
            <a:ext cx="1560478" cy="1772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הכנסות מייצגות גידול בעודפים </a:t>
            </a:r>
          </a:p>
        </p:txBody>
      </p:sp>
      <p:pic>
        <p:nvPicPr>
          <p:cNvPr id="5" name="תמונה 10">
            <a:extLst>
              <a:ext uri="{FF2B5EF4-FFF2-40B4-BE49-F238E27FC236}">
                <a16:creationId xmlns:a16="http://schemas.microsoft.com/office/drawing/2014/main" id="{FD7F0939-0205-B91E-F629-0BEB99B62D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227107" y="2017207"/>
            <a:ext cx="747917" cy="759683"/>
          </a:xfrm>
          <a:prstGeom prst="rect">
            <a:avLst/>
          </a:prstGeom>
        </p:spPr>
      </p:pic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D7956C6A-C6A1-9027-9B43-60CEBDC2CD29}"/>
              </a:ext>
            </a:extLst>
          </p:cNvPr>
          <p:cNvSpPr txBox="1">
            <a:spLocks/>
          </p:cNvSpPr>
          <p:nvPr/>
        </p:nvSpPr>
        <p:spPr>
          <a:xfrm>
            <a:off x="7578389" y="1711815"/>
            <a:ext cx="1560478" cy="1370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גידול בהון העצמי</a:t>
            </a:r>
          </a:p>
        </p:txBody>
      </p:sp>
      <p:sp>
        <p:nvSpPr>
          <p:cNvPr id="7" name="כותרת משנה 2">
            <a:extLst>
              <a:ext uri="{FF2B5EF4-FFF2-40B4-BE49-F238E27FC236}">
                <a16:creationId xmlns:a16="http://schemas.microsoft.com/office/drawing/2014/main" id="{A8D071EB-A8D0-A263-7BD4-40A8029408AD}"/>
              </a:ext>
            </a:extLst>
          </p:cNvPr>
          <p:cNvSpPr txBox="1">
            <a:spLocks/>
          </p:cNvSpPr>
          <p:nvPr/>
        </p:nvSpPr>
        <p:spPr>
          <a:xfrm>
            <a:off x="5220584" y="1670237"/>
            <a:ext cx="1560478" cy="1772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החברה "חייבת" יותר לבעלים</a:t>
            </a:r>
          </a:p>
        </p:txBody>
      </p:sp>
      <p:pic>
        <p:nvPicPr>
          <p:cNvPr id="8" name="תמונה 13">
            <a:extLst>
              <a:ext uri="{FF2B5EF4-FFF2-40B4-BE49-F238E27FC236}">
                <a16:creationId xmlns:a16="http://schemas.microsoft.com/office/drawing/2014/main" id="{F3DEDD06-CE6F-A630-24E8-220918D65B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027389" y="2021410"/>
            <a:ext cx="747917" cy="759683"/>
          </a:xfrm>
          <a:prstGeom prst="rect">
            <a:avLst/>
          </a:prstGeom>
        </p:spPr>
      </p:pic>
      <p:pic>
        <p:nvPicPr>
          <p:cNvPr id="9" name="תמונה 14">
            <a:extLst>
              <a:ext uri="{FF2B5EF4-FFF2-40B4-BE49-F238E27FC236}">
                <a16:creationId xmlns:a16="http://schemas.microsoft.com/office/drawing/2014/main" id="{807BA762-8AF9-5ABF-78A0-22F2BB533E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4384427" y="2021882"/>
            <a:ext cx="747917" cy="759683"/>
          </a:xfrm>
          <a:prstGeom prst="rect">
            <a:avLst/>
          </a:prstGeom>
        </p:spPr>
      </p:pic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18A603B0-71A3-6B9F-21EB-26787CEF6AF4}"/>
              </a:ext>
            </a:extLst>
          </p:cNvPr>
          <p:cNvSpPr txBox="1">
            <a:spLocks/>
          </p:cNvSpPr>
          <p:nvPr/>
        </p:nvSpPr>
        <p:spPr>
          <a:xfrm>
            <a:off x="2462540" y="1508296"/>
            <a:ext cx="1560478" cy="1772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הכנסות נרשמות בזכות</a:t>
            </a:r>
          </a:p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(במינוס)</a:t>
            </a:r>
          </a:p>
        </p:txBody>
      </p:sp>
      <p:sp>
        <p:nvSpPr>
          <p:cNvPr id="11" name="מלבן: פינות מעוגלות 18">
            <a:extLst>
              <a:ext uri="{FF2B5EF4-FFF2-40B4-BE49-F238E27FC236}">
                <a16:creationId xmlns:a16="http://schemas.microsoft.com/office/drawing/2014/main" id="{D5EE722A-9DBA-3355-059A-198E1FD5216F}"/>
              </a:ext>
            </a:extLst>
          </p:cNvPr>
          <p:cNvSpPr/>
          <p:nvPr/>
        </p:nvSpPr>
        <p:spPr>
          <a:xfrm>
            <a:off x="2516355" y="1449732"/>
            <a:ext cx="1621745" cy="2102772"/>
          </a:xfrm>
          <a:prstGeom prst="roundRect">
            <a:avLst>
              <a:gd name="adj" fmla="val 14075"/>
            </a:avLst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A5F823F1-7E4F-0941-0CFB-F2E5F5C47017}"/>
              </a:ext>
            </a:extLst>
          </p:cNvPr>
          <p:cNvSpPr txBox="1">
            <a:spLocks/>
          </p:cNvSpPr>
          <p:nvPr/>
        </p:nvSpPr>
        <p:spPr>
          <a:xfrm>
            <a:off x="9936197" y="4003572"/>
            <a:ext cx="1560478" cy="1772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הוצאות מייצגות קיטון בעודפים </a:t>
            </a:r>
          </a:p>
        </p:txBody>
      </p:sp>
      <p:pic>
        <p:nvPicPr>
          <p:cNvPr id="13" name="תמונה 20">
            <a:extLst>
              <a:ext uri="{FF2B5EF4-FFF2-40B4-BE49-F238E27FC236}">
                <a16:creationId xmlns:a16="http://schemas.microsoft.com/office/drawing/2014/main" id="{3C76EAD0-F7A5-E543-4E22-837FF1899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9231028" y="4419438"/>
            <a:ext cx="747917" cy="759683"/>
          </a:xfrm>
          <a:prstGeom prst="rect">
            <a:avLst/>
          </a:prstGeom>
        </p:spPr>
      </p:pic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4BCF6935-24F3-EA10-653E-4D6B193CB6D6}"/>
              </a:ext>
            </a:extLst>
          </p:cNvPr>
          <p:cNvSpPr txBox="1">
            <a:spLocks/>
          </p:cNvSpPr>
          <p:nvPr/>
        </p:nvSpPr>
        <p:spPr>
          <a:xfrm>
            <a:off x="7582310" y="4114046"/>
            <a:ext cx="1560478" cy="1370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קיטון בהון העצמי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43AF3CCB-3267-74AA-1F00-47B7449D5F7C}"/>
              </a:ext>
            </a:extLst>
          </p:cNvPr>
          <p:cNvSpPr txBox="1">
            <a:spLocks/>
          </p:cNvSpPr>
          <p:nvPr/>
        </p:nvSpPr>
        <p:spPr>
          <a:xfrm>
            <a:off x="5224505" y="4072468"/>
            <a:ext cx="1560478" cy="1772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החברה "חייבת" פחות לבעלים</a:t>
            </a:r>
          </a:p>
        </p:txBody>
      </p:sp>
      <p:pic>
        <p:nvPicPr>
          <p:cNvPr id="16" name="תמונה 23">
            <a:extLst>
              <a:ext uri="{FF2B5EF4-FFF2-40B4-BE49-F238E27FC236}">
                <a16:creationId xmlns:a16="http://schemas.microsoft.com/office/drawing/2014/main" id="{458C1625-5A79-7E63-B3D3-7CBECA50AE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7031310" y="4423641"/>
            <a:ext cx="747917" cy="759683"/>
          </a:xfrm>
          <a:prstGeom prst="rect">
            <a:avLst/>
          </a:prstGeom>
        </p:spPr>
      </p:pic>
      <p:pic>
        <p:nvPicPr>
          <p:cNvPr id="17" name="תמונה 24">
            <a:extLst>
              <a:ext uri="{FF2B5EF4-FFF2-40B4-BE49-F238E27FC236}">
                <a16:creationId xmlns:a16="http://schemas.microsoft.com/office/drawing/2014/main" id="{CB7BF785-A703-5FBB-D825-17C1B32553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0" t="2728" r="5737" b="68730"/>
          <a:stretch/>
        </p:blipFill>
        <p:spPr>
          <a:xfrm rot="5400000">
            <a:off x="4388348" y="4424113"/>
            <a:ext cx="747917" cy="759683"/>
          </a:xfrm>
          <a:prstGeom prst="rect">
            <a:avLst/>
          </a:prstGeom>
        </p:spPr>
      </p:pic>
      <p:sp>
        <p:nvSpPr>
          <p:cNvPr id="19" name="כותרת משנה 2">
            <a:extLst>
              <a:ext uri="{FF2B5EF4-FFF2-40B4-BE49-F238E27FC236}">
                <a16:creationId xmlns:a16="http://schemas.microsoft.com/office/drawing/2014/main" id="{D766FB1C-59C1-D08A-AA32-4C0204624A8C}"/>
              </a:ext>
            </a:extLst>
          </p:cNvPr>
          <p:cNvSpPr txBox="1">
            <a:spLocks/>
          </p:cNvSpPr>
          <p:nvPr/>
        </p:nvSpPr>
        <p:spPr>
          <a:xfrm>
            <a:off x="2466461" y="3910527"/>
            <a:ext cx="1560478" cy="1772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הוצאות נרשמות בחובה</a:t>
            </a:r>
          </a:p>
          <a:p>
            <a:pPr algn="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(בפלוס)</a:t>
            </a:r>
          </a:p>
        </p:txBody>
      </p:sp>
      <p:sp>
        <p:nvSpPr>
          <p:cNvPr id="20" name="מלבן: פינות מעוגלות 27">
            <a:extLst>
              <a:ext uri="{FF2B5EF4-FFF2-40B4-BE49-F238E27FC236}">
                <a16:creationId xmlns:a16="http://schemas.microsoft.com/office/drawing/2014/main" id="{003F9926-37D2-6131-016A-E712DFA31F36}"/>
              </a:ext>
            </a:extLst>
          </p:cNvPr>
          <p:cNvSpPr/>
          <p:nvPr/>
        </p:nvSpPr>
        <p:spPr>
          <a:xfrm>
            <a:off x="2520276" y="3851963"/>
            <a:ext cx="1621745" cy="2102772"/>
          </a:xfrm>
          <a:prstGeom prst="roundRect">
            <a:avLst>
              <a:gd name="adj" fmla="val 14075"/>
            </a:avLst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1" name="תמונה 28">
            <a:extLst>
              <a:ext uri="{FF2B5EF4-FFF2-40B4-BE49-F238E27FC236}">
                <a16:creationId xmlns:a16="http://schemas.microsoft.com/office/drawing/2014/main" id="{6E171BC3-F88D-3027-E68D-A36F7B1AFE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9562" b="45480"/>
          <a:stretch/>
        </p:blipFill>
        <p:spPr>
          <a:xfrm>
            <a:off x="1534067" y="4447784"/>
            <a:ext cx="846116" cy="914586"/>
          </a:xfrm>
          <a:prstGeom prst="rect">
            <a:avLst/>
          </a:prstGeom>
        </p:spPr>
      </p:pic>
      <p:pic>
        <p:nvPicPr>
          <p:cNvPr id="22" name="תמונה 30">
            <a:extLst>
              <a:ext uri="{FF2B5EF4-FFF2-40B4-BE49-F238E27FC236}">
                <a16:creationId xmlns:a16="http://schemas.microsoft.com/office/drawing/2014/main" id="{1C9DFF36-E9B3-503A-655A-38580FA37CD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52" b="52701"/>
          <a:stretch/>
        </p:blipFill>
        <p:spPr>
          <a:xfrm>
            <a:off x="1412781" y="1980572"/>
            <a:ext cx="967402" cy="88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09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5C12-B7D7-642E-F9DF-B13F54B1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D475FDB8-9CCE-9060-1DD7-9711058B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BDA26DA-BC40-150B-04FD-CFBC606580C6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עקרון מרכזי – בסיס צבירה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14FD9146-3988-ECA5-3CF1-604B4D9E4203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בסיס צבירה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403D09A4-D45E-8D07-2434-CF9B068AB8C4}"/>
              </a:ext>
            </a:extLst>
          </p:cNvPr>
          <p:cNvSpPr txBox="1">
            <a:spLocks/>
          </p:cNvSpPr>
          <p:nvPr/>
        </p:nvSpPr>
        <p:spPr>
          <a:xfrm>
            <a:off x="2090056" y="1715099"/>
            <a:ext cx="2711263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יציאה של משאבים</a:t>
            </a:r>
          </a:p>
          <a:p>
            <a:pPr algn="ctr"/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יכולה להירשם כנגד:</a:t>
            </a:r>
            <a:endParaRPr lang="he-IL" sz="1800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6EF4C2D7-C0B3-CD01-C568-EA3EDAC576F4}"/>
              </a:ext>
            </a:extLst>
          </p:cNvPr>
          <p:cNvSpPr txBox="1">
            <a:spLocks/>
          </p:cNvSpPr>
          <p:nvPr/>
        </p:nvSpPr>
        <p:spPr>
          <a:xfrm>
            <a:off x="7390682" y="1715099"/>
            <a:ext cx="2711263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כניסה של משאבים</a:t>
            </a:r>
          </a:p>
          <a:p>
            <a:pPr algn="ctr"/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יכולה להירשם כנגד:</a:t>
            </a:r>
            <a:endParaRPr lang="he-IL" sz="1800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גרפיקה 2" descr="חץ: עקומה נגד כיוון השעון">
            <a:extLst>
              <a:ext uri="{FF2B5EF4-FFF2-40B4-BE49-F238E27FC236}">
                <a16:creationId xmlns:a16="http://schemas.microsoft.com/office/drawing/2014/main" id="{381E9865-AFA8-88A2-FFB9-30B30BAA7E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275231" y="3122767"/>
            <a:ext cx="914400" cy="914400"/>
          </a:xfrm>
          <a:prstGeom prst="rect">
            <a:avLst/>
          </a:prstGeom>
        </p:spPr>
      </p:pic>
      <p:pic>
        <p:nvPicPr>
          <p:cNvPr id="7" name="גרפיקה 4" descr="חץ: ישר">
            <a:extLst>
              <a:ext uri="{FF2B5EF4-FFF2-40B4-BE49-F238E27FC236}">
                <a16:creationId xmlns:a16="http://schemas.microsoft.com/office/drawing/2014/main" id="{BF33AE87-035E-E42C-61E8-35D204035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289113" y="3279710"/>
            <a:ext cx="914400" cy="914400"/>
          </a:xfrm>
          <a:prstGeom prst="rect">
            <a:avLst/>
          </a:prstGeom>
        </p:spPr>
      </p:pic>
      <p:pic>
        <p:nvPicPr>
          <p:cNvPr id="8" name="גרפיקה 18" descr="חץ: עקומה נגד כיוון השעון">
            <a:extLst>
              <a:ext uri="{FF2B5EF4-FFF2-40B4-BE49-F238E27FC236}">
                <a16:creationId xmlns:a16="http://schemas.microsoft.com/office/drawing/2014/main" id="{73C9D1B5-6DAD-C4B0-E3EA-728546CB6F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7302994" y="3154353"/>
            <a:ext cx="914401" cy="914400"/>
          </a:xfrm>
          <a:prstGeom prst="rect">
            <a:avLst/>
          </a:prstGeom>
        </p:spPr>
      </p:pic>
      <p:pic>
        <p:nvPicPr>
          <p:cNvPr id="9" name="גרפיקה 19" descr="חץ: עקומה נגד כיוון השעון">
            <a:extLst>
              <a:ext uri="{FF2B5EF4-FFF2-40B4-BE49-F238E27FC236}">
                <a16:creationId xmlns:a16="http://schemas.microsoft.com/office/drawing/2014/main" id="{DC2235F5-8DA7-9818-239E-2A24AE018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974605" y="3162445"/>
            <a:ext cx="914400" cy="914400"/>
          </a:xfrm>
          <a:prstGeom prst="rect">
            <a:avLst/>
          </a:prstGeom>
        </p:spPr>
      </p:pic>
      <p:pic>
        <p:nvPicPr>
          <p:cNvPr id="10" name="גרפיקה 20" descr="חץ: ישר">
            <a:extLst>
              <a:ext uri="{FF2B5EF4-FFF2-40B4-BE49-F238E27FC236}">
                <a16:creationId xmlns:a16="http://schemas.microsoft.com/office/drawing/2014/main" id="{696DAB6A-B43F-CFD2-87B1-BF84EBE24B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988487" y="3319388"/>
            <a:ext cx="914400" cy="914400"/>
          </a:xfrm>
          <a:prstGeom prst="rect">
            <a:avLst/>
          </a:prstGeom>
        </p:spPr>
      </p:pic>
      <p:pic>
        <p:nvPicPr>
          <p:cNvPr id="11" name="גרפיקה 21" descr="חץ: עקומה נגד כיוון השעון">
            <a:extLst>
              <a:ext uri="{FF2B5EF4-FFF2-40B4-BE49-F238E27FC236}">
                <a16:creationId xmlns:a16="http://schemas.microsoft.com/office/drawing/2014/main" id="{AB79EB68-4E58-D883-B8E2-286C820DD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2002368" y="3194031"/>
            <a:ext cx="914401" cy="914400"/>
          </a:xfrm>
          <a:prstGeom prst="rect">
            <a:avLst/>
          </a:prstGeom>
        </p:spPr>
      </p:pic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1EAC46D8-61C7-C166-7BDC-32A0256324D8}"/>
              </a:ext>
            </a:extLst>
          </p:cNvPr>
          <p:cNvSpPr txBox="1">
            <a:spLocks/>
          </p:cNvSpPr>
          <p:nvPr/>
        </p:nvSpPr>
        <p:spPr>
          <a:xfrm>
            <a:off x="9646706" y="3899175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הכרה בהכנסה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CA5278CC-0CD6-8BB4-6665-CFDE224632D9}"/>
              </a:ext>
            </a:extLst>
          </p:cNvPr>
          <p:cNvSpPr txBox="1">
            <a:spLocks/>
          </p:cNvSpPr>
          <p:nvPr/>
        </p:nvSpPr>
        <p:spPr>
          <a:xfrm>
            <a:off x="6494187" y="3923695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קיטון של נכס אחר</a:t>
            </a:r>
          </a:p>
        </p:txBody>
      </p:sp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D608F0A4-F7D3-760C-F985-28FF51E2EEAE}"/>
              </a:ext>
            </a:extLst>
          </p:cNvPr>
          <p:cNvSpPr txBox="1">
            <a:spLocks/>
          </p:cNvSpPr>
          <p:nvPr/>
        </p:nvSpPr>
        <p:spPr>
          <a:xfrm>
            <a:off x="8094489" y="4241945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של התחייבות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0CD40E8A-C39D-F1FA-7E38-120699D5A62F}"/>
              </a:ext>
            </a:extLst>
          </p:cNvPr>
          <p:cNvSpPr txBox="1">
            <a:spLocks/>
          </p:cNvSpPr>
          <p:nvPr/>
        </p:nvSpPr>
        <p:spPr>
          <a:xfrm>
            <a:off x="4449094" y="3933221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של הוצאה</a:t>
            </a:r>
          </a:p>
        </p:txBody>
      </p:sp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35AE8D90-4AED-F655-3E06-B9B86E906AD6}"/>
              </a:ext>
            </a:extLst>
          </p:cNvPr>
          <p:cNvSpPr txBox="1">
            <a:spLocks/>
          </p:cNvSpPr>
          <p:nvPr/>
        </p:nvSpPr>
        <p:spPr>
          <a:xfrm>
            <a:off x="1155922" y="3933221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קיטון של התחייבות אחרת</a:t>
            </a:r>
          </a:p>
        </p:txBody>
      </p:sp>
      <p:sp>
        <p:nvSpPr>
          <p:cNvPr id="17" name="כותרת משנה 2">
            <a:extLst>
              <a:ext uri="{FF2B5EF4-FFF2-40B4-BE49-F238E27FC236}">
                <a16:creationId xmlns:a16="http://schemas.microsoft.com/office/drawing/2014/main" id="{F81E259B-B13A-5508-5D0C-7D03C0660B22}"/>
              </a:ext>
            </a:extLst>
          </p:cNvPr>
          <p:cNvSpPr txBox="1">
            <a:spLocks/>
          </p:cNvSpPr>
          <p:nvPr/>
        </p:nvSpPr>
        <p:spPr>
          <a:xfrm>
            <a:off x="2828781" y="4266466"/>
            <a:ext cx="1233810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הכרה בנכס</a:t>
            </a:r>
          </a:p>
        </p:txBody>
      </p:sp>
      <p:pic>
        <p:nvPicPr>
          <p:cNvPr id="19" name="תמונה 28">
            <a:extLst>
              <a:ext uri="{FF2B5EF4-FFF2-40B4-BE49-F238E27FC236}">
                <a16:creationId xmlns:a16="http://schemas.microsoft.com/office/drawing/2014/main" id="{6DE7897D-6B14-77DE-FEFE-928FBF2D1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19" y="209020"/>
            <a:ext cx="1556436" cy="155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1569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20153</TotalTime>
  <Words>1066</Words>
  <Application>Microsoft Macintosh PowerPoint</Application>
  <PresentationFormat>Widescreen</PresentationFormat>
  <Paragraphs>289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Segoe UI Light</vt:lpstr>
      <vt:lpstr>ערכת נושא Office</vt:lpstr>
      <vt:lpstr>יסודות החשבונאות 10280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מסים על ההכנסה</dc:title>
  <dc:creator>דימה פנטליס</dc:creator>
  <cp:lastModifiedBy>Dima Fantalis</cp:lastModifiedBy>
  <cp:revision>231</cp:revision>
  <dcterms:created xsi:type="dcterms:W3CDTF">2018-10-16T21:27:06Z</dcterms:created>
  <dcterms:modified xsi:type="dcterms:W3CDTF">2026-09-06T14:27:43Z</dcterms:modified>
</cp:coreProperties>
</file>