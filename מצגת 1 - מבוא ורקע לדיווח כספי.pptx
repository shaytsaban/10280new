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92" r:id="rId1"/>
  </p:sldMasterIdLst>
  <p:notesMasterIdLst>
    <p:notesMasterId r:id="rId28"/>
  </p:notesMasterIdLst>
  <p:sldIdLst>
    <p:sldId id="256" r:id="rId2"/>
    <p:sldId id="562" r:id="rId3"/>
    <p:sldId id="586" r:id="rId4"/>
    <p:sldId id="563" r:id="rId5"/>
    <p:sldId id="587" r:id="rId6"/>
    <p:sldId id="564" r:id="rId7"/>
    <p:sldId id="565" r:id="rId8"/>
    <p:sldId id="566" r:id="rId9"/>
    <p:sldId id="589" r:id="rId10"/>
    <p:sldId id="590" r:id="rId11"/>
    <p:sldId id="588" r:id="rId12"/>
    <p:sldId id="567" r:id="rId13"/>
    <p:sldId id="568" r:id="rId14"/>
    <p:sldId id="591" r:id="rId15"/>
    <p:sldId id="576" r:id="rId16"/>
    <p:sldId id="569" r:id="rId17"/>
    <p:sldId id="570" r:id="rId18"/>
    <p:sldId id="571" r:id="rId19"/>
    <p:sldId id="572" r:id="rId20"/>
    <p:sldId id="573" r:id="rId21"/>
    <p:sldId id="574" r:id="rId22"/>
    <p:sldId id="575" r:id="rId23"/>
    <p:sldId id="577" r:id="rId24"/>
    <p:sldId id="584" r:id="rId25"/>
    <p:sldId id="585" r:id="rId26"/>
    <p:sldId id="578" r:id="rId2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orient="horz" pos="3793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3915" autoAdjust="0"/>
  </p:normalViewPr>
  <p:slideViewPr>
    <p:cSldViewPr snapToGrid="0">
      <p:cViewPr varScale="1">
        <p:scale>
          <a:sx n="127" d="100"/>
          <a:sy n="127" d="100"/>
        </p:scale>
        <p:origin x="624" y="192"/>
      </p:cViewPr>
      <p:guideLst>
        <p:guide orient="horz" pos="482"/>
        <p:guide pos="7242"/>
        <p:guide pos="211"/>
        <p:guide orient="horz" pos="3793"/>
        <p:guide orient="horz" pos="4065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0F80C3D-4427-424E-9722-D57B80968263}" type="datetimeFigureOut">
              <a:rPr lang="he-IL" smtClean="0"/>
              <a:t>כ"ג.אלול.תשפ"ו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BBC12D-D2F2-4939-AC69-CA0ACD17177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84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61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DB8E-C278-72C1-FBF0-7237390F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60502-2F4E-85EF-3921-B7D6765CC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3EEBD-EF8E-6744-9A53-90D485024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23667-14C2-BE02-CED8-02BCA7B31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5779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685E-28A8-EA11-EFEE-D952A7CC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F8FB1-BF93-6425-7A6D-F3A2E7BD2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7C5CB-8B52-5E04-FE64-18E3D7C40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BEE0A-0FF0-C83E-94CC-CCCD7985D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37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7B90-29FD-ADEE-3C21-557E4E10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88992-C6EB-E07D-3890-AB96442A9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7B4C2-4A2C-5258-55C9-0CCE2133C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05DCC-D8DB-1CFC-B4E3-EDE4051EA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850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9509-6F6E-668F-F59F-C3EBBF7A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C2A9E-FB7A-9B9B-B097-107BFF95C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65F6D-B80C-FCD4-F7F1-9FBBB96B3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69D45-6972-1F95-03A6-8F1D6BE1B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5911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9D4F-13B5-FA54-59F2-080D32FA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E36BE-E287-49A7-E1B7-4ED837F89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D3AEA-538B-44E8-DD5B-8D9920D7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9034A-5750-5BE3-9F22-504485131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7435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87E5-27D9-4E47-0E19-0FD60B6E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4E0A1-6B33-18AB-0FD4-202C62F8F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B593F-312D-CBB5-7E12-2A8E5901D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9692C-B686-221E-E086-13F3A8D84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9889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EFCF-7CCF-731A-ADF7-382C8415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515E4-2198-8D79-B71F-A025B4AFF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BD678-1FC0-DB1B-DA3C-39A2033D7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3FCE-0183-AC83-D09E-A4038DD18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8925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CE0C-5658-2822-1D79-D289B1E4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744D1-74F0-3D9A-2AA7-A7261F9E6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DE178-60D0-6163-10FF-0C8011CF9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6E221-5283-A8F6-3380-8201E1649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4627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F0C2-F09A-B868-4AAF-C61C1A8E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7309F-8369-68DC-6A84-8E85970B6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56437-134A-41EB-55C2-368AE2392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A0C9B-6664-A283-20F6-2664CAD49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3311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D08F-70AE-F665-6DBC-048F8758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3EBE6-9308-7563-B900-BB2C8BF32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3A445-1D4F-7467-FE1B-DAAECBFF5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3798F-8B2B-5C3C-A7C0-884F8250F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9601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C292-C4BA-A84E-E8ED-9F85B892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E4448-E5E8-E980-3EAA-4BD8404A7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061E1-EB1B-0C82-4E90-10A842CDF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A5088-32F3-CD00-58CF-665BA3E4A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8992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37F5D-917F-93A9-D581-A541046F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D5E4B-053C-F124-D232-9435151B8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70388-C7F2-2802-0A63-38EC7A2A0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5DA64-3386-33A4-FB0B-A7AE2E69B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4017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1AB9-1A69-DED1-0316-F95AACFC5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DE588-CEB5-09F3-3267-FC0DA0D2A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C4530-D5AB-8343-0F87-70ECCD45B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6D45E-B25A-7AA9-00A2-8DB614A80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1812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A3FC-4E25-1B1D-3C76-4E9A2FDEB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F3CB1-D5A6-B18A-BBE2-C2F2C8C8E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C4E94-218A-85A0-EB6C-12C359B8E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08F26-24E7-990B-0C68-E3BDCB984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8145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C46D-E8FB-108A-A0D8-93AE4B2F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629E2-149D-43C8-1608-89F2F496B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CDC78-02FD-878E-EB08-40519B161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44E38-47D5-A97A-B5F7-742CCDAD5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4654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E4CE-2FE0-FBA2-9873-C06A5505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46BB1-07E3-00BB-DB91-A898C44CA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995EA-F332-ED97-D555-31FBC7B86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C67EE-51D6-34ED-9451-8A070CD0A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1477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785E-0174-58F1-6492-DD17B919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50E5A-2BCD-EDB1-347B-6F59987BC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632E5-C375-F43C-AFE7-F9A971E0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7B073-DEBF-3AF3-EF2C-E0096CA53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1417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0254-3CEF-2C0A-A2EC-8028094A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AC1B9-73C8-7772-8385-0BFF4E346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AB8A7-2205-4330-043F-44EF038C6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FEFDC-1CA4-738C-407B-2355BDE55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9448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D422-CE92-F37C-2E7F-3057860C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172F6-93FE-FEB9-CF5E-851FACA10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DAC1B-F1E2-47FD-4660-02AEAD289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D7949-F7B9-4CC3-4D9E-348CE2643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9361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B8CB-A383-77D7-36B0-E8402C88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47AD5-9B7B-0CE1-B603-1BA82BC9F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2F312-E51D-25ED-EED3-DC868613E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EFF9D-6EA2-B383-902F-DCD9D0773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0746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3F3D-4DEC-6BD7-8AD5-760C8AF1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0C68C-13AE-02A8-8487-D9CEBEE8A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0E70D-274F-A065-3A3C-96410B1A5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5FDDE-60D4-0F3E-6EE0-5930D66BA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35267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AD383-FBF4-A9A7-20A6-365FC2B3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83A0D-B382-C141-29A1-92FF66521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347C8-EC44-7118-9855-E2328A51D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93D46-D186-1EF3-4420-1BF4A20F5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8899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DD6E-4FE5-759B-1806-EC8BF62F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C5C10-BB97-4CE1-F044-E8E4426D6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8946D-40AF-DF20-8D83-724DF5664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91A47-0F88-865C-30B1-88C9DE968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51353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A21D-F395-1241-75C3-0EFC2EAB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E2934-96FA-062D-BF95-DEC3B2D5B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A8477-52C2-CA4A-B17D-AD83A7FCB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95D2B-01FB-3D25-D064-85CE1F6E9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5360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422C-C3A8-AA08-4F2A-049FA5B3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5F7D9-1D3E-84E7-58C7-118F9CB3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95EB3-7E2F-61C9-3C5D-D0AD7CD9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F7ED-F6E0-5C22-4AF4-B2A2005AB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496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80B9C5-B38B-4AF6-88B2-C93C34D31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6E71AC1-ABB4-4516-AEF7-51492BFBD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70E375-2177-4488-BCA9-7B4E54C1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28C2-0F06-4F36-886A-3804D3F77962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384B0-95D1-4D37-B57B-408DB64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DC20E5-6BF6-4423-8D8D-966B37EB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634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0F5833-22CC-435F-BEA1-AF8085FC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F8480D-0D0E-4583-982B-27D7D937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C8D696-CBCE-45F6-91C5-4763C323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1060-047E-4799-9B1E-376DF9501AF9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21F108-21DE-46C8-A0CB-830B4C57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154C54-8C12-41BC-897D-4C717C25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769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D66B81-52E6-491E-ADCE-566B6D10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AB794D7-699C-415C-B232-9186A8EC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EDFEDD-CF0B-40A3-92B1-0742D8D1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4F7A-478C-478F-A129-B50C513A9D65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FAC21B-A1C3-4492-8268-DB017B66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B3CEF8-B335-4761-A77E-8E89EF8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15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9315BC-E298-4FE8-9007-00EFC8AF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A9B19DE-927B-4C23-ADEE-7F2184231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7999C3-605D-47FC-A673-778EA443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EC70B7-4CF1-4C1F-8667-108993BE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FE74-9DC4-4460-A8AF-12369A62080D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022FB1E-86F7-4819-8F63-520E091B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8CE15A6-6742-4B17-99D1-60F17CE2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191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966954-05C3-43F9-BA5F-6D34444D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60BC888-DB16-4CDA-AD8B-F23D4E5A3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B6F1CD-45C1-4DCC-84B6-F6D27BF3F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CA7BE57-5B78-4844-8870-E17347427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3E68953-B9CC-4F05-AE65-4ABF7559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D07E5C7-01D5-4AEB-86BD-7A3991DC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8569-CA94-419E-8FED-D3857FB7C120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3E8D898-EB0F-4AEC-A871-16267267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A9C13EE-91B7-4DD0-9C9E-17FE2400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18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C37D0D-7F72-4FE2-B904-BA1C3FF0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6145B79-9884-42E3-AFE2-BB2D4D75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2ED25-44FA-40AF-A0CE-48D9A5CFC4B7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BAA4183-A8EF-45A7-B4A6-50720621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DB88F70-7D39-4FB5-BD25-F08667FE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66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5D18A7F-D3EF-4845-BA9A-FF29D122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8A85-D523-4934-9BB1-C16CB40C7F61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BE786F1-9DA3-4F66-BD99-58753BD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5D297AA-FC66-4A4D-A97C-6A49D4B8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68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586B10-471D-4319-AE00-8DAF88E8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F4D7EE1-1D6E-43CF-AC80-C18EFE1E0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7A05C6-21F9-4D6F-B835-CED277186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118413-8ABD-4A34-96B7-EB27EF26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DDA4-3223-45A6-A4CF-F31B5A57301F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B86180F-9C05-404C-86D1-721223AD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DB15874-FA3D-4E9F-A6FA-85E8A16F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40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E9C88F-DA88-432A-AE9F-549B524A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5FC37BE-B82D-47FF-A27D-27FC45036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4275B3F-B458-4ADA-8CBD-D70A25071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B4872C-D475-4CF1-8EBD-DD513E8C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3BAA-3D3B-49C0-84B9-4E3C40A53051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62AC37-5D9F-4D2A-973F-9DD1A1B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810D01-EED7-4D48-B2E1-98448D9A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16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D0AD62-FAF3-4CE2-9382-B9A530F4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8B050E7-ABA2-4659-B2BB-CFE82083B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FA3A12-C275-4C64-8A79-B2C6F72E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AEE5-626A-4A95-8287-92698485905B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B2DEDF-1539-475C-A2DA-072ED097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62C614-81F8-4EF0-8293-E95BC7B2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3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0EC8CEC-D95C-4B2D-A15D-0A19A5D48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06964C0-47A3-468B-B99E-3737CFE62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A00D65-FA93-489D-B04D-ACFEF4C0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39D8-6ACF-437D-AC0F-335C89A03CAD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D0A5DC-770E-4DFB-B69D-CB98D00E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85E96A-D14D-46B3-9545-25887A92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115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49EFEBF-3302-40B9-9A90-6433ECF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6C63085-541E-4727-8334-58EA143D2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F8A6766-D0D5-428B-8ED5-809700D5A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C0F1-6FF9-4835-9D06-7FDC9ACA4C0D}" type="datetime8">
              <a:rPr lang="he-IL" smtClean="0"/>
              <a:t>5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E62F2-5C03-44D7-86F6-7EE3CD70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2813EB-BA3D-4268-8842-5725FB73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19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A782D7-A741-4698-8C4A-B05EE54E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953" y="2174180"/>
            <a:ext cx="6276089" cy="893134"/>
          </a:xfrm>
        </p:spPr>
        <p:txBody>
          <a:bodyPr>
            <a:noAutofit/>
          </a:bodyPr>
          <a:lstStyle/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יסודות החשבונאות</a:t>
            </a:r>
            <a:b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10280</a:t>
            </a:r>
          </a:p>
        </p:txBody>
      </p:sp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182E4EF0-5081-4592-9096-B4CA3DA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40FD856-B064-4B1D-BAA1-A713FB07BAF4}"/>
              </a:ext>
            </a:extLst>
          </p:cNvPr>
          <p:cNvSpPr txBox="1">
            <a:spLocks/>
          </p:cNvSpPr>
          <p:nvPr/>
        </p:nvSpPr>
        <p:spPr>
          <a:xfrm>
            <a:off x="2607689" y="4237253"/>
            <a:ext cx="697661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 לדיווח כספי</a:t>
            </a:r>
          </a:p>
        </p:txBody>
      </p:sp>
    </p:spTree>
    <p:extLst>
      <p:ext uri="{BB962C8B-B14F-4D97-AF65-F5344CB8AC3E}">
        <p14:creationId xmlns:p14="http://schemas.microsoft.com/office/powerpoint/2010/main" val="3990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A644-E608-9799-9F0A-1E6A525A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DED17FDF-69D6-A6F3-FDE4-61C0ACA0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687226F5-E4C4-CEB3-E152-EF123E30112E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מה זה דיווח כספי?</a:t>
            </a: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4D7E692C-5208-3BEA-ED06-04C0920288C7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D183A5A1-058C-5C51-1518-F520F01963C7}"/>
              </a:ext>
            </a:extLst>
          </p:cNvPr>
          <p:cNvSpPr txBox="1">
            <a:spLocks/>
          </p:cNvSpPr>
          <p:nvPr/>
        </p:nvSpPr>
        <p:spPr>
          <a:xfrm>
            <a:off x="1452282" y="1688938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במקרים רבים אדם או ישות כלכלית אחרת (לדוגמה – חברה) נדרשים לדווח על מצבם הכספי.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61EF2592-204C-AD1F-26B9-3201F5E28B33}"/>
              </a:ext>
            </a:extLst>
          </p:cNvPr>
          <p:cNvSpPr txBox="1">
            <a:spLocks/>
          </p:cNvSpPr>
          <p:nvPr/>
        </p:nvSpPr>
        <p:spPr>
          <a:xfrm>
            <a:off x="2753425" y="4054113"/>
            <a:ext cx="6685149" cy="557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ישנם סוגים רבים של דיווחים כספיים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D1937F06-29A8-A82C-B20A-E64E869CE90B}"/>
              </a:ext>
            </a:extLst>
          </p:cNvPr>
          <p:cNvSpPr txBox="1">
            <a:spLocks/>
          </p:cNvSpPr>
          <p:nvPr/>
        </p:nvSpPr>
        <p:spPr>
          <a:xfrm>
            <a:off x="9045388" y="3318954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דוחות כספיים מבוקרים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179D0D31-91EA-CC2B-5D88-931183DB4D1F}"/>
              </a:ext>
            </a:extLst>
          </p:cNvPr>
          <p:cNvSpPr txBox="1">
            <a:spLocks/>
          </p:cNvSpPr>
          <p:nvPr/>
        </p:nvSpPr>
        <p:spPr>
          <a:xfrm>
            <a:off x="7375992" y="5098640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הצהרת הון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B51275DC-3388-89BF-01DD-2845C986A6EF}"/>
              </a:ext>
            </a:extLst>
          </p:cNvPr>
          <p:cNvSpPr txBox="1">
            <a:spLocks/>
          </p:cNvSpPr>
          <p:nvPr/>
        </p:nvSpPr>
        <p:spPr>
          <a:xfrm>
            <a:off x="4926667" y="2917175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הערכת שווי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EC23990C-856B-0A0A-4FCD-FC3A9F46B6D9}"/>
              </a:ext>
            </a:extLst>
          </p:cNvPr>
          <p:cNvSpPr txBox="1">
            <a:spLocks/>
          </p:cNvSpPr>
          <p:nvPr/>
        </p:nvSpPr>
        <p:spPr>
          <a:xfrm>
            <a:off x="1477217" y="3160701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 מס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F4939E09-EAAA-0C6A-3701-FE9B5307DBB5}"/>
              </a:ext>
            </a:extLst>
          </p:cNvPr>
          <p:cNvSpPr txBox="1">
            <a:spLocks/>
          </p:cNvSpPr>
          <p:nvPr/>
        </p:nvSpPr>
        <p:spPr>
          <a:xfrm>
            <a:off x="-192180" y="4238223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תקציב ביצוע</a:t>
            </a:r>
          </a:p>
        </p:txBody>
      </p:sp>
    </p:spTree>
    <p:extLst>
      <p:ext uri="{BB962C8B-B14F-4D97-AF65-F5344CB8AC3E}">
        <p14:creationId xmlns:p14="http://schemas.microsoft.com/office/powerpoint/2010/main" val="408813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D178-ADC0-66BC-9A21-CD674C42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6C151D1D-2F67-D340-0966-262FAEA3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3E1DEE09-6059-AD4F-4557-D5F7AC371DBD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מה זה דיווח כספי?</a:t>
            </a: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7BEEA5F1-A0E1-AA00-4C4E-FB74AFD8DF5B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18916DBA-6B98-6106-608F-2988015F63BD}"/>
              </a:ext>
            </a:extLst>
          </p:cNvPr>
          <p:cNvSpPr txBox="1">
            <a:spLocks/>
          </p:cNvSpPr>
          <p:nvPr/>
        </p:nvSpPr>
        <p:spPr>
          <a:xfrm>
            <a:off x="928688" y="1688938"/>
            <a:ext cx="10415586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למעשה, דיווח כספי הוא מידע פיננסי שמסייע למשתמשים בו לקבל החלטות. ״חשבונאות״ היא התורה שעל בסיסה נוצר אותו מידע.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D10C5409-AF4D-FADB-3504-03616D20136B}"/>
              </a:ext>
            </a:extLst>
          </p:cNvPr>
          <p:cNvSpPr txBox="1">
            <a:spLocks/>
          </p:cNvSpPr>
          <p:nvPr/>
        </p:nvSpPr>
        <p:spPr>
          <a:xfrm>
            <a:off x="2753425" y="4054113"/>
            <a:ext cx="6685149" cy="557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ישנם סוגים רבים של דיווחים כספיים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EB9AF4B2-9258-A81A-224B-5970C7B52AF1}"/>
              </a:ext>
            </a:extLst>
          </p:cNvPr>
          <p:cNvSpPr txBox="1">
            <a:spLocks/>
          </p:cNvSpPr>
          <p:nvPr/>
        </p:nvSpPr>
        <p:spPr>
          <a:xfrm>
            <a:off x="9045388" y="3318954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דוחות כספיים מבוקרים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C6594FF9-8472-5F1D-4994-78E9B8450551}"/>
              </a:ext>
            </a:extLst>
          </p:cNvPr>
          <p:cNvSpPr txBox="1">
            <a:spLocks/>
          </p:cNvSpPr>
          <p:nvPr/>
        </p:nvSpPr>
        <p:spPr>
          <a:xfrm>
            <a:off x="7375992" y="5098640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הצהרת הון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54988A8F-6CE5-B460-CC27-733C665BE519}"/>
              </a:ext>
            </a:extLst>
          </p:cNvPr>
          <p:cNvSpPr txBox="1">
            <a:spLocks/>
          </p:cNvSpPr>
          <p:nvPr/>
        </p:nvSpPr>
        <p:spPr>
          <a:xfrm>
            <a:off x="4926667" y="2917175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הערכת שווי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4ACCF393-79F4-8568-FE6D-07DD30EFA39B}"/>
              </a:ext>
            </a:extLst>
          </p:cNvPr>
          <p:cNvSpPr txBox="1">
            <a:spLocks/>
          </p:cNvSpPr>
          <p:nvPr/>
        </p:nvSpPr>
        <p:spPr>
          <a:xfrm>
            <a:off x="1477217" y="3160701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 מס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D323DC09-C893-C392-768A-DA37C26082C6}"/>
              </a:ext>
            </a:extLst>
          </p:cNvPr>
          <p:cNvSpPr txBox="1">
            <a:spLocks/>
          </p:cNvSpPr>
          <p:nvPr/>
        </p:nvSpPr>
        <p:spPr>
          <a:xfrm>
            <a:off x="-192180" y="4238223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תקציב ביצוע</a:t>
            </a:r>
          </a:p>
        </p:txBody>
      </p:sp>
    </p:spTree>
    <p:extLst>
      <p:ext uri="{BB962C8B-B14F-4D97-AF65-F5344CB8AC3E}">
        <p14:creationId xmlns:p14="http://schemas.microsoft.com/office/powerpoint/2010/main" val="301218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5298-9FD3-6679-D9BB-52CB79AD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42AAD3E5-83CB-31BF-BBAA-58B69DFB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8FC127BD-EDFF-12CF-E249-D33BBB2D28A3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מה זה דיווח כספי?</a:t>
            </a: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FAFD58C6-5305-2831-0FD5-F3D1E9170875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4520A708-A1DE-8D48-9B61-419AACC289AC}"/>
              </a:ext>
            </a:extLst>
          </p:cNvPr>
          <p:cNvSpPr txBox="1">
            <a:spLocks/>
          </p:cNvSpPr>
          <p:nvPr/>
        </p:nvSpPr>
        <p:spPr>
          <a:xfrm>
            <a:off x="9224681" y="2086731"/>
            <a:ext cx="2702870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אנחנו נתמקד בעיקר ב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7A8F3F94-4FBF-21B9-5154-560711BF269D}"/>
              </a:ext>
            </a:extLst>
          </p:cNvPr>
          <p:cNvSpPr txBox="1">
            <a:spLocks/>
          </p:cNvSpPr>
          <p:nvPr/>
        </p:nvSpPr>
        <p:spPr>
          <a:xfrm>
            <a:off x="2753425" y="4054113"/>
            <a:ext cx="6685149" cy="557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ישנם סוגים רבים של דיווחים כספיים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E1678F84-34F6-DE49-E2E8-915647B6B457}"/>
              </a:ext>
            </a:extLst>
          </p:cNvPr>
          <p:cNvSpPr txBox="1">
            <a:spLocks/>
          </p:cNvSpPr>
          <p:nvPr/>
        </p:nvSpPr>
        <p:spPr>
          <a:xfrm>
            <a:off x="9045388" y="3318954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דוחות כספיים מבוקרים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7DD4EA2C-7B5B-85A4-571E-AA8DD41887FA}"/>
              </a:ext>
            </a:extLst>
          </p:cNvPr>
          <p:cNvSpPr txBox="1">
            <a:spLocks/>
          </p:cNvSpPr>
          <p:nvPr/>
        </p:nvSpPr>
        <p:spPr>
          <a:xfrm>
            <a:off x="7375992" y="5098640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הצהרת הון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9831E557-30CF-24AC-86DC-728414EDD0E0}"/>
              </a:ext>
            </a:extLst>
          </p:cNvPr>
          <p:cNvSpPr txBox="1">
            <a:spLocks/>
          </p:cNvSpPr>
          <p:nvPr/>
        </p:nvSpPr>
        <p:spPr>
          <a:xfrm>
            <a:off x="4926667" y="2917175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הערכת שווי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E35FCEFB-3D4C-D3CB-4235-BCF0D107129C}"/>
              </a:ext>
            </a:extLst>
          </p:cNvPr>
          <p:cNvSpPr txBox="1">
            <a:spLocks/>
          </p:cNvSpPr>
          <p:nvPr/>
        </p:nvSpPr>
        <p:spPr>
          <a:xfrm>
            <a:off x="1477217" y="3160701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 מס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831D472E-7813-3801-045C-BDC87D3ED5F9}"/>
              </a:ext>
            </a:extLst>
          </p:cNvPr>
          <p:cNvSpPr txBox="1">
            <a:spLocks/>
          </p:cNvSpPr>
          <p:nvPr/>
        </p:nvSpPr>
        <p:spPr>
          <a:xfrm>
            <a:off x="-192180" y="4238223"/>
            <a:ext cx="3338791" cy="86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תקציב ביצוע</a:t>
            </a:r>
          </a:p>
        </p:txBody>
      </p:sp>
      <p:sp>
        <p:nvSpPr>
          <p:cNvPr id="2" name="מלבן 13">
            <a:extLst>
              <a:ext uri="{FF2B5EF4-FFF2-40B4-BE49-F238E27FC236}">
                <a16:creationId xmlns:a16="http://schemas.microsoft.com/office/drawing/2014/main" id="{0A728FC8-B5F8-0A9A-7851-EE4455C9D451}"/>
              </a:ext>
            </a:extLst>
          </p:cNvPr>
          <p:cNvSpPr/>
          <p:nvPr/>
        </p:nvSpPr>
        <p:spPr>
          <a:xfrm>
            <a:off x="0" y="0"/>
            <a:ext cx="12192000" cy="1563253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18">
            <a:extLst>
              <a:ext uri="{FF2B5EF4-FFF2-40B4-BE49-F238E27FC236}">
                <a16:creationId xmlns:a16="http://schemas.microsoft.com/office/drawing/2014/main" id="{1B41C44C-284E-D758-F044-9631706835DE}"/>
              </a:ext>
            </a:extLst>
          </p:cNvPr>
          <p:cNvSpPr/>
          <p:nvPr/>
        </p:nvSpPr>
        <p:spPr>
          <a:xfrm>
            <a:off x="0" y="1563253"/>
            <a:ext cx="9224681" cy="5294747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לבן 19">
            <a:extLst>
              <a:ext uri="{FF2B5EF4-FFF2-40B4-BE49-F238E27FC236}">
                <a16:creationId xmlns:a16="http://schemas.microsoft.com/office/drawing/2014/main" id="{30F4B032-46BA-9D19-8605-086F57D7DD49}"/>
              </a:ext>
            </a:extLst>
          </p:cNvPr>
          <p:cNvSpPr/>
          <p:nvPr/>
        </p:nvSpPr>
        <p:spPr>
          <a:xfrm>
            <a:off x="9224681" y="4455893"/>
            <a:ext cx="2967319" cy="2402108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4729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61691-CE12-B1AB-2156-93B26E98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50A0DFBD-F254-AEDF-6505-64D6ED81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BA3E9CD-1C23-433D-CC6B-E6039A62E5E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34B1B2E2-541B-6947-30C7-9D83BC7C9729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4BDCE1AA-5291-3CA7-4BB3-38AA4F24254A}"/>
              </a:ext>
            </a:extLst>
          </p:cNvPr>
          <p:cNvSpPr txBox="1">
            <a:spLocks/>
          </p:cNvSpPr>
          <p:nvPr/>
        </p:nvSpPr>
        <p:spPr>
          <a:xfrm>
            <a:off x="1452282" y="1688938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מסיבות משפטיות, רגולטוריות ואף חברתיות, לרוב נמצא שפעילות עסקית לא נעשית באופן ישיר ובלתי אמצעי בידי בני האדם שייזמו אותה, אלא במעטפת משפטית כלשהי.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DCEA8EC0-FA4E-A249-F253-38B1D5D91879}"/>
              </a:ext>
            </a:extLst>
          </p:cNvPr>
          <p:cNvSpPr txBox="1">
            <a:spLocks/>
          </p:cNvSpPr>
          <p:nvPr/>
        </p:nvSpPr>
        <p:spPr>
          <a:xfrm>
            <a:off x="973471" y="3298663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״עטיפה״ של אותה פעילות עסקית במבנה (משפטי) מוגדר היטב, שכולל תקנון וכללים ברורים שנכתבו מראש, נקראת ״התאגדות״.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C60509A7-51DE-8C4E-6FF2-A433C835ED8A}"/>
              </a:ext>
            </a:extLst>
          </p:cNvPr>
          <p:cNvSpPr txBox="1">
            <a:spLocks/>
          </p:cNvSpPr>
          <p:nvPr/>
        </p:nvSpPr>
        <p:spPr>
          <a:xfrm>
            <a:off x="334963" y="4582275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מכאן גם נגזר תחום משפטי נרחב שנקרא ״דיני תאגידים״.</a:t>
            </a:r>
          </a:p>
        </p:txBody>
      </p:sp>
    </p:spTree>
    <p:extLst>
      <p:ext uri="{BB962C8B-B14F-4D97-AF65-F5344CB8AC3E}">
        <p14:creationId xmlns:p14="http://schemas.microsoft.com/office/powerpoint/2010/main" val="325768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B62D-3705-B1B2-6DFC-BA8EC279A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4639A96B-F5C5-8B96-CE68-B783797D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68A77E3-8740-CA33-4569-DE64386AF661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7F67433-D582-914E-3A6E-88C712EE157F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4F3E3A9F-ADEF-C1CC-21BD-4B6E15179B48}"/>
              </a:ext>
            </a:extLst>
          </p:cNvPr>
          <p:cNvSpPr txBox="1">
            <a:spLocks/>
          </p:cNvSpPr>
          <p:nvPr/>
        </p:nvSpPr>
        <p:spPr>
          <a:xfrm>
            <a:off x="1452282" y="1688938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ישנן מספר דרכים בהן קבוצה של בני אדם יכולה להתאגד לצורך קיום מטרה עסקית/ ציבורית/ חברתית (ועוד) כלשהי: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1D1A24A1-86D1-1275-A0A5-8BFB70B7F180}"/>
              </a:ext>
            </a:extLst>
          </p:cNvPr>
          <p:cNvSpPr txBox="1">
            <a:spLocks/>
          </p:cNvSpPr>
          <p:nvPr/>
        </p:nvSpPr>
        <p:spPr>
          <a:xfrm>
            <a:off x="1541930" y="3076920"/>
            <a:ext cx="9327215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חברה (פרטית, ציבורית, ממשלתית, לתועלת הציבור)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59DE01F1-2986-A23C-4CE3-21DE7A683D76}"/>
              </a:ext>
            </a:extLst>
          </p:cNvPr>
          <p:cNvSpPr txBox="1">
            <a:spLocks/>
          </p:cNvSpPr>
          <p:nvPr/>
        </p:nvSpPr>
        <p:spPr>
          <a:xfrm>
            <a:off x="8337177" y="3770974"/>
            <a:ext cx="2531968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שותפות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C612FDB4-5402-6584-6C11-BC243563E29F}"/>
              </a:ext>
            </a:extLst>
          </p:cNvPr>
          <p:cNvSpPr txBox="1">
            <a:spLocks/>
          </p:cNvSpPr>
          <p:nvPr/>
        </p:nvSpPr>
        <p:spPr>
          <a:xfrm>
            <a:off x="1999130" y="4465028"/>
            <a:ext cx="8870015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מלכ"ר (עמותה, אגודה, רשות ועוד)</a:t>
            </a:r>
          </a:p>
        </p:txBody>
      </p:sp>
      <p:pic>
        <p:nvPicPr>
          <p:cNvPr id="17" name="תמונה 24">
            <a:extLst>
              <a:ext uri="{FF2B5EF4-FFF2-40B4-BE49-F238E27FC236}">
                <a16:creationId xmlns:a16="http://schemas.microsoft.com/office/drawing/2014/main" id="{3DC58D08-D428-6C9C-98CB-B86665A08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19" y="3727611"/>
            <a:ext cx="2070482" cy="207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0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15C3-DCE2-D6F0-0C03-90F9A0F7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BC91C72-4F8E-E704-952F-DC7735D2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EFDDBF6-0649-076A-8E8E-4B80AE89E65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E8F1880-56DA-2CE9-1DC8-E7D328D1A66A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973DC20C-5555-FA6D-8FA7-D4A499209D8E}"/>
              </a:ext>
            </a:extLst>
          </p:cNvPr>
          <p:cNvSpPr txBox="1">
            <a:spLocks/>
          </p:cNvSpPr>
          <p:nvPr/>
        </p:nvSpPr>
        <p:spPr>
          <a:xfrm>
            <a:off x="1452282" y="1688938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ישנן דרכים רבות בהן קבוצה של בני אדם יכולה להתאגד לצורך קיום מטרה עסקית/ ציבורית/ חברתית (ועוד) כלשהי: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28BF5A39-E01C-6FD9-A153-A267B1A0137A}"/>
              </a:ext>
            </a:extLst>
          </p:cNvPr>
          <p:cNvSpPr txBox="1">
            <a:spLocks/>
          </p:cNvSpPr>
          <p:nvPr/>
        </p:nvSpPr>
        <p:spPr>
          <a:xfrm>
            <a:off x="1541930" y="3076920"/>
            <a:ext cx="9327215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חברה (פרטית, ציבורית, ממשלתית, לתועלת הציבור)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602A6072-DBED-25DE-0E14-CBDAB8772B47}"/>
              </a:ext>
            </a:extLst>
          </p:cNvPr>
          <p:cNvSpPr txBox="1">
            <a:spLocks/>
          </p:cNvSpPr>
          <p:nvPr/>
        </p:nvSpPr>
        <p:spPr>
          <a:xfrm>
            <a:off x="8337177" y="3770974"/>
            <a:ext cx="2531968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שותפות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B5F0B06D-ACF1-5C52-4C7E-17C23095A617}"/>
              </a:ext>
            </a:extLst>
          </p:cNvPr>
          <p:cNvSpPr txBox="1">
            <a:spLocks/>
          </p:cNvSpPr>
          <p:nvPr/>
        </p:nvSpPr>
        <p:spPr>
          <a:xfrm>
            <a:off x="1999130" y="4465028"/>
            <a:ext cx="8870015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מלכ"ר (עמותה, אגודה, רשות ועוד)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A816D83F-5AC1-6CB2-B479-525133F638EE}"/>
              </a:ext>
            </a:extLst>
          </p:cNvPr>
          <p:cNvSpPr txBox="1">
            <a:spLocks/>
          </p:cNvSpPr>
          <p:nvPr/>
        </p:nvSpPr>
        <p:spPr>
          <a:xfrm rot="20982835">
            <a:off x="2692916" y="2671532"/>
            <a:ext cx="6678575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4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כל צורות ההתאגדות יידרשו בעריכת דיווח כספי!</a:t>
            </a:r>
          </a:p>
        </p:txBody>
      </p:sp>
    </p:spTree>
    <p:extLst>
      <p:ext uri="{BB962C8B-B14F-4D97-AF65-F5344CB8AC3E}">
        <p14:creationId xmlns:p14="http://schemas.microsoft.com/office/powerpoint/2010/main" val="263166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EE4C-ECBD-4E34-1735-669BABC0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D2480562-48FE-5ED7-8C0D-D0609DD7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6B982BC-5AEE-D7E4-4D69-7A37E940858F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278311D9-8220-E30B-3375-9038FB5314D3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AA20E60F-4665-3DED-AB93-928BB1900DF9}"/>
              </a:ext>
            </a:extLst>
          </p:cNvPr>
          <p:cNvSpPr txBox="1">
            <a:spLocks/>
          </p:cNvSpPr>
          <p:nvPr/>
        </p:nvSpPr>
        <p:spPr>
          <a:xfrm>
            <a:off x="1452282" y="1688938"/>
            <a:ext cx="9891992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נמחיש את הצורך בדיווח כספי ואת העובדה שהישות היא נפרדת מבני האדם ושאר הגופים שסובבים אותה, על ידי דוגמה פשטנית של עסק שהוקם על ידי יזם.</a:t>
            </a:r>
          </a:p>
        </p:txBody>
      </p:sp>
    </p:spTree>
    <p:extLst>
      <p:ext uri="{BB962C8B-B14F-4D97-AF65-F5344CB8AC3E}">
        <p14:creationId xmlns:p14="http://schemas.microsoft.com/office/powerpoint/2010/main" val="420354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F2B3-778C-5005-FA73-9973A486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55DB5D12-8F99-9C63-CFFC-A4AC31E4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C55E7FB-CD30-5E29-D347-7C5ECB74818A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77EC7630-E638-D313-CB76-63F318C0F74D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 – דוגמה פשטנית</a:t>
            </a:r>
          </a:p>
        </p:txBody>
      </p:sp>
    </p:spTree>
    <p:extLst>
      <p:ext uri="{BB962C8B-B14F-4D97-AF65-F5344CB8AC3E}">
        <p14:creationId xmlns:p14="http://schemas.microsoft.com/office/powerpoint/2010/main" val="1818006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D74C-860C-06BE-DBD6-A85F4ACE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AF9F53B1-D891-5ABC-CD9C-8CB0E22C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C565955-D55C-5FB6-6E80-2387BB478B63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B9F07060-FE93-0DF5-C70A-B41DA5BDAA3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 – דוגמה פשטנית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1DFD07-918A-03B6-DF89-4E3131798A19}"/>
              </a:ext>
            </a:extLst>
          </p:cNvPr>
          <p:cNvCxnSpPr/>
          <p:nvPr/>
        </p:nvCxnSpPr>
        <p:spPr>
          <a:xfrm>
            <a:off x="2808616" y="2514600"/>
            <a:ext cx="435768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6C6985-10D5-570E-445B-B4ABA8A89BCD}"/>
              </a:ext>
            </a:extLst>
          </p:cNvPr>
          <p:cNvCxnSpPr>
            <a:cxnSpLocks/>
          </p:cNvCxnSpPr>
          <p:nvPr/>
        </p:nvCxnSpPr>
        <p:spPr>
          <a:xfrm flipV="1">
            <a:off x="4966028" y="2514600"/>
            <a:ext cx="0" cy="28289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1E32C1C-34B4-3CF1-61A4-32315EB6F23B}"/>
              </a:ext>
            </a:extLst>
          </p:cNvPr>
          <p:cNvSpPr/>
          <p:nvPr/>
        </p:nvSpPr>
        <p:spPr>
          <a:xfrm>
            <a:off x="2237116" y="1843088"/>
            <a:ext cx="5572125" cy="3829050"/>
          </a:xfrm>
          <a:prstGeom prst="roundRect">
            <a:avLst>
              <a:gd name="adj" fmla="val 95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352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18EC-CE14-0DAA-914E-DB4AA492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4252DB7-1E68-09DA-20C5-195BF05E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64D6A8BA-E461-1C5F-21F5-894B33F4DD5E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רקע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B8E9C250-735E-A89E-E8FF-C39BE30F4BA4}"/>
              </a:ext>
            </a:extLst>
          </p:cNvPr>
          <p:cNvSpPr txBox="1">
            <a:spLocks/>
          </p:cNvSpPr>
          <p:nvPr/>
        </p:nvSpPr>
        <p:spPr>
          <a:xfrm>
            <a:off x="6858000" y="1688939"/>
            <a:ext cx="4486274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ועוד קצת על חברות...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A4A94AC5-B700-7332-F0BE-0C862BCEB670}"/>
              </a:ext>
            </a:extLst>
          </p:cNvPr>
          <p:cNvSpPr txBox="1">
            <a:spLocks/>
          </p:cNvSpPr>
          <p:nvPr/>
        </p:nvSpPr>
        <p:spPr>
          <a:xfrm>
            <a:off x="1084729" y="2386368"/>
            <a:ext cx="9784416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חברה             ישות כלכלית נפרדת           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4F8E0280-4CA2-B447-C09A-979A7ED6677E}"/>
              </a:ext>
            </a:extLst>
          </p:cNvPr>
          <p:cNvSpPr txBox="1">
            <a:spLocks/>
          </p:cNvSpPr>
          <p:nvPr/>
        </p:nvSpPr>
        <p:spPr>
          <a:xfrm>
            <a:off x="1084729" y="3352322"/>
            <a:ext cx="9784416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חברה בע"מ             מה זה "ערבון מוגבל"?           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1C20B378-EF8E-F1D2-5113-F46DEEE3BD32}"/>
              </a:ext>
            </a:extLst>
          </p:cNvPr>
          <p:cNvSpPr txBox="1">
            <a:spLocks/>
          </p:cNvSpPr>
          <p:nvPr/>
        </p:nvSpPr>
        <p:spPr>
          <a:xfrm>
            <a:off x="1084729" y="4309311"/>
            <a:ext cx="9784416" cy="577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חברה פרטית/ ציבורית             מה ההבדל?           </a:t>
            </a:r>
          </a:p>
        </p:txBody>
      </p:sp>
      <p:pic>
        <p:nvPicPr>
          <p:cNvPr id="8" name="תמונה 15">
            <a:extLst>
              <a:ext uri="{FF2B5EF4-FFF2-40B4-BE49-F238E27FC236}">
                <a16:creationId xmlns:a16="http://schemas.microsoft.com/office/drawing/2014/main" id="{816637ED-BA74-1BC1-75A0-8C620EB3CD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8933638" y="2208806"/>
            <a:ext cx="747917" cy="862595"/>
          </a:xfrm>
          <a:prstGeom prst="rect">
            <a:avLst/>
          </a:prstGeom>
        </p:spPr>
      </p:pic>
      <p:pic>
        <p:nvPicPr>
          <p:cNvPr id="9" name="תמונה 20">
            <a:extLst>
              <a:ext uri="{FF2B5EF4-FFF2-40B4-BE49-F238E27FC236}">
                <a16:creationId xmlns:a16="http://schemas.microsoft.com/office/drawing/2014/main" id="{ADD5BE97-C39A-4D3E-910C-3E1148F3ED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8053113" y="3168935"/>
            <a:ext cx="747917" cy="862595"/>
          </a:xfrm>
          <a:prstGeom prst="rect">
            <a:avLst/>
          </a:prstGeom>
        </p:spPr>
      </p:pic>
      <p:pic>
        <p:nvPicPr>
          <p:cNvPr id="10" name="תמונה 21">
            <a:extLst>
              <a:ext uri="{FF2B5EF4-FFF2-40B4-BE49-F238E27FC236}">
                <a16:creationId xmlns:a16="http://schemas.microsoft.com/office/drawing/2014/main" id="{DF994ACD-06BE-993C-732D-23F0DD9F9B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6492935" y="4137748"/>
            <a:ext cx="747917" cy="862595"/>
          </a:xfrm>
          <a:prstGeom prst="rect">
            <a:avLst/>
          </a:prstGeom>
        </p:spPr>
      </p:pic>
      <p:pic>
        <p:nvPicPr>
          <p:cNvPr id="11" name="תמונה 4">
            <a:extLst>
              <a:ext uri="{FF2B5EF4-FFF2-40B4-BE49-F238E27FC236}">
                <a16:creationId xmlns:a16="http://schemas.microsoft.com/office/drawing/2014/main" id="{D757D354-2D3E-0870-1719-7FE9DDB6D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41" y="4309311"/>
            <a:ext cx="1674675" cy="1674675"/>
          </a:xfrm>
          <a:prstGeom prst="rect">
            <a:avLst/>
          </a:prstGeom>
        </p:spPr>
      </p:pic>
      <p:sp>
        <p:nvSpPr>
          <p:cNvPr id="12" name="כותרת 1">
            <a:extLst>
              <a:ext uri="{FF2B5EF4-FFF2-40B4-BE49-F238E27FC236}">
                <a16:creationId xmlns:a16="http://schemas.microsoft.com/office/drawing/2014/main" id="{DAAD38CE-46DB-DC59-8C38-785886DA5D04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התאגדות - ישויות כלכלית נפרדת</a:t>
            </a:r>
          </a:p>
        </p:txBody>
      </p:sp>
    </p:spTree>
    <p:extLst>
      <p:ext uri="{BB962C8B-B14F-4D97-AF65-F5344CB8AC3E}">
        <p14:creationId xmlns:p14="http://schemas.microsoft.com/office/powerpoint/2010/main" val="259237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3B3D-AB51-158A-2862-0BABDAD9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C223BAF8-A9A1-AD85-800E-E74AE057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5463507-6291-FF0E-1964-5BC1FF432B9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חשבונאות פיננסית לעומת חשבונאות ניהולית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38CE2FDB-167F-9FA7-9B51-FA667AB032D8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BD2A74A3-67D9-E7B7-B3DA-754C4740EAE5}"/>
              </a:ext>
            </a:extLst>
          </p:cNvPr>
          <p:cNvSpPr txBox="1">
            <a:spLocks/>
          </p:cNvSpPr>
          <p:nvPr/>
        </p:nvSpPr>
        <p:spPr>
          <a:xfrm>
            <a:off x="1857375" y="1992557"/>
            <a:ext cx="9639298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כאמור, חשבונאות היא תורה שעל בסיס נוצר מידע כספי.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כדאי מאוד שכבר בתחילת הדרך נבחין בין שני סוגים של נמענים אליהם מכוון המידע הכספי.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2877B9CE-654C-1D2A-C062-CD6BE37FC8AC}"/>
              </a:ext>
            </a:extLst>
          </p:cNvPr>
          <p:cNvSpPr txBox="1">
            <a:spLocks/>
          </p:cNvSpPr>
          <p:nvPr/>
        </p:nvSpPr>
        <p:spPr>
          <a:xfrm>
            <a:off x="1438275" y="3863977"/>
            <a:ext cx="9639298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חשבונאות ניהולית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מידע כספי שנוצר לקבלת החלטות ניהוליות 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                             בתוך הישות עצמה. 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5F2F0BF5-5E43-0530-5A80-CDBEAAC62A6C}"/>
              </a:ext>
            </a:extLst>
          </p:cNvPr>
          <p:cNvSpPr txBox="1">
            <a:spLocks/>
          </p:cNvSpPr>
          <p:nvPr/>
        </p:nvSpPr>
        <p:spPr>
          <a:xfrm>
            <a:off x="228600" y="4959352"/>
            <a:ext cx="10848973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חשבונאות פיננסית 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– מידע כספי שנוצר עבור משתמשים חיצוניים לישות,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                              כגון משקיעים, רשויות </a:t>
            </a:r>
            <a:r>
              <a:rPr lang="he-IL" sz="2800" dirty="0" err="1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וכו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׳.</a:t>
            </a:r>
          </a:p>
        </p:txBody>
      </p:sp>
    </p:spTree>
    <p:extLst>
      <p:ext uri="{BB962C8B-B14F-4D97-AF65-F5344CB8AC3E}">
        <p14:creationId xmlns:p14="http://schemas.microsoft.com/office/powerpoint/2010/main" val="702218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CFE1-3324-8206-1D47-860DC806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523936D3-0C07-4689-F753-E12C8EE1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E26F5FB-9232-727D-45F0-F22FC9D77F6D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בעלי עניין בדוחות הכספיים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803EBAF0-690B-4618-6412-54C1C406FF03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9F4D3976-F76B-F053-761B-2A7E8B77A5D3}"/>
              </a:ext>
            </a:extLst>
          </p:cNvPr>
          <p:cNvSpPr txBox="1">
            <a:spLocks/>
          </p:cNvSpPr>
          <p:nvPr/>
        </p:nvSpPr>
        <p:spPr>
          <a:xfrm>
            <a:off x="3403600" y="3304869"/>
            <a:ext cx="5735637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ישנם בעלי עניין רבים (משתמשים) בדוחות הכספיים של חברה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CDB45A67-F152-4FB5-B952-52715B1C3EC4}"/>
              </a:ext>
            </a:extLst>
          </p:cNvPr>
          <p:cNvSpPr txBox="1">
            <a:spLocks/>
          </p:cNvSpPr>
          <p:nvPr/>
        </p:nvSpPr>
        <p:spPr>
          <a:xfrm>
            <a:off x="8255000" y="2159002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משקיעים פוטנציאליים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BB5698C8-D297-531B-B546-679FF9F3B849}"/>
              </a:ext>
            </a:extLst>
          </p:cNvPr>
          <p:cNvSpPr txBox="1">
            <a:spLocks/>
          </p:cNvSpPr>
          <p:nvPr/>
        </p:nvSpPr>
        <p:spPr>
          <a:xfrm>
            <a:off x="4701381" y="1774834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בעלי מניות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D8BCBE98-CD45-1105-190F-7B17DF221E52}"/>
              </a:ext>
            </a:extLst>
          </p:cNvPr>
          <p:cNvSpPr txBox="1">
            <a:spLocks/>
          </p:cNvSpPr>
          <p:nvPr/>
        </p:nvSpPr>
        <p:spPr>
          <a:xfrm>
            <a:off x="2976562" y="2582595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מלווים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E8A8D13D-0989-DE79-9791-9B2244763EE8}"/>
              </a:ext>
            </a:extLst>
          </p:cNvPr>
          <p:cNvSpPr txBox="1">
            <a:spLocks/>
          </p:cNvSpPr>
          <p:nvPr/>
        </p:nvSpPr>
        <p:spPr>
          <a:xfrm>
            <a:off x="-44847" y="2317514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רגולטורים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AC25EC92-9AF8-DD80-5B11-22B582DED997}"/>
              </a:ext>
            </a:extLst>
          </p:cNvPr>
          <p:cNvSpPr txBox="1">
            <a:spLocks/>
          </p:cNvSpPr>
          <p:nvPr/>
        </p:nvSpPr>
        <p:spPr>
          <a:xfrm>
            <a:off x="1529246" y="1319895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רשויות המס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BE30301F-E680-99DA-7141-E8A8E0728822}"/>
              </a:ext>
            </a:extLst>
          </p:cNvPr>
          <p:cNvSpPr txBox="1">
            <a:spLocks/>
          </p:cNvSpPr>
          <p:nvPr/>
        </p:nvSpPr>
        <p:spPr>
          <a:xfrm>
            <a:off x="2646363" y="5081144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מתחרים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F0F68CDF-832B-E7FD-0E8B-BDD67E5F90BA}"/>
              </a:ext>
            </a:extLst>
          </p:cNvPr>
          <p:cNvSpPr txBox="1">
            <a:spLocks/>
          </p:cNvSpPr>
          <p:nvPr/>
        </p:nvSpPr>
        <p:spPr>
          <a:xfrm>
            <a:off x="6032204" y="4732136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לקוחות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F6D583BC-0715-35FE-89C1-8BD8ADFF2970}"/>
              </a:ext>
            </a:extLst>
          </p:cNvPr>
          <p:cNvSpPr txBox="1">
            <a:spLocks/>
          </p:cNvSpPr>
          <p:nvPr/>
        </p:nvSpPr>
        <p:spPr>
          <a:xfrm>
            <a:off x="9139237" y="4231971"/>
            <a:ext cx="34496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עובדים</a:t>
            </a:r>
          </a:p>
        </p:txBody>
      </p:sp>
      <p:pic>
        <p:nvPicPr>
          <p:cNvPr id="13" name="תמונה 2">
            <a:extLst>
              <a:ext uri="{FF2B5EF4-FFF2-40B4-BE49-F238E27FC236}">
                <a16:creationId xmlns:a16="http://schemas.microsoft.com/office/drawing/2014/main" id="{D3CCA3E4-957C-DCD6-5CF8-BED2A7EAF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449338"/>
            <a:ext cx="2302843" cy="230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72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DDCC6-29A6-44BF-33C0-343FF522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B2E8B61-BE73-3D42-C1F9-B7F24482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1D7BCDC-97D5-076D-E87B-9A73EB47B72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חשבונאות פיננסית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CFF46318-155A-71CF-0096-59845C766667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9F306D7F-22DD-B385-AD5C-F2D4E85BB5A4}"/>
              </a:ext>
            </a:extLst>
          </p:cNvPr>
          <p:cNvSpPr txBox="1">
            <a:spLocks/>
          </p:cNvSpPr>
          <p:nvPr/>
        </p:nvSpPr>
        <p:spPr>
          <a:xfrm>
            <a:off x="4632512" y="2073447"/>
            <a:ext cx="6216463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אז מה מייחד חשבונאות פיננסית?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4B39A508-C42D-7DB3-665B-75595A91260E}"/>
              </a:ext>
            </a:extLst>
          </p:cNvPr>
          <p:cNvSpPr txBox="1">
            <a:spLocks/>
          </p:cNvSpPr>
          <p:nvPr/>
        </p:nvSpPr>
        <p:spPr>
          <a:xfrm>
            <a:off x="2501899" y="2836449"/>
            <a:ext cx="8347076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דיווח מבוסס תקינה.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1ADEDC9D-BB28-3368-D884-A84DDC931883}"/>
              </a:ext>
            </a:extLst>
          </p:cNvPr>
          <p:cNvSpPr txBox="1">
            <a:spLocks/>
          </p:cNvSpPr>
          <p:nvPr/>
        </p:nvSpPr>
        <p:spPr>
          <a:xfrm>
            <a:off x="1854202" y="3692326"/>
            <a:ext cx="8994773" cy="577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דוחות סקורים/מבוקרים.</a:t>
            </a:r>
          </a:p>
        </p:txBody>
      </p:sp>
      <p:pic>
        <p:nvPicPr>
          <p:cNvPr id="8" name="תמונה 2">
            <a:extLst>
              <a:ext uri="{FF2B5EF4-FFF2-40B4-BE49-F238E27FC236}">
                <a16:creationId xmlns:a16="http://schemas.microsoft.com/office/drawing/2014/main" id="{AEE16BF8-CB89-E8BA-D538-984090D5FE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16" t="68516" r="-1116" b="-599"/>
          <a:stretch/>
        </p:blipFill>
        <p:spPr>
          <a:xfrm>
            <a:off x="-99347" y="3863977"/>
            <a:ext cx="2679700" cy="237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27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2F078-92B9-903B-AFF8-77F776BE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FA67315B-E2EE-D4CD-175F-DFC604F2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859F1E2-6B58-8900-85CA-3BC58171817F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תקינה חשבונאית (</a:t>
            </a:r>
            <a:r>
              <a:rPr lang="en-US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GAAP</a:t>
            </a:r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4A8AB0FB-DED4-052B-5306-16FDAA5CA77E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5972E4C7-D79F-BA16-D8C9-57FDA4B1DC7B}"/>
              </a:ext>
            </a:extLst>
          </p:cNvPr>
          <p:cNvSpPr txBox="1">
            <a:spLocks/>
          </p:cNvSpPr>
          <p:nvPr/>
        </p:nvSpPr>
        <p:spPr>
          <a:xfrm>
            <a:off x="622300" y="1493709"/>
            <a:ext cx="1087437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כאמור, הדיווח הכספי מבוסס על כללים אחידים.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כללים אלו מקורם בתקנים חשבונאיים שאמורים לכסות את כלל הסוגיות שיכולות לעלות אגב הדיווח הכספי.</a:t>
            </a:r>
          </a:p>
          <a:p>
            <a:pPr algn="r"/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41B510BC-BCF6-3D52-A12C-64C5CC6547D3}"/>
              </a:ext>
            </a:extLst>
          </p:cNvPr>
          <p:cNvSpPr txBox="1">
            <a:spLocks/>
          </p:cNvSpPr>
          <p:nvPr/>
        </p:nvSpPr>
        <p:spPr>
          <a:xfrm>
            <a:off x="595016" y="3245937"/>
            <a:ext cx="1087437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מערכות תקינה נפוצות:</a:t>
            </a:r>
          </a:p>
          <a:p>
            <a:pPr algn="r"/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3F862E89-A4C1-2138-018A-874AA6C72623}"/>
              </a:ext>
            </a:extLst>
          </p:cNvPr>
          <p:cNvSpPr txBox="1">
            <a:spLocks/>
          </p:cNvSpPr>
          <p:nvPr/>
        </p:nvSpPr>
        <p:spPr>
          <a:xfrm>
            <a:off x="595016" y="3903804"/>
            <a:ext cx="1087437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IFRS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תקינה בינלאומית</a:t>
            </a:r>
          </a:p>
          <a:p>
            <a:pPr algn="r"/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68974E6C-91A2-1A81-6C8C-BB1AE3FD9CEF}"/>
              </a:ext>
            </a:extLst>
          </p:cNvPr>
          <p:cNvSpPr txBox="1">
            <a:spLocks/>
          </p:cNvSpPr>
          <p:nvPr/>
        </p:nvSpPr>
        <p:spPr>
          <a:xfrm>
            <a:off x="595016" y="4561671"/>
            <a:ext cx="1087437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Israeli-GAAP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תקינה ישראלית</a:t>
            </a:r>
          </a:p>
          <a:p>
            <a:pPr algn="r"/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BEE741D3-2B7E-FD3C-9E64-7437BDF407D9}"/>
              </a:ext>
            </a:extLst>
          </p:cNvPr>
          <p:cNvSpPr txBox="1">
            <a:spLocks/>
          </p:cNvSpPr>
          <p:nvPr/>
        </p:nvSpPr>
        <p:spPr>
          <a:xfrm>
            <a:off x="595016" y="5219538"/>
            <a:ext cx="1087437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US-GAAP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תקינה אמריקאית</a:t>
            </a:r>
          </a:p>
          <a:p>
            <a:pPr algn="r"/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" name="תמונה 2">
            <a:extLst>
              <a:ext uri="{FF2B5EF4-FFF2-40B4-BE49-F238E27FC236}">
                <a16:creationId xmlns:a16="http://schemas.microsoft.com/office/drawing/2014/main" id="{3A98195E-A825-B785-F354-59697A59A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3878071"/>
            <a:ext cx="1761024" cy="1761024"/>
          </a:xfrm>
          <a:prstGeom prst="rect">
            <a:avLst/>
          </a:prstGeom>
        </p:spPr>
      </p:pic>
      <p:pic>
        <p:nvPicPr>
          <p:cNvPr id="10" name="גרפיקה 6" descr="ספרים">
            <a:extLst>
              <a:ext uri="{FF2B5EF4-FFF2-40B4-BE49-F238E27FC236}">
                <a16:creationId xmlns:a16="http://schemas.microsoft.com/office/drawing/2014/main" id="{4654701A-8E98-A026-3919-ECFDC8042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337" y="4034469"/>
            <a:ext cx="1914700" cy="19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88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34E0-3D29-126B-3551-D1EBF351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BB72ECC5-D461-85E1-9DCB-4F0F7347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16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E9298860-F091-A12B-D7CA-C31AA3E3C878}"/>
              </a:ext>
            </a:extLst>
          </p:cNvPr>
          <p:cNvSpPr txBox="1">
            <a:spLocks/>
          </p:cNvSpPr>
          <p:nvPr/>
        </p:nvSpPr>
        <p:spPr>
          <a:xfrm>
            <a:off x="3401822" y="-120980"/>
            <a:ext cx="5569550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דוגמה לאחידות בדוחות כספיים</a:t>
            </a: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851130AD-276A-FD45-5426-617B1005BEB3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0616D1-78DD-E3A9-B768-311F91D4BDFE}"/>
              </a:ext>
            </a:extLst>
          </p:cNvPr>
          <p:cNvGrpSpPr/>
          <p:nvPr/>
        </p:nvGrpSpPr>
        <p:grpSpPr>
          <a:xfrm>
            <a:off x="334963" y="772154"/>
            <a:ext cx="5761037" cy="5843587"/>
            <a:chOff x="749109" y="777038"/>
            <a:chExt cx="5346891" cy="541496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936681-1F46-4F2A-641C-F66E57959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219" r="21373"/>
            <a:stretch>
              <a:fillRect/>
            </a:stretch>
          </p:blipFill>
          <p:spPr>
            <a:xfrm>
              <a:off x="749109" y="777038"/>
              <a:ext cx="5346891" cy="541496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5F0A09D-F71E-C4EF-A819-839479513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138" t="16931"/>
            <a:stretch>
              <a:fillRect/>
            </a:stretch>
          </p:blipFill>
          <p:spPr>
            <a:xfrm>
              <a:off x="3385274" y="1237041"/>
              <a:ext cx="2710726" cy="495495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A75A2AF-80FF-FCEC-4D53-5CB0D5056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1200" y="898018"/>
              <a:ext cx="1765300" cy="4445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D942E7-879C-B3E8-E4B4-853AB2C279CD}"/>
              </a:ext>
            </a:extLst>
          </p:cNvPr>
          <p:cNvGrpSpPr/>
          <p:nvPr/>
        </p:nvGrpSpPr>
        <p:grpSpPr>
          <a:xfrm>
            <a:off x="6326244" y="772154"/>
            <a:ext cx="5711987" cy="5843587"/>
            <a:chOff x="6096000" y="651025"/>
            <a:chExt cx="5711987" cy="608584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7A0C558-C67E-7501-97B4-C8B1CC489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1902"/>
            <a:stretch>
              <a:fillRect/>
            </a:stretch>
          </p:blipFill>
          <p:spPr>
            <a:xfrm>
              <a:off x="6096000" y="651025"/>
              <a:ext cx="5711987" cy="608584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097454D-7895-8A3A-CC84-35096BF5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6949" t="12137"/>
            <a:stretch>
              <a:fillRect/>
            </a:stretch>
          </p:blipFill>
          <p:spPr>
            <a:xfrm>
              <a:off x="9016687" y="1389698"/>
              <a:ext cx="2791300" cy="53471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4933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B79D-6846-E576-1FB8-21DBC69E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840101DA-4A27-536C-FD17-FFA72046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17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F1C2C84-36AA-8CEE-F3D5-38D1979DF6D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9E5506B1-5A24-10F0-E966-8B5C88183B75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E1E36FD8-1223-48C1-0DA7-8F26030CC0E5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497FA8AD-B9D6-53E5-854D-19790F6AA8B2}"/>
              </a:ext>
            </a:extLst>
          </p:cNvPr>
          <p:cNvSpPr txBox="1">
            <a:spLocks/>
          </p:cNvSpPr>
          <p:nvPr/>
        </p:nvSpPr>
        <p:spPr>
          <a:xfrm>
            <a:off x="10300054" y="30359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09AB637B-A38C-779C-EB90-8FA2E016E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14CCD210-C7A9-A02B-1C5F-E89381C7F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8D31E9F5-DC58-1AAE-3C5B-3E696056443B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336A6218-2486-C9AA-8948-21A53AC4E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3">
            <a:extLst>
              <a:ext uri="{FF2B5EF4-FFF2-40B4-BE49-F238E27FC236}">
                <a16:creationId xmlns:a16="http://schemas.microsoft.com/office/drawing/2014/main" id="{0988F3ED-D698-7A13-F368-69FBC85950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047" y="2458128"/>
            <a:ext cx="1318847" cy="1318847"/>
          </a:xfrm>
          <a:prstGeom prst="rect">
            <a:avLst/>
          </a:prstGeom>
        </p:spPr>
      </p:pic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2FE1C2CD-1105-4D59-B692-98DEAC6E7434}"/>
              </a:ext>
            </a:extLst>
          </p:cNvPr>
          <p:cNvSpPr txBox="1">
            <a:spLocks/>
          </p:cNvSpPr>
          <p:nvPr/>
        </p:nvSpPr>
        <p:spPr>
          <a:xfrm>
            <a:off x="5220584" y="3976872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מה קורה בדרך?</a:t>
            </a:r>
          </a:p>
        </p:txBody>
      </p:sp>
    </p:spTree>
    <p:extLst>
      <p:ext uri="{BB962C8B-B14F-4D97-AF65-F5344CB8AC3E}">
        <p14:creationId xmlns:p14="http://schemas.microsoft.com/office/powerpoint/2010/main" val="1135140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1C032-48F2-64C8-764D-9A7D1313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B8E6D190-3CAD-2AC2-5459-73054FA0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18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FF9EEFF-2B8F-4FB7-ABB4-EC0A9855964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DC1ADFD-7D52-DD61-A29E-0AF8FFFB85D2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F6A37CE3-44AE-AAE1-43C5-1F167498C08B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BE3A3617-BDC0-E4C4-6DA1-46A44502CFE8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CDF0FB63-043D-97D6-B67D-36BBBEE3D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C746DB35-36D7-0C9D-2475-3FF37AED8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6AD1CEB7-B973-2477-A1D7-0037E872A5DC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E85A9A54-F5B7-058A-649F-153D4A2AF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5">
            <a:extLst>
              <a:ext uri="{FF2B5EF4-FFF2-40B4-BE49-F238E27FC236}">
                <a16:creationId xmlns:a16="http://schemas.microsoft.com/office/drawing/2014/main" id="{820BD82B-084D-A337-3865-80AAC26708E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1" name="תמונה 18">
            <a:extLst>
              <a:ext uri="{FF2B5EF4-FFF2-40B4-BE49-F238E27FC236}">
                <a16:creationId xmlns:a16="http://schemas.microsoft.com/office/drawing/2014/main" id="{CC833A6B-5D4F-9C89-36BB-08DBDF2AA80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2" name="תמונה 20">
            <a:extLst>
              <a:ext uri="{FF2B5EF4-FFF2-40B4-BE49-F238E27FC236}">
                <a16:creationId xmlns:a16="http://schemas.microsoft.com/office/drawing/2014/main" id="{5B60E175-C403-2416-C9A7-78925397D8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BBA489C0-3D44-F81C-01F7-ED6763ED3E87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pic>
        <p:nvPicPr>
          <p:cNvPr id="14" name="גרפיקה 3" descr="ספר פתוח">
            <a:extLst>
              <a:ext uri="{FF2B5EF4-FFF2-40B4-BE49-F238E27FC236}">
                <a16:creationId xmlns:a16="http://schemas.microsoft.com/office/drawing/2014/main" id="{8F22D5D2-2D0E-CAC4-B4D3-127EA3FF3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15" name="גרפיקה 6" descr="עיפרון">
            <a:extLst>
              <a:ext uri="{FF2B5EF4-FFF2-40B4-BE49-F238E27FC236}">
                <a16:creationId xmlns:a16="http://schemas.microsoft.com/office/drawing/2014/main" id="{55B684A4-C564-BDEB-B7BF-1AE577B5A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8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BD60-F928-FCCE-BAEB-A7329B95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57876442-F60E-B32E-A449-55A12EB3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19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00F7E37-9991-7693-B70C-36C5423D7C57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E98980CC-4207-8E6E-2C59-FA903ABDB96F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2BF7C8E7-1889-2890-EB57-C18ED3F2B164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95AAC380-598D-5137-38EC-6842225258DD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B486BE0C-EAD1-4B28-CB6B-86A1F166F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2FA80EEB-D9A3-441B-DDC5-8905599B9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911D793D-889C-3708-F6DE-A480CF4BF34E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14CF9AEC-5143-A7A9-751D-68969F677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5">
            <a:extLst>
              <a:ext uri="{FF2B5EF4-FFF2-40B4-BE49-F238E27FC236}">
                <a16:creationId xmlns:a16="http://schemas.microsoft.com/office/drawing/2014/main" id="{150E93C0-8DE9-F71A-1A4A-061A700EDD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1" name="תמונה 18">
            <a:extLst>
              <a:ext uri="{FF2B5EF4-FFF2-40B4-BE49-F238E27FC236}">
                <a16:creationId xmlns:a16="http://schemas.microsoft.com/office/drawing/2014/main" id="{90AB6A2A-4983-F297-64A6-CE85EAA95F8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2" name="תמונה 20">
            <a:extLst>
              <a:ext uri="{FF2B5EF4-FFF2-40B4-BE49-F238E27FC236}">
                <a16:creationId xmlns:a16="http://schemas.microsoft.com/office/drawing/2014/main" id="{9D5ED533-F2C7-31F6-6235-BDF3477BA17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79B5F468-F9A0-C0FA-3C10-712FC3F6BBFD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634A8A92-F2EE-2A3D-A07B-0195728403EB}"/>
              </a:ext>
            </a:extLst>
          </p:cNvPr>
          <p:cNvSpPr txBox="1">
            <a:spLocks/>
          </p:cNvSpPr>
          <p:nvPr/>
        </p:nvSpPr>
        <p:spPr>
          <a:xfrm>
            <a:off x="5408184" y="177722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אישור הדוחות הכספיים על ידי ההנהלה</a:t>
            </a:r>
          </a:p>
        </p:txBody>
      </p:sp>
      <p:pic>
        <p:nvPicPr>
          <p:cNvPr id="15" name="גרפיקה 3" descr="ספר פתוח">
            <a:extLst>
              <a:ext uri="{FF2B5EF4-FFF2-40B4-BE49-F238E27FC236}">
                <a16:creationId xmlns:a16="http://schemas.microsoft.com/office/drawing/2014/main" id="{C06B7944-E9D4-0544-FABC-1078FEB79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16" name="גרפיקה 6" descr="עיפרון">
            <a:extLst>
              <a:ext uri="{FF2B5EF4-FFF2-40B4-BE49-F238E27FC236}">
                <a16:creationId xmlns:a16="http://schemas.microsoft.com/office/drawing/2014/main" id="{50FA6F05-ED15-4AC6-AB99-11D1BAB0E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  <p:pic>
        <p:nvPicPr>
          <p:cNvPr id="17" name="גרפיקה 26" descr="משתמשים">
            <a:extLst>
              <a:ext uri="{FF2B5EF4-FFF2-40B4-BE49-F238E27FC236}">
                <a16:creationId xmlns:a16="http://schemas.microsoft.com/office/drawing/2014/main" id="{989AA626-8015-2F51-7639-B1F7FFD7E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7266" y="3942622"/>
            <a:ext cx="1164274" cy="1164274"/>
          </a:xfrm>
          <a:prstGeom prst="rect">
            <a:avLst/>
          </a:prstGeom>
        </p:spPr>
      </p:pic>
      <p:pic>
        <p:nvPicPr>
          <p:cNvPr id="19" name="תמונה 30">
            <a:extLst>
              <a:ext uri="{FF2B5EF4-FFF2-40B4-BE49-F238E27FC236}">
                <a16:creationId xmlns:a16="http://schemas.microsoft.com/office/drawing/2014/main" id="{2EB8E353-12E3-BB73-DE95-C168BEBDEF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88" y="4862209"/>
            <a:ext cx="658086" cy="6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19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A8023-7781-F5E2-07EF-E91F9444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12B0DEA2-D25F-0CF1-CDF9-89825B25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F8EB2ED-DCFB-66E7-7EDC-A8D8DC5EB6F7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95093A34-0CC9-004F-F9DB-EE408866B311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81A5D326-DA2B-B8E6-7908-3B6B35CC63A3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C08AE139-1C6F-FCD8-FB70-66351D70EC8B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8681FC82-CA6B-DEBC-8517-E46BA60D7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138D0889-976F-8E5C-89A6-F271A125C6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BECE2C20-F82F-27AA-34B9-6AD64883EFF6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8BDDD3B5-F1B9-9BE0-D0AA-E6960A778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5">
            <a:extLst>
              <a:ext uri="{FF2B5EF4-FFF2-40B4-BE49-F238E27FC236}">
                <a16:creationId xmlns:a16="http://schemas.microsoft.com/office/drawing/2014/main" id="{6E48F2F0-186F-8F2E-EE60-BF8D8417A6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1" name="תמונה 18">
            <a:extLst>
              <a:ext uri="{FF2B5EF4-FFF2-40B4-BE49-F238E27FC236}">
                <a16:creationId xmlns:a16="http://schemas.microsoft.com/office/drawing/2014/main" id="{D80B96E1-3552-CF03-4668-CB8985BB323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2" name="תמונה 19">
            <a:extLst>
              <a:ext uri="{FF2B5EF4-FFF2-40B4-BE49-F238E27FC236}">
                <a16:creationId xmlns:a16="http://schemas.microsoft.com/office/drawing/2014/main" id="{112AE238-3372-49CF-FC1E-D3F2B47ABFF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647892" y="3326490"/>
            <a:ext cx="747917" cy="848893"/>
          </a:xfrm>
          <a:prstGeom prst="rect">
            <a:avLst/>
          </a:prstGeom>
        </p:spPr>
      </p:pic>
      <p:pic>
        <p:nvPicPr>
          <p:cNvPr id="13" name="תמונה 20">
            <a:extLst>
              <a:ext uri="{FF2B5EF4-FFF2-40B4-BE49-F238E27FC236}">
                <a16:creationId xmlns:a16="http://schemas.microsoft.com/office/drawing/2014/main" id="{9A120AB3-E018-9194-018C-D37A2411A80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5D2BB64E-5E75-8CE3-1F4E-C205FA62CFB6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8F0BE2FD-0F30-0ACE-D277-9221F6C6C4B9}"/>
              </a:ext>
            </a:extLst>
          </p:cNvPr>
          <p:cNvSpPr txBox="1">
            <a:spLocks/>
          </p:cNvSpPr>
          <p:nvPr/>
        </p:nvSpPr>
        <p:spPr>
          <a:xfrm>
            <a:off x="5408184" y="177722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אישור הדוחות הכספיים על ידי ההנהלה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92B2550B-394A-2D4B-3529-7206FB529648}"/>
              </a:ext>
            </a:extLst>
          </p:cNvPr>
          <p:cNvSpPr txBox="1">
            <a:spLocks/>
          </p:cNvSpPr>
          <p:nvPr/>
        </p:nvSpPr>
        <p:spPr>
          <a:xfrm>
            <a:off x="2943219" y="3755480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ביקורת דוחות כספיים</a:t>
            </a:r>
          </a:p>
        </p:txBody>
      </p:sp>
      <p:pic>
        <p:nvPicPr>
          <p:cNvPr id="17" name="גרפיקה 3" descr="ספר פתוח">
            <a:extLst>
              <a:ext uri="{FF2B5EF4-FFF2-40B4-BE49-F238E27FC236}">
                <a16:creationId xmlns:a16="http://schemas.microsoft.com/office/drawing/2014/main" id="{E4724372-861B-6EA7-47D1-667E27A2A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19" name="גרפיקה 6" descr="עיפרון">
            <a:extLst>
              <a:ext uri="{FF2B5EF4-FFF2-40B4-BE49-F238E27FC236}">
                <a16:creationId xmlns:a16="http://schemas.microsoft.com/office/drawing/2014/main" id="{7CDC0B98-8D84-9E8F-E2DC-1EB83A6F1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  <p:pic>
        <p:nvPicPr>
          <p:cNvPr id="20" name="גרפיקה 26" descr="משתמשים">
            <a:extLst>
              <a:ext uri="{FF2B5EF4-FFF2-40B4-BE49-F238E27FC236}">
                <a16:creationId xmlns:a16="http://schemas.microsoft.com/office/drawing/2014/main" id="{8B9BCC70-F070-C058-5A40-C8041C821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7266" y="3942622"/>
            <a:ext cx="1164274" cy="1164274"/>
          </a:xfrm>
          <a:prstGeom prst="rect">
            <a:avLst/>
          </a:prstGeom>
        </p:spPr>
      </p:pic>
      <p:pic>
        <p:nvPicPr>
          <p:cNvPr id="21" name="תמונה 30">
            <a:extLst>
              <a:ext uri="{FF2B5EF4-FFF2-40B4-BE49-F238E27FC236}">
                <a16:creationId xmlns:a16="http://schemas.microsoft.com/office/drawing/2014/main" id="{AB13B23E-5C02-40B3-800E-284EA052B9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88" y="4862209"/>
            <a:ext cx="658086" cy="658086"/>
          </a:xfrm>
          <a:prstGeom prst="rect">
            <a:avLst/>
          </a:prstGeom>
        </p:spPr>
      </p:pic>
      <p:pic>
        <p:nvPicPr>
          <p:cNvPr id="22" name="תמונה 64">
            <a:extLst>
              <a:ext uri="{FF2B5EF4-FFF2-40B4-BE49-F238E27FC236}">
                <a16:creationId xmlns:a16="http://schemas.microsoft.com/office/drawing/2014/main" id="{50FFFCB9-AFA9-B91E-4A1A-B215BCE163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42" y="2410529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94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B287-D0B0-63B7-7821-E33C3186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30D076A7-C2F3-F085-2614-8B77B2A7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68E77B33-86FC-7DBB-4468-3B8B25278F74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</a:t>
            </a: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49AE82C4-7111-48C4-69A3-32A2A015C6B4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90C35F1A-E2EF-A0AD-89E8-C936CD88D0EC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381F4572-2F07-F2A3-571B-6FDAC2844050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8" name="גרפיקה 2" descr="לחיצת יד">
            <a:extLst>
              <a:ext uri="{FF2B5EF4-FFF2-40B4-BE49-F238E27FC236}">
                <a16:creationId xmlns:a16="http://schemas.microsoft.com/office/drawing/2014/main" id="{A178FED6-1397-57C8-2AC3-F7C9035C3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9" name="גרפיקה 4" descr="כסף">
            <a:extLst>
              <a:ext uri="{FF2B5EF4-FFF2-40B4-BE49-F238E27FC236}">
                <a16:creationId xmlns:a16="http://schemas.microsoft.com/office/drawing/2014/main" id="{368D3ABF-4FBD-A2A7-C2FC-D4DD19A343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3D0B3944-4859-FF8D-596E-5DBD53DC7C48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11" name="גרפיקה 7" descr="מסמך">
            <a:extLst>
              <a:ext uri="{FF2B5EF4-FFF2-40B4-BE49-F238E27FC236}">
                <a16:creationId xmlns:a16="http://schemas.microsoft.com/office/drawing/2014/main" id="{32E061CE-7A05-5E61-EDE5-91D5EBBE4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2" name="תמונה 15">
            <a:extLst>
              <a:ext uri="{FF2B5EF4-FFF2-40B4-BE49-F238E27FC236}">
                <a16:creationId xmlns:a16="http://schemas.microsoft.com/office/drawing/2014/main" id="{8E848E9E-AB85-6FF5-B7D2-35529ABAFD2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3" name="תמונה 18">
            <a:extLst>
              <a:ext uri="{FF2B5EF4-FFF2-40B4-BE49-F238E27FC236}">
                <a16:creationId xmlns:a16="http://schemas.microsoft.com/office/drawing/2014/main" id="{DF9AECAA-B6D0-A977-3A9E-0F815B818F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4" name="תמונה 19">
            <a:extLst>
              <a:ext uri="{FF2B5EF4-FFF2-40B4-BE49-F238E27FC236}">
                <a16:creationId xmlns:a16="http://schemas.microsoft.com/office/drawing/2014/main" id="{4ACB159A-14B8-B917-1F91-9D3BB1E59E7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647892" y="3326490"/>
            <a:ext cx="747917" cy="848893"/>
          </a:xfrm>
          <a:prstGeom prst="rect">
            <a:avLst/>
          </a:prstGeom>
        </p:spPr>
      </p:pic>
      <p:pic>
        <p:nvPicPr>
          <p:cNvPr id="15" name="תמונה 20">
            <a:extLst>
              <a:ext uri="{FF2B5EF4-FFF2-40B4-BE49-F238E27FC236}">
                <a16:creationId xmlns:a16="http://schemas.microsoft.com/office/drawing/2014/main" id="{69E761D5-6BA6-3957-46AA-45AF47F331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FD401A5F-7845-5B1A-B966-6C9A0F839ECC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sp>
        <p:nvSpPr>
          <p:cNvPr id="17" name="כותרת משנה 2">
            <a:extLst>
              <a:ext uri="{FF2B5EF4-FFF2-40B4-BE49-F238E27FC236}">
                <a16:creationId xmlns:a16="http://schemas.microsoft.com/office/drawing/2014/main" id="{3B7C8D10-A86E-3872-FEE1-7C47072E4B61}"/>
              </a:ext>
            </a:extLst>
          </p:cNvPr>
          <p:cNvSpPr txBox="1">
            <a:spLocks/>
          </p:cNvSpPr>
          <p:nvPr/>
        </p:nvSpPr>
        <p:spPr>
          <a:xfrm>
            <a:off x="5408184" y="177722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אישור הדוחות הכספיים על ידי ההנהלה</a:t>
            </a:r>
          </a:p>
        </p:txBody>
      </p:sp>
      <p:sp>
        <p:nvSpPr>
          <p:cNvPr id="19" name="כותרת משנה 2">
            <a:extLst>
              <a:ext uri="{FF2B5EF4-FFF2-40B4-BE49-F238E27FC236}">
                <a16:creationId xmlns:a16="http://schemas.microsoft.com/office/drawing/2014/main" id="{111E70CB-4E82-15ED-DB1C-067C9F060FBC}"/>
              </a:ext>
            </a:extLst>
          </p:cNvPr>
          <p:cNvSpPr txBox="1">
            <a:spLocks/>
          </p:cNvSpPr>
          <p:nvPr/>
        </p:nvSpPr>
        <p:spPr>
          <a:xfrm>
            <a:off x="2943219" y="3755480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ביקורת דוחות כספיים</a:t>
            </a:r>
          </a:p>
        </p:txBody>
      </p:sp>
      <p:pic>
        <p:nvPicPr>
          <p:cNvPr id="20" name="גרפיקה 3" descr="ספר פתוח">
            <a:extLst>
              <a:ext uri="{FF2B5EF4-FFF2-40B4-BE49-F238E27FC236}">
                <a16:creationId xmlns:a16="http://schemas.microsoft.com/office/drawing/2014/main" id="{3E2C8504-8FC0-3B73-4E54-F3DC37161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21" name="גרפיקה 6" descr="עיפרון">
            <a:extLst>
              <a:ext uri="{FF2B5EF4-FFF2-40B4-BE49-F238E27FC236}">
                <a16:creationId xmlns:a16="http://schemas.microsoft.com/office/drawing/2014/main" id="{E44E2B3E-9A2A-025F-C517-897BB8952E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  <p:pic>
        <p:nvPicPr>
          <p:cNvPr id="22" name="גרפיקה 26" descr="משתמשים">
            <a:extLst>
              <a:ext uri="{FF2B5EF4-FFF2-40B4-BE49-F238E27FC236}">
                <a16:creationId xmlns:a16="http://schemas.microsoft.com/office/drawing/2014/main" id="{B9A121EE-7B6D-BF6D-8BB6-A6D9FB058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7266" y="3942622"/>
            <a:ext cx="1164274" cy="1164274"/>
          </a:xfrm>
          <a:prstGeom prst="rect">
            <a:avLst/>
          </a:prstGeom>
        </p:spPr>
      </p:pic>
      <p:pic>
        <p:nvPicPr>
          <p:cNvPr id="23" name="תמונה 30">
            <a:extLst>
              <a:ext uri="{FF2B5EF4-FFF2-40B4-BE49-F238E27FC236}">
                <a16:creationId xmlns:a16="http://schemas.microsoft.com/office/drawing/2014/main" id="{D9ED1016-2C22-0BD8-A36B-237777A457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88" y="4862209"/>
            <a:ext cx="658086" cy="658086"/>
          </a:xfrm>
          <a:prstGeom prst="rect">
            <a:avLst/>
          </a:prstGeom>
        </p:spPr>
      </p:pic>
      <p:pic>
        <p:nvPicPr>
          <p:cNvPr id="24" name="תמונה 64">
            <a:extLst>
              <a:ext uri="{FF2B5EF4-FFF2-40B4-BE49-F238E27FC236}">
                <a16:creationId xmlns:a16="http://schemas.microsoft.com/office/drawing/2014/main" id="{DF4A6006-F014-3462-9AD6-EB37598205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42" y="2410529"/>
            <a:ext cx="1155700" cy="1155700"/>
          </a:xfrm>
          <a:prstGeom prst="rect">
            <a:avLst/>
          </a:prstGeom>
        </p:spPr>
      </p:pic>
      <p:sp>
        <p:nvSpPr>
          <p:cNvPr id="25" name="מלבן 24">
            <a:extLst>
              <a:ext uri="{FF2B5EF4-FFF2-40B4-BE49-F238E27FC236}">
                <a16:creationId xmlns:a16="http://schemas.microsoft.com/office/drawing/2014/main" id="{509224AC-4D17-C302-51E5-31F609673FE3}"/>
              </a:ext>
            </a:extLst>
          </p:cNvPr>
          <p:cNvSpPr/>
          <p:nvPr/>
        </p:nvSpPr>
        <p:spPr>
          <a:xfrm>
            <a:off x="-6227" y="-13467"/>
            <a:ext cx="12198227" cy="1003676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מלבן 27">
            <a:extLst>
              <a:ext uri="{FF2B5EF4-FFF2-40B4-BE49-F238E27FC236}">
                <a16:creationId xmlns:a16="http://schemas.microsoft.com/office/drawing/2014/main" id="{460F3FDF-67A2-E34C-DC19-2CE420981B8C}"/>
              </a:ext>
            </a:extLst>
          </p:cNvPr>
          <p:cNvSpPr/>
          <p:nvPr/>
        </p:nvSpPr>
        <p:spPr>
          <a:xfrm>
            <a:off x="-6227" y="990209"/>
            <a:ext cx="3041822" cy="5867791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מלבן 28">
            <a:extLst>
              <a:ext uri="{FF2B5EF4-FFF2-40B4-BE49-F238E27FC236}">
                <a16:creationId xmlns:a16="http://schemas.microsoft.com/office/drawing/2014/main" id="{2BB0720C-399F-32FB-654E-ECA1A439F742}"/>
              </a:ext>
            </a:extLst>
          </p:cNvPr>
          <p:cNvSpPr/>
          <p:nvPr/>
        </p:nvSpPr>
        <p:spPr>
          <a:xfrm>
            <a:off x="3035595" y="5177453"/>
            <a:ext cx="9156405" cy="1648378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מלבן 29">
            <a:extLst>
              <a:ext uri="{FF2B5EF4-FFF2-40B4-BE49-F238E27FC236}">
                <a16:creationId xmlns:a16="http://schemas.microsoft.com/office/drawing/2014/main" id="{448AB985-50C8-9F00-4423-4CBC961EF2E2}"/>
              </a:ext>
            </a:extLst>
          </p:cNvPr>
          <p:cNvSpPr/>
          <p:nvPr/>
        </p:nvSpPr>
        <p:spPr>
          <a:xfrm>
            <a:off x="4597405" y="990209"/>
            <a:ext cx="7594596" cy="418975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כותרת משנה 2">
            <a:extLst>
              <a:ext uri="{FF2B5EF4-FFF2-40B4-BE49-F238E27FC236}">
                <a16:creationId xmlns:a16="http://schemas.microsoft.com/office/drawing/2014/main" id="{AF3ECB9E-F7D3-8781-732D-71433B81E640}"/>
              </a:ext>
            </a:extLst>
          </p:cNvPr>
          <p:cNvSpPr txBox="1">
            <a:spLocks/>
          </p:cNvSpPr>
          <p:nvPr/>
        </p:nvSpPr>
        <p:spPr>
          <a:xfrm>
            <a:off x="2870527" y="1019867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החשבון:</a:t>
            </a:r>
          </a:p>
        </p:txBody>
      </p:sp>
    </p:spTree>
    <p:extLst>
      <p:ext uri="{BB962C8B-B14F-4D97-AF65-F5344CB8AC3E}">
        <p14:creationId xmlns:p14="http://schemas.microsoft.com/office/powerpoint/2010/main" val="1304351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DF3A-C8AC-CD80-1BD6-2EBC09B4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AA0720CD-1994-D901-6A7C-A9033EA2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C4FC5E3-BF7E-B112-E85F-98D33904E466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תפקיד רואה החשבון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118A39E-D481-1779-D098-42DEC1E68868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BEEA718D-05D1-8EDC-8CC3-4E7265492030}"/>
              </a:ext>
            </a:extLst>
          </p:cNvPr>
          <p:cNvSpPr txBox="1">
            <a:spLocks/>
          </p:cNvSpPr>
          <p:nvPr/>
        </p:nvSpPr>
        <p:spPr>
          <a:xfrm>
            <a:off x="4800600" y="1493709"/>
            <a:ext cx="669607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כמובן שישנם עיסוקים נלווים לבעלי השכלה פיננסית וביניהם גם רואי חשבון:</a:t>
            </a:r>
            <a:endParaRPr lang="he-IL" sz="2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CB0FC27B-9FA8-D4BE-0932-6E77412BDCFB}"/>
              </a:ext>
            </a:extLst>
          </p:cNvPr>
          <p:cNvSpPr txBox="1">
            <a:spLocks/>
          </p:cNvSpPr>
          <p:nvPr/>
        </p:nvSpPr>
        <p:spPr>
          <a:xfrm>
            <a:off x="5723545" y="455960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ייעוץ מס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D339A42F-09A1-0702-C74D-84E3EF5CE192}"/>
              </a:ext>
            </a:extLst>
          </p:cNvPr>
          <p:cNvSpPr txBox="1">
            <a:spLocks/>
          </p:cNvSpPr>
          <p:nvPr/>
        </p:nvSpPr>
        <p:spPr>
          <a:xfrm>
            <a:off x="7795405" y="5000554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ייעוץ כלכלי ואסטרטגי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BBEB2013-4F03-99AD-D0FE-763A8C7F1517}"/>
              </a:ext>
            </a:extLst>
          </p:cNvPr>
          <p:cNvSpPr txBox="1">
            <a:spLocks/>
          </p:cNvSpPr>
          <p:nvPr/>
        </p:nvSpPr>
        <p:spPr>
          <a:xfrm>
            <a:off x="7573332" y="2633424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הערכות שווי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D79E1741-CB56-17FC-9100-906488A3B9B1}"/>
              </a:ext>
            </a:extLst>
          </p:cNvPr>
          <p:cNvSpPr txBox="1">
            <a:spLocks/>
          </p:cNvSpPr>
          <p:nvPr/>
        </p:nvSpPr>
        <p:spPr>
          <a:xfrm>
            <a:off x="4589211" y="258040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חשבות וניהול כספים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93EEC18B-C4E1-1B29-576E-8330D6E49987}"/>
              </a:ext>
            </a:extLst>
          </p:cNvPr>
          <p:cNvSpPr txBox="1">
            <a:spLocks/>
          </p:cNvSpPr>
          <p:nvPr/>
        </p:nvSpPr>
        <p:spPr>
          <a:xfrm>
            <a:off x="3630538" y="463558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תקצוב ותמחיר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99DB5899-20B1-38C4-75FB-7037FF5BB61C}"/>
              </a:ext>
            </a:extLst>
          </p:cNvPr>
          <p:cNvSpPr txBox="1">
            <a:spLocks/>
          </p:cNvSpPr>
          <p:nvPr/>
        </p:nvSpPr>
        <p:spPr>
          <a:xfrm>
            <a:off x="2363612" y="299420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רגולציה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2F9068A5-D972-1460-B422-B0F661E52B23}"/>
              </a:ext>
            </a:extLst>
          </p:cNvPr>
          <p:cNvSpPr txBox="1">
            <a:spLocks/>
          </p:cNvSpPr>
          <p:nvPr/>
        </p:nvSpPr>
        <p:spPr>
          <a:xfrm>
            <a:off x="1096686" y="1352814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ניהול בכיר (דירקטוריון)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D8919D84-7E92-F112-F5FC-949B815CCD4C}"/>
              </a:ext>
            </a:extLst>
          </p:cNvPr>
          <p:cNvSpPr txBox="1">
            <a:spLocks/>
          </p:cNvSpPr>
          <p:nvPr/>
        </p:nvSpPr>
        <p:spPr>
          <a:xfrm>
            <a:off x="690311" y="3958445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ייעוץ חשבונאי</a:t>
            </a:r>
          </a:p>
        </p:txBody>
      </p:sp>
      <p:pic>
        <p:nvPicPr>
          <p:cNvPr id="13" name="תמונה 5">
            <a:extLst>
              <a:ext uri="{FF2B5EF4-FFF2-40B4-BE49-F238E27FC236}">
                <a16:creationId xmlns:a16="http://schemas.microsoft.com/office/drawing/2014/main" id="{7FD99D70-B33C-3D1A-4E6A-D1C8557D4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031" y="2622577"/>
            <a:ext cx="2027670" cy="20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64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82F1-DA09-5C96-A717-2CBAC5DC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E7D853AE-67B2-67FE-F326-F1F6392B8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0A819A1-E398-2A35-C977-B61C8F9A1581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B724FAE-86C5-C06E-B99B-69BA65D2F4DA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F6A29DF0-F2AC-FFBF-1BBE-3ECF954485D9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D4F55E68-693D-044A-3A45-54649562CBB9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5D969C26-83FC-22B5-3013-CE17B46F34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8F73BEC9-8EE1-D6F1-3308-0AFC43AAD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0DBE44D1-C5A2-6B57-557D-C720F7151395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49B4A1C2-F2F5-B8B1-D3C9-748ABD97C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5">
            <a:extLst>
              <a:ext uri="{FF2B5EF4-FFF2-40B4-BE49-F238E27FC236}">
                <a16:creationId xmlns:a16="http://schemas.microsoft.com/office/drawing/2014/main" id="{F4D31D48-90D2-4F90-B212-1EC9E9359F9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1" name="תמונה 18">
            <a:extLst>
              <a:ext uri="{FF2B5EF4-FFF2-40B4-BE49-F238E27FC236}">
                <a16:creationId xmlns:a16="http://schemas.microsoft.com/office/drawing/2014/main" id="{EB53BB72-8CB9-CA15-E505-B10FD3032FC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2" name="תמונה 19">
            <a:extLst>
              <a:ext uri="{FF2B5EF4-FFF2-40B4-BE49-F238E27FC236}">
                <a16:creationId xmlns:a16="http://schemas.microsoft.com/office/drawing/2014/main" id="{DC242F5E-BA1E-AECA-8607-A9639902B75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647892" y="3326490"/>
            <a:ext cx="747917" cy="848893"/>
          </a:xfrm>
          <a:prstGeom prst="rect">
            <a:avLst/>
          </a:prstGeom>
        </p:spPr>
      </p:pic>
      <p:pic>
        <p:nvPicPr>
          <p:cNvPr id="13" name="תמונה 20">
            <a:extLst>
              <a:ext uri="{FF2B5EF4-FFF2-40B4-BE49-F238E27FC236}">
                <a16:creationId xmlns:a16="http://schemas.microsoft.com/office/drawing/2014/main" id="{D6E6474C-CA4A-4AFA-4B96-01B64E92D56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0CC4A811-B535-632E-AA72-08AA4C462F47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49808AB7-026D-097F-8D25-25DD8E4AC078}"/>
              </a:ext>
            </a:extLst>
          </p:cNvPr>
          <p:cNvSpPr txBox="1">
            <a:spLocks/>
          </p:cNvSpPr>
          <p:nvPr/>
        </p:nvSpPr>
        <p:spPr>
          <a:xfrm>
            <a:off x="5408184" y="177722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אישור הדוחות הכספיים על ידי ההנהלה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4B0931FA-A0EA-233B-D0E0-A09BCD182720}"/>
              </a:ext>
            </a:extLst>
          </p:cNvPr>
          <p:cNvSpPr txBox="1">
            <a:spLocks/>
          </p:cNvSpPr>
          <p:nvPr/>
        </p:nvSpPr>
        <p:spPr>
          <a:xfrm>
            <a:off x="2943219" y="3755480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ביקורת דוחות כספיים</a:t>
            </a:r>
          </a:p>
        </p:txBody>
      </p:sp>
      <p:pic>
        <p:nvPicPr>
          <p:cNvPr id="17" name="גרפיקה 3" descr="ספר פתוח">
            <a:extLst>
              <a:ext uri="{FF2B5EF4-FFF2-40B4-BE49-F238E27FC236}">
                <a16:creationId xmlns:a16="http://schemas.microsoft.com/office/drawing/2014/main" id="{8EC7FD08-E673-90F1-D600-B1D3FC6C3C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19" name="גרפיקה 6" descr="עיפרון">
            <a:extLst>
              <a:ext uri="{FF2B5EF4-FFF2-40B4-BE49-F238E27FC236}">
                <a16:creationId xmlns:a16="http://schemas.microsoft.com/office/drawing/2014/main" id="{ABB9F2CC-5CD8-1363-368B-EA276AB16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  <p:pic>
        <p:nvPicPr>
          <p:cNvPr id="20" name="גרפיקה 26" descr="משתמשים">
            <a:extLst>
              <a:ext uri="{FF2B5EF4-FFF2-40B4-BE49-F238E27FC236}">
                <a16:creationId xmlns:a16="http://schemas.microsoft.com/office/drawing/2014/main" id="{BDC117E8-3593-17F6-464E-FFAF06637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7266" y="3942622"/>
            <a:ext cx="1164274" cy="1164274"/>
          </a:xfrm>
          <a:prstGeom prst="rect">
            <a:avLst/>
          </a:prstGeom>
        </p:spPr>
      </p:pic>
      <p:pic>
        <p:nvPicPr>
          <p:cNvPr id="21" name="תמונה 30">
            <a:extLst>
              <a:ext uri="{FF2B5EF4-FFF2-40B4-BE49-F238E27FC236}">
                <a16:creationId xmlns:a16="http://schemas.microsoft.com/office/drawing/2014/main" id="{90FC6067-855F-65FB-16DB-F6D55950B2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88" y="4862209"/>
            <a:ext cx="658086" cy="658086"/>
          </a:xfrm>
          <a:prstGeom prst="rect">
            <a:avLst/>
          </a:prstGeom>
        </p:spPr>
      </p:pic>
      <p:pic>
        <p:nvPicPr>
          <p:cNvPr id="22" name="תמונה 64">
            <a:extLst>
              <a:ext uri="{FF2B5EF4-FFF2-40B4-BE49-F238E27FC236}">
                <a16:creationId xmlns:a16="http://schemas.microsoft.com/office/drawing/2014/main" id="{8F370F7E-2F0B-3FE0-7D2F-27B39DA6E5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42" y="2410529"/>
            <a:ext cx="1155700" cy="1155700"/>
          </a:xfrm>
          <a:prstGeom prst="rect">
            <a:avLst/>
          </a:prstGeom>
        </p:spPr>
      </p:pic>
      <p:sp>
        <p:nvSpPr>
          <p:cNvPr id="23" name="כותרת משנה 2">
            <a:extLst>
              <a:ext uri="{FF2B5EF4-FFF2-40B4-BE49-F238E27FC236}">
                <a16:creationId xmlns:a16="http://schemas.microsoft.com/office/drawing/2014/main" id="{3880DC09-69A6-6638-57F1-2F19A6A357C3}"/>
              </a:ext>
            </a:extLst>
          </p:cNvPr>
          <p:cNvSpPr txBox="1">
            <a:spLocks/>
          </p:cNvSpPr>
          <p:nvPr/>
        </p:nvSpPr>
        <p:spPr>
          <a:xfrm rot="20759805">
            <a:off x="740177" y="608557"/>
            <a:ext cx="2446633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36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תזכורת...</a:t>
            </a:r>
          </a:p>
        </p:txBody>
      </p:sp>
    </p:spTree>
    <p:extLst>
      <p:ext uri="{BB962C8B-B14F-4D97-AF65-F5344CB8AC3E}">
        <p14:creationId xmlns:p14="http://schemas.microsoft.com/office/powerpoint/2010/main" val="2783969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982BF-2989-27E3-FEB6-EBC752A6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983A9EA7-36FA-BBC7-A00E-282D3CB9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D954BA6-F434-DDA0-E3B6-DC8F8A288DC8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E7AF2FEF-309B-79CC-E2EB-090C7166469A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8EE0330E-F957-7F67-44B1-39B5AE90D35E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52693BA3-8D60-ED91-EC61-4EC66DF2E412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B00363A5-626F-3C6D-8F09-C1FB33342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EC8A514A-3798-B64C-CB2E-6ECD2A41E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6F2B2B3E-BB99-5A78-6EC3-A1B0E5A3A7C4}"/>
              </a:ext>
            </a:extLst>
          </p:cNvPr>
          <p:cNvSpPr txBox="1">
            <a:spLocks/>
          </p:cNvSpPr>
          <p:nvPr/>
        </p:nvSpPr>
        <p:spPr>
          <a:xfrm>
            <a:off x="299141" y="307975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מפורסם דוח כספי לציבור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86E31FC5-884B-75B5-AD0F-F0CCC26877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5">
            <a:extLst>
              <a:ext uri="{FF2B5EF4-FFF2-40B4-BE49-F238E27FC236}">
                <a16:creationId xmlns:a16="http://schemas.microsoft.com/office/drawing/2014/main" id="{7DAD7DAD-B3A3-A05B-CA05-CF44E6195A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1" name="תמונה 18">
            <a:extLst>
              <a:ext uri="{FF2B5EF4-FFF2-40B4-BE49-F238E27FC236}">
                <a16:creationId xmlns:a16="http://schemas.microsoft.com/office/drawing/2014/main" id="{34EE3BE8-3147-7A25-FFD2-3B72B279AD3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2" name="תמונה 19">
            <a:extLst>
              <a:ext uri="{FF2B5EF4-FFF2-40B4-BE49-F238E27FC236}">
                <a16:creationId xmlns:a16="http://schemas.microsoft.com/office/drawing/2014/main" id="{113F16BE-BFE1-3B71-51AC-213492D8C5B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647892" y="3326490"/>
            <a:ext cx="747917" cy="848893"/>
          </a:xfrm>
          <a:prstGeom prst="rect">
            <a:avLst/>
          </a:prstGeom>
        </p:spPr>
      </p:pic>
      <p:pic>
        <p:nvPicPr>
          <p:cNvPr id="13" name="תמונה 20">
            <a:extLst>
              <a:ext uri="{FF2B5EF4-FFF2-40B4-BE49-F238E27FC236}">
                <a16:creationId xmlns:a16="http://schemas.microsoft.com/office/drawing/2014/main" id="{748FB0E7-028E-03FB-C06A-567B5B1A98C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E6BA9C05-62D9-7454-8620-8182F5BD718B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FB372466-ACB8-0D69-1C53-8C4A64BB2D24}"/>
              </a:ext>
            </a:extLst>
          </p:cNvPr>
          <p:cNvSpPr txBox="1">
            <a:spLocks/>
          </p:cNvSpPr>
          <p:nvPr/>
        </p:nvSpPr>
        <p:spPr>
          <a:xfrm>
            <a:off x="5408184" y="177722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אישור הדוחות הכספיים על ידי ההנהלה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28950C31-289E-510D-B4DF-5405434AF923}"/>
              </a:ext>
            </a:extLst>
          </p:cNvPr>
          <p:cNvSpPr txBox="1">
            <a:spLocks/>
          </p:cNvSpPr>
          <p:nvPr/>
        </p:nvSpPr>
        <p:spPr>
          <a:xfrm>
            <a:off x="2943219" y="3755480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ביקורת דוחות כספיים</a:t>
            </a:r>
          </a:p>
        </p:txBody>
      </p:sp>
      <p:pic>
        <p:nvPicPr>
          <p:cNvPr id="17" name="גרפיקה 3" descr="ספר פתוח">
            <a:extLst>
              <a:ext uri="{FF2B5EF4-FFF2-40B4-BE49-F238E27FC236}">
                <a16:creationId xmlns:a16="http://schemas.microsoft.com/office/drawing/2014/main" id="{65C2C13E-1EE7-4F7C-9256-ACDBE96C9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19" name="גרפיקה 6" descr="עיפרון">
            <a:extLst>
              <a:ext uri="{FF2B5EF4-FFF2-40B4-BE49-F238E27FC236}">
                <a16:creationId xmlns:a16="http://schemas.microsoft.com/office/drawing/2014/main" id="{AEC04708-AE0F-C766-91E4-D5DB033454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  <p:pic>
        <p:nvPicPr>
          <p:cNvPr id="20" name="גרפיקה 26" descr="משתמשים">
            <a:extLst>
              <a:ext uri="{FF2B5EF4-FFF2-40B4-BE49-F238E27FC236}">
                <a16:creationId xmlns:a16="http://schemas.microsoft.com/office/drawing/2014/main" id="{D0586F04-26DE-4901-0548-EE8315254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7266" y="3942622"/>
            <a:ext cx="1164274" cy="1164274"/>
          </a:xfrm>
          <a:prstGeom prst="rect">
            <a:avLst/>
          </a:prstGeom>
        </p:spPr>
      </p:pic>
      <p:pic>
        <p:nvPicPr>
          <p:cNvPr id="21" name="תמונה 30">
            <a:extLst>
              <a:ext uri="{FF2B5EF4-FFF2-40B4-BE49-F238E27FC236}">
                <a16:creationId xmlns:a16="http://schemas.microsoft.com/office/drawing/2014/main" id="{84586D17-2EFC-7C03-8FED-FCC79D8EEC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88" y="4862209"/>
            <a:ext cx="658086" cy="658086"/>
          </a:xfrm>
          <a:prstGeom prst="rect">
            <a:avLst/>
          </a:prstGeom>
        </p:spPr>
      </p:pic>
      <p:pic>
        <p:nvPicPr>
          <p:cNvPr id="22" name="תמונה 64">
            <a:extLst>
              <a:ext uri="{FF2B5EF4-FFF2-40B4-BE49-F238E27FC236}">
                <a16:creationId xmlns:a16="http://schemas.microsoft.com/office/drawing/2014/main" id="{693DE4EB-3C9A-3CBB-B88E-1A8B04B1FF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42" y="2410529"/>
            <a:ext cx="1155700" cy="1155700"/>
          </a:xfrm>
          <a:prstGeom prst="rect">
            <a:avLst/>
          </a:prstGeom>
        </p:spPr>
      </p:pic>
      <p:sp>
        <p:nvSpPr>
          <p:cNvPr id="23" name="כותרת משנה 2">
            <a:extLst>
              <a:ext uri="{FF2B5EF4-FFF2-40B4-BE49-F238E27FC236}">
                <a16:creationId xmlns:a16="http://schemas.microsoft.com/office/drawing/2014/main" id="{6184E259-A36B-4C28-CE10-EA8FB3A0A39C}"/>
              </a:ext>
            </a:extLst>
          </p:cNvPr>
          <p:cNvSpPr txBox="1">
            <a:spLocks/>
          </p:cNvSpPr>
          <p:nvPr/>
        </p:nvSpPr>
        <p:spPr>
          <a:xfrm rot="20759805">
            <a:off x="740177" y="608557"/>
            <a:ext cx="2446633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36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תזכורת...</a:t>
            </a:r>
          </a:p>
        </p:txBody>
      </p:sp>
      <p:sp>
        <p:nvSpPr>
          <p:cNvPr id="24" name="מלבן 27">
            <a:extLst>
              <a:ext uri="{FF2B5EF4-FFF2-40B4-BE49-F238E27FC236}">
                <a16:creationId xmlns:a16="http://schemas.microsoft.com/office/drawing/2014/main" id="{3EE581F8-D7BA-EA8B-31CE-949F5621BCA1}"/>
              </a:ext>
            </a:extLst>
          </p:cNvPr>
          <p:cNvSpPr/>
          <p:nvPr/>
        </p:nvSpPr>
        <p:spPr>
          <a:xfrm>
            <a:off x="0" y="-6838"/>
            <a:ext cx="12192000" cy="2108391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מלבן 28">
            <a:extLst>
              <a:ext uri="{FF2B5EF4-FFF2-40B4-BE49-F238E27FC236}">
                <a16:creationId xmlns:a16="http://schemas.microsoft.com/office/drawing/2014/main" id="{DE748436-D276-42B2-3214-B8C01CA40589}"/>
              </a:ext>
            </a:extLst>
          </p:cNvPr>
          <p:cNvSpPr/>
          <p:nvPr/>
        </p:nvSpPr>
        <p:spPr>
          <a:xfrm>
            <a:off x="0" y="2092555"/>
            <a:ext cx="7794849" cy="476544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מלבן 29">
            <a:extLst>
              <a:ext uri="{FF2B5EF4-FFF2-40B4-BE49-F238E27FC236}">
                <a16:creationId xmlns:a16="http://schemas.microsoft.com/office/drawing/2014/main" id="{B242F2CE-D67A-B44C-25C5-B994BCBB3C13}"/>
              </a:ext>
            </a:extLst>
          </p:cNvPr>
          <p:cNvSpPr/>
          <p:nvPr/>
        </p:nvSpPr>
        <p:spPr>
          <a:xfrm>
            <a:off x="7794849" y="5747067"/>
            <a:ext cx="4397151" cy="1110933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מלבן 31">
            <a:extLst>
              <a:ext uri="{FF2B5EF4-FFF2-40B4-BE49-F238E27FC236}">
                <a16:creationId xmlns:a16="http://schemas.microsoft.com/office/drawing/2014/main" id="{AF9D9ECA-767A-52FD-A701-C1CC7AC45519}"/>
              </a:ext>
            </a:extLst>
          </p:cNvPr>
          <p:cNvSpPr/>
          <p:nvPr/>
        </p:nvSpPr>
        <p:spPr>
          <a:xfrm>
            <a:off x="9613605" y="2823107"/>
            <a:ext cx="2578395" cy="2923957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כותרת משנה 2">
            <a:extLst>
              <a:ext uri="{FF2B5EF4-FFF2-40B4-BE49-F238E27FC236}">
                <a16:creationId xmlns:a16="http://schemas.microsoft.com/office/drawing/2014/main" id="{6BF92389-5FE2-A021-3ABA-26675EB5D3B2}"/>
              </a:ext>
            </a:extLst>
          </p:cNvPr>
          <p:cNvSpPr txBox="1">
            <a:spLocks/>
          </p:cNvSpPr>
          <p:nvPr/>
        </p:nvSpPr>
        <p:spPr>
          <a:xfrm>
            <a:off x="9550400" y="2204758"/>
            <a:ext cx="257839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הקורס שלנו:</a:t>
            </a:r>
          </a:p>
        </p:txBody>
      </p:sp>
    </p:spTree>
    <p:extLst>
      <p:ext uri="{BB962C8B-B14F-4D97-AF65-F5344CB8AC3E}">
        <p14:creationId xmlns:p14="http://schemas.microsoft.com/office/powerpoint/2010/main" val="1498499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3D20-BF0B-53AC-8691-5ABC2971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4054356B-7AA1-B2E8-E38D-7578EC07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FF3455D-970E-7821-495F-CC28802E8FB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0FBE9071-404A-1D07-359D-B87422270C94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779F96C2-22DC-C35C-E981-EA551528C738}"/>
              </a:ext>
            </a:extLst>
          </p:cNvPr>
          <p:cNvSpPr txBox="1">
            <a:spLocks/>
          </p:cNvSpPr>
          <p:nvPr/>
        </p:nvSpPr>
        <p:spPr>
          <a:xfrm>
            <a:off x="5684838" y="1493709"/>
            <a:ext cx="58118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רצף הדיווח החשבונאי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5A6FDFEA-9104-9FED-F9E9-05D09049A70E}"/>
              </a:ext>
            </a:extLst>
          </p:cNvPr>
          <p:cNvSpPr txBox="1">
            <a:spLocks/>
          </p:cNvSpPr>
          <p:nvPr/>
        </p:nvSpPr>
        <p:spPr>
          <a:xfrm>
            <a:off x="7753232" y="3540369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בהנהלת החשבונות והפקה של דוח כספי</a:t>
            </a:r>
          </a:p>
        </p:txBody>
      </p:sp>
      <p:pic>
        <p:nvPicPr>
          <p:cNvPr id="6" name="גרפיקה 2" descr="לחיצת יד">
            <a:extLst>
              <a:ext uri="{FF2B5EF4-FFF2-40B4-BE49-F238E27FC236}">
                <a16:creationId xmlns:a16="http://schemas.microsoft.com/office/drawing/2014/main" id="{3DE1A619-89E9-9EB7-0234-6B6BF8ABC9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4235906"/>
            <a:ext cx="914400" cy="914400"/>
          </a:xfrm>
          <a:prstGeom prst="rect">
            <a:avLst/>
          </a:prstGeom>
        </p:spPr>
      </p:pic>
      <p:pic>
        <p:nvPicPr>
          <p:cNvPr id="7" name="גרפיקה 4" descr="כסף">
            <a:extLst>
              <a:ext uri="{FF2B5EF4-FFF2-40B4-BE49-F238E27FC236}">
                <a16:creationId xmlns:a16="http://schemas.microsoft.com/office/drawing/2014/main" id="{CB68AE7F-C298-90C7-CF2B-955E65300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4959980"/>
            <a:ext cx="914400" cy="914400"/>
          </a:xfrm>
          <a:prstGeom prst="rect">
            <a:avLst/>
          </a:prstGeom>
        </p:spPr>
      </p:pic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3314C7F3-2D4E-B212-F877-9122D8BBADBE}"/>
              </a:ext>
            </a:extLst>
          </p:cNvPr>
          <p:cNvSpPr txBox="1">
            <a:spLocks/>
          </p:cNvSpPr>
          <p:nvPr/>
        </p:nvSpPr>
        <p:spPr>
          <a:xfrm>
            <a:off x="190268" y="3181701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קריאה של דוחות כספיים</a:t>
            </a:r>
          </a:p>
        </p:txBody>
      </p:sp>
      <p:pic>
        <p:nvPicPr>
          <p:cNvPr id="9" name="גרפיקה 7" descr="מסמך">
            <a:extLst>
              <a:ext uri="{FF2B5EF4-FFF2-40B4-BE49-F238E27FC236}">
                <a16:creationId xmlns:a16="http://schemas.microsoft.com/office/drawing/2014/main" id="{ACEFD7ED-C1C5-9C31-125B-D8253E586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72456"/>
            <a:ext cx="1155700" cy="1155700"/>
          </a:xfrm>
          <a:prstGeom prst="rect">
            <a:avLst/>
          </a:prstGeom>
        </p:spPr>
      </p:pic>
      <p:pic>
        <p:nvPicPr>
          <p:cNvPr id="10" name="תמונה 15">
            <a:extLst>
              <a:ext uri="{FF2B5EF4-FFF2-40B4-BE49-F238E27FC236}">
                <a16:creationId xmlns:a16="http://schemas.microsoft.com/office/drawing/2014/main" id="{D7022D51-9545-8AB2-4923-0902FAE4243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600888" y="3266141"/>
            <a:ext cx="747917" cy="848893"/>
          </a:xfrm>
          <a:prstGeom prst="rect">
            <a:avLst/>
          </a:prstGeom>
        </p:spPr>
      </p:pic>
      <p:pic>
        <p:nvPicPr>
          <p:cNvPr id="11" name="תמונה 18">
            <a:extLst>
              <a:ext uri="{FF2B5EF4-FFF2-40B4-BE49-F238E27FC236}">
                <a16:creationId xmlns:a16="http://schemas.microsoft.com/office/drawing/2014/main" id="{30DDE27B-D5C1-320C-0D33-F1582D7368F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126397" y="3294736"/>
            <a:ext cx="747917" cy="848893"/>
          </a:xfrm>
          <a:prstGeom prst="rect">
            <a:avLst/>
          </a:prstGeom>
        </p:spPr>
      </p:pic>
      <p:pic>
        <p:nvPicPr>
          <p:cNvPr id="12" name="תמונה 19">
            <a:extLst>
              <a:ext uri="{FF2B5EF4-FFF2-40B4-BE49-F238E27FC236}">
                <a16:creationId xmlns:a16="http://schemas.microsoft.com/office/drawing/2014/main" id="{F5C4EF72-291B-4D67-747A-D1F1E0F8A3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647892" y="3326490"/>
            <a:ext cx="747917" cy="848893"/>
          </a:xfrm>
          <a:prstGeom prst="rect">
            <a:avLst/>
          </a:prstGeom>
        </p:spPr>
      </p:pic>
      <p:pic>
        <p:nvPicPr>
          <p:cNvPr id="13" name="תמונה 20">
            <a:extLst>
              <a:ext uri="{FF2B5EF4-FFF2-40B4-BE49-F238E27FC236}">
                <a16:creationId xmlns:a16="http://schemas.microsoft.com/office/drawing/2014/main" id="{FD094B24-1534-6DEF-1484-D6704D1E54F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2169387" y="3326489"/>
            <a:ext cx="747917" cy="848893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583A9D34-EDA1-75C6-28D5-3DF02675C2E5}"/>
              </a:ext>
            </a:extLst>
          </p:cNvPr>
          <p:cNvSpPr txBox="1">
            <a:spLocks/>
          </p:cNvSpPr>
          <p:nvPr/>
        </p:nvSpPr>
        <p:spPr>
          <a:xfrm>
            <a:off x="10452454" y="3188378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מתרחשות פעולות עסקיות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434CBD2E-FC0C-49BB-9F1B-890CE68FAE6C}"/>
              </a:ext>
            </a:extLst>
          </p:cNvPr>
          <p:cNvSpPr txBox="1">
            <a:spLocks/>
          </p:cNvSpPr>
          <p:nvPr/>
        </p:nvSpPr>
        <p:spPr>
          <a:xfrm>
            <a:off x="5408184" y="1777226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אישור הדוחות הכספיים על ידי ההנהלה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249ADAFC-E0B0-AE1A-1EB7-57A40D45F6CF}"/>
              </a:ext>
            </a:extLst>
          </p:cNvPr>
          <p:cNvSpPr txBox="1">
            <a:spLocks/>
          </p:cNvSpPr>
          <p:nvPr/>
        </p:nvSpPr>
        <p:spPr>
          <a:xfrm>
            <a:off x="2943219" y="3755480"/>
            <a:ext cx="189194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ביקורת דוחות כספיים</a:t>
            </a:r>
          </a:p>
        </p:txBody>
      </p:sp>
      <p:pic>
        <p:nvPicPr>
          <p:cNvPr id="17" name="גרפיקה 3" descr="ספר פתוח">
            <a:extLst>
              <a:ext uri="{FF2B5EF4-FFF2-40B4-BE49-F238E27FC236}">
                <a16:creationId xmlns:a16="http://schemas.microsoft.com/office/drawing/2014/main" id="{7753B913-2C2E-2BBE-2E1D-8FCAE0D980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5" y="2719638"/>
            <a:ext cx="914400" cy="914400"/>
          </a:xfrm>
          <a:prstGeom prst="rect">
            <a:avLst/>
          </a:prstGeom>
        </p:spPr>
      </p:pic>
      <p:pic>
        <p:nvPicPr>
          <p:cNvPr id="19" name="גרפיקה 6" descr="עיפרון">
            <a:extLst>
              <a:ext uri="{FF2B5EF4-FFF2-40B4-BE49-F238E27FC236}">
                <a16:creationId xmlns:a16="http://schemas.microsoft.com/office/drawing/2014/main" id="{DDBE5CC4-772B-F8F2-78B3-3C8697258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205" y="2262438"/>
            <a:ext cx="914400" cy="914400"/>
          </a:xfrm>
          <a:prstGeom prst="rect">
            <a:avLst/>
          </a:prstGeom>
        </p:spPr>
      </p:pic>
      <p:pic>
        <p:nvPicPr>
          <p:cNvPr id="20" name="גרפיקה 26" descr="משתמשים">
            <a:extLst>
              <a:ext uri="{FF2B5EF4-FFF2-40B4-BE49-F238E27FC236}">
                <a16:creationId xmlns:a16="http://schemas.microsoft.com/office/drawing/2014/main" id="{F6F01341-E597-3DD9-1C7D-FEE2590DA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7266" y="3942622"/>
            <a:ext cx="1164274" cy="1164274"/>
          </a:xfrm>
          <a:prstGeom prst="rect">
            <a:avLst/>
          </a:prstGeom>
        </p:spPr>
      </p:pic>
      <p:pic>
        <p:nvPicPr>
          <p:cNvPr id="21" name="תמונה 30">
            <a:extLst>
              <a:ext uri="{FF2B5EF4-FFF2-40B4-BE49-F238E27FC236}">
                <a16:creationId xmlns:a16="http://schemas.microsoft.com/office/drawing/2014/main" id="{B0540C26-2F2C-BFEE-3101-C1FA5E7DD4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88" y="4862209"/>
            <a:ext cx="658086" cy="658086"/>
          </a:xfrm>
          <a:prstGeom prst="rect">
            <a:avLst/>
          </a:prstGeom>
        </p:spPr>
      </p:pic>
      <p:pic>
        <p:nvPicPr>
          <p:cNvPr id="22" name="תמונה 64">
            <a:extLst>
              <a:ext uri="{FF2B5EF4-FFF2-40B4-BE49-F238E27FC236}">
                <a16:creationId xmlns:a16="http://schemas.microsoft.com/office/drawing/2014/main" id="{2526E53D-E3EA-CC6B-5196-0A2C5141ED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42" y="2410529"/>
            <a:ext cx="1155700" cy="1155700"/>
          </a:xfrm>
          <a:prstGeom prst="rect">
            <a:avLst/>
          </a:prstGeom>
        </p:spPr>
      </p:pic>
      <p:sp>
        <p:nvSpPr>
          <p:cNvPr id="23" name="כותרת משנה 2">
            <a:extLst>
              <a:ext uri="{FF2B5EF4-FFF2-40B4-BE49-F238E27FC236}">
                <a16:creationId xmlns:a16="http://schemas.microsoft.com/office/drawing/2014/main" id="{16A867EE-626A-8C59-B49E-3BBB5681CC66}"/>
              </a:ext>
            </a:extLst>
          </p:cNvPr>
          <p:cNvSpPr txBox="1">
            <a:spLocks/>
          </p:cNvSpPr>
          <p:nvPr/>
        </p:nvSpPr>
        <p:spPr>
          <a:xfrm rot="20759805">
            <a:off x="740177" y="608557"/>
            <a:ext cx="2446633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36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תזכורת...</a:t>
            </a:r>
          </a:p>
        </p:txBody>
      </p:sp>
      <p:sp>
        <p:nvSpPr>
          <p:cNvPr id="24" name="מלבן 27">
            <a:extLst>
              <a:ext uri="{FF2B5EF4-FFF2-40B4-BE49-F238E27FC236}">
                <a16:creationId xmlns:a16="http://schemas.microsoft.com/office/drawing/2014/main" id="{20DB7B2C-E812-BB37-CC8E-D2569E9D3EDB}"/>
              </a:ext>
            </a:extLst>
          </p:cNvPr>
          <p:cNvSpPr/>
          <p:nvPr/>
        </p:nvSpPr>
        <p:spPr>
          <a:xfrm>
            <a:off x="0" y="-6838"/>
            <a:ext cx="12192000" cy="2108391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מלבן 28">
            <a:extLst>
              <a:ext uri="{FF2B5EF4-FFF2-40B4-BE49-F238E27FC236}">
                <a16:creationId xmlns:a16="http://schemas.microsoft.com/office/drawing/2014/main" id="{6614328C-7A21-F12F-75D8-D5FAAAD28AD6}"/>
              </a:ext>
            </a:extLst>
          </p:cNvPr>
          <p:cNvSpPr/>
          <p:nvPr/>
        </p:nvSpPr>
        <p:spPr>
          <a:xfrm>
            <a:off x="2191087" y="2092555"/>
            <a:ext cx="5603762" cy="476544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מלבן 29">
            <a:extLst>
              <a:ext uri="{FF2B5EF4-FFF2-40B4-BE49-F238E27FC236}">
                <a16:creationId xmlns:a16="http://schemas.microsoft.com/office/drawing/2014/main" id="{CCD47DFC-6EEC-46DA-97E6-D5815404EB8E}"/>
              </a:ext>
            </a:extLst>
          </p:cNvPr>
          <p:cNvSpPr/>
          <p:nvPr/>
        </p:nvSpPr>
        <p:spPr>
          <a:xfrm>
            <a:off x="7794849" y="5747067"/>
            <a:ext cx="4397151" cy="1110933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מלבן 31">
            <a:extLst>
              <a:ext uri="{FF2B5EF4-FFF2-40B4-BE49-F238E27FC236}">
                <a16:creationId xmlns:a16="http://schemas.microsoft.com/office/drawing/2014/main" id="{F478432D-7109-5400-CCF7-45DFD9A56501}"/>
              </a:ext>
            </a:extLst>
          </p:cNvPr>
          <p:cNvSpPr/>
          <p:nvPr/>
        </p:nvSpPr>
        <p:spPr>
          <a:xfrm>
            <a:off x="9613605" y="2823107"/>
            <a:ext cx="2578395" cy="2923957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כותרת משנה 2">
            <a:extLst>
              <a:ext uri="{FF2B5EF4-FFF2-40B4-BE49-F238E27FC236}">
                <a16:creationId xmlns:a16="http://schemas.microsoft.com/office/drawing/2014/main" id="{F5DE30F7-0070-2B17-370D-7B2B3B678755}"/>
              </a:ext>
            </a:extLst>
          </p:cNvPr>
          <p:cNvSpPr txBox="1">
            <a:spLocks/>
          </p:cNvSpPr>
          <p:nvPr/>
        </p:nvSpPr>
        <p:spPr>
          <a:xfrm>
            <a:off x="9550400" y="2204758"/>
            <a:ext cx="257839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הקורס שלנו:</a:t>
            </a:r>
          </a:p>
        </p:txBody>
      </p:sp>
      <p:sp>
        <p:nvSpPr>
          <p:cNvPr id="29" name="כותרת משנה 2">
            <a:extLst>
              <a:ext uri="{FF2B5EF4-FFF2-40B4-BE49-F238E27FC236}">
                <a16:creationId xmlns:a16="http://schemas.microsoft.com/office/drawing/2014/main" id="{8EC497FC-80ED-8EAD-CE4B-2FCAD784E233}"/>
              </a:ext>
            </a:extLst>
          </p:cNvPr>
          <p:cNvSpPr txBox="1">
            <a:spLocks/>
          </p:cNvSpPr>
          <p:nvPr/>
        </p:nvSpPr>
        <p:spPr>
          <a:xfrm>
            <a:off x="-26806" y="2197882"/>
            <a:ext cx="2282439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ובסוף נדבר גם על:</a:t>
            </a:r>
          </a:p>
        </p:txBody>
      </p:sp>
    </p:spTree>
    <p:extLst>
      <p:ext uri="{BB962C8B-B14F-4D97-AF65-F5344CB8AC3E}">
        <p14:creationId xmlns:p14="http://schemas.microsoft.com/office/powerpoint/2010/main" val="1180219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097F-5BCD-7101-1951-8C237FD8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949CBCD1-D0B9-DDB1-D313-97408553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26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10A6B82-7EDC-0955-E144-8E9D9A68D910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B3FA671A-329C-8BE3-533B-C016C5CC817E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D4DEC37F-957A-0EC3-3F91-E7CD5501FF4F}"/>
              </a:ext>
            </a:extLst>
          </p:cNvPr>
          <p:cNvSpPr txBox="1">
            <a:spLocks/>
          </p:cNvSpPr>
          <p:nvPr/>
        </p:nvSpPr>
        <p:spPr>
          <a:xfrm>
            <a:off x="927100" y="1493709"/>
            <a:ext cx="1056957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על מנת להבין לעומק את כללי הדיווח החשבונאי, עלינו תחילה להתמקד באופן הרישום של פעולות במערכות החשבונאיות.</a:t>
            </a:r>
          </a:p>
        </p:txBody>
      </p:sp>
      <p:pic>
        <p:nvPicPr>
          <p:cNvPr id="5" name="תמונה 32">
            <a:extLst>
              <a:ext uri="{FF2B5EF4-FFF2-40B4-BE49-F238E27FC236}">
                <a16:creationId xmlns:a16="http://schemas.microsoft.com/office/drawing/2014/main" id="{4FEEC927-20B2-B862-07AE-4B317F93CF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>
            <a:off x="5837928" y="2547878"/>
            <a:ext cx="747917" cy="848893"/>
          </a:xfrm>
          <a:prstGeom prst="rect">
            <a:avLst/>
          </a:prstGeom>
        </p:spPr>
      </p:pic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FBBF8539-2EAB-B0DA-B7CA-FA9D651707CA}"/>
              </a:ext>
            </a:extLst>
          </p:cNvPr>
          <p:cNvSpPr txBox="1">
            <a:spLocks/>
          </p:cNvSpPr>
          <p:nvPr/>
        </p:nvSpPr>
        <p:spPr>
          <a:xfrm>
            <a:off x="858478" y="3461230"/>
            <a:ext cx="1056957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חשבונות!</a:t>
            </a:r>
          </a:p>
        </p:txBody>
      </p:sp>
      <p:pic>
        <p:nvPicPr>
          <p:cNvPr id="7" name="תמונה 5">
            <a:extLst>
              <a:ext uri="{FF2B5EF4-FFF2-40B4-BE49-F238E27FC236}">
                <a16:creationId xmlns:a16="http://schemas.microsoft.com/office/drawing/2014/main" id="{92DAE9B8-C50D-7A25-4CA7-1D888B90C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78" y="3231338"/>
            <a:ext cx="2151504" cy="215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3815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20149</TotalTime>
  <Words>923</Words>
  <Application>Microsoft Macintosh PowerPoint</Application>
  <PresentationFormat>Widescreen</PresentationFormat>
  <Paragraphs>227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Segoe UI Light</vt:lpstr>
      <vt:lpstr>ערכת נושא Office</vt:lpstr>
      <vt:lpstr>יסודות החשבונאות 10280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מסים על ההכנסה</dc:title>
  <dc:creator>דימה פנטליס</dc:creator>
  <cp:lastModifiedBy>Dima Fantalis</cp:lastModifiedBy>
  <cp:revision>228</cp:revision>
  <dcterms:created xsi:type="dcterms:W3CDTF">2018-10-16T21:27:06Z</dcterms:created>
  <dcterms:modified xsi:type="dcterms:W3CDTF">2026-09-05T15:19:56Z</dcterms:modified>
</cp:coreProperties>
</file>