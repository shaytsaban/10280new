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92" r:id="rId1"/>
  </p:sldMasterIdLst>
  <p:notesMasterIdLst>
    <p:notesMasterId r:id="rId19"/>
  </p:notesMasterIdLst>
  <p:sldIdLst>
    <p:sldId id="256" r:id="rId2"/>
    <p:sldId id="578" r:id="rId3"/>
    <p:sldId id="579" r:id="rId4"/>
    <p:sldId id="580" r:id="rId5"/>
    <p:sldId id="581" r:id="rId6"/>
    <p:sldId id="582" r:id="rId7"/>
    <p:sldId id="592" r:id="rId8"/>
    <p:sldId id="593" r:id="rId9"/>
    <p:sldId id="594" r:id="rId10"/>
    <p:sldId id="595" r:id="rId11"/>
    <p:sldId id="596" r:id="rId12"/>
    <p:sldId id="597" r:id="rId13"/>
    <p:sldId id="598" r:id="rId14"/>
    <p:sldId id="599" r:id="rId15"/>
    <p:sldId id="600" r:id="rId16"/>
    <p:sldId id="601" r:id="rId17"/>
    <p:sldId id="602" r:id="rId1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orient="horz" pos="3793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02" autoAdjust="0"/>
    <p:restoredTop sz="93915" autoAdjust="0"/>
  </p:normalViewPr>
  <p:slideViewPr>
    <p:cSldViewPr snapToGrid="0">
      <p:cViewPr varScale="1">
        <p:scale>
          <a:sx n="155" d="100"/>
          <a:sy n="155" d="100"/>
        </p:scale>
        <p:origin x="832" y="192"/>
      </p:cViewPr>
      <p:guideLst>
        <p:guide orient="horz" pos="482"/>
        <p:guide pos="7242"/>
        <p:guide pos="211"/>
        <p:guide orient="horz" pos="3793"/>
        <p:guide orient="horz" pos="4065"/>
        <p:guide orient="horz" pos="8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0F80C3D-4427-424E-9722-D57B80968263}" type="datetimeFigureOut">
              <a:rPr lang="he-IL" smtClean="0"/>
              <a:t>כ"ד.אלול.תשפ"ו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BBBC12D-D2F2-4939-AC69-CA0ACD17177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84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6617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0422C-C3A8-AA08-4F2A-049FA5B3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5F7D9-1D3E-84E7-58C7-118F9CB3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95EB3-7E2F-61C9-3C5D-D0AD7CD92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FF7ED-F6E0-5C22-4AF4-B2A2005AB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4962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982A3-1995-4EAF-661F-43A54EBC7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D1E43-9026-CD5D-DCBF-F16C6F75D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00CA3-7F65-3DF8-318A-399557A5A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C39EA-4C95-7245-88E9-513BD8614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5290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36C7-792E-FC53-AF3F-E0870CDB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47285-8B28-C5F8-B80C-5F736C0C5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A702D-57AA-9CAF-FA06-5F86E193F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B1D74-59E0-5001-6628-D28DDFE55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1481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C05BC-DF9A-813D-B9FF-C888BF94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64120-A6C9-488E-75FD-0B58BB9F0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2E2D4-6533-5C73-F008-30A84507A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1011D-DE81-C056-C840-6A28E224A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9283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9D64B-0E0B-F7A6-6E4D-7DA58704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36594-6398-6D7D-3623-F23D78D5A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669F5-7A85-B642-E7B5-A2DFC01C4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1328E-0D65-84A9-435A-67DF9BEEC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0237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9C51-2BCB-03EB-F75A-F4FFA849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DCBC5-E625-ED96-A048-E0116005C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694BC-27F8-929D-2C3C-A51473C35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1B001-661D-91A3-99D8-09168C782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3248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C8D69-BED9-722B-5672-A01F6483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5670D-E30F-CD0B-CB73-5084223B3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E02B8-A4C5-7AC0-92A8-05660D1F2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B8922-0B6D-0327-D4C3-9B028028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9249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34A3-9E77-6930-7DBC-7B540A1A0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47972-6A0F-B67E-C7F7-129207D0B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E4D4B-8B4C-F70B-1B47-03B0F1625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E464F-BF23-3279-43AC-59CB0C092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5693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0B72-EC05-4165-4C03-E4EC704A3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AEC96-01D4-83A4-6AEC-F337FBC3E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4C073-9481-234F-AA10-EB47CC6A8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00B27-368C-463E-E2D6-D2DD484DC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8780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2C485-B0D5-7283-AD30-2C34AE8BC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CEEFD-5082-61CD-D567-885BB0153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CCA9D-8475-7F5C-AD65-EDDAE3263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D280D-D4A0-2869-66D8-AEEBA8135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7008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62B81-75A9-E9E3-A139-28F5A4C7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C01C8-138A-BD46-FC5A-7D2794E62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17A2B-AAA5-C5E7-AAC0-D405DDB2F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BE980-6A48-4A12-202A-BDE37E79C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8351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3569-F284-E721-1EAD-B4C04B69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011AC-618A-701C-91B3-682A8FBC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D5675-0C58-48E4-F02E-821DC668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EE358-B388-6F85-07F6-DC8D5572E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1036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6C2F8-FCDC-6EEB-4A97-67343FC0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D0869-9ED6-66CB-A338-3CFDD44BA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CDD99-FF84-38C6-6095-21ADC0026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D854-910E-181B-DCBB-A4B1DB5E8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1004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F9420-3181-FFEB-4F48-B7A6F7176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CC27A-3EE2-8A2E-AA69-37E229C80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22421-BCDC-AA58-BF52-66C73D768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00F10-979E-E734-006F-E9A30FA61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4466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520F4-7F8B-0974-A9E8-0157E505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AA4A2-2932-95BB-5B00-727323757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2BC3A-FAD4-47E3-641D-5A54001E2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69812-A95D-59B3-4EED-13354E2C5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81664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013EF-9190-FC4B-8CAC-7B795B36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5BD52-7236-BBDE-4B02-3CC3B14F6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BA92D-AB34-4E87-2A79-C0323A3CC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D25B4-45EC-4920-80E7-985C64E6C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894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80B9C5-B38B-4AF6-88B2-C93C34D31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6E71AC1-ABB4-4516-AEF7-51492BFBD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E70E375-2177-4488-BCA9-7B4E54C1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28C2-0F06-4F36-886A-3804D3F77962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F384B0-95D1-4D37-B57B-408DB644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DC20E5-6BF6-4423-8D8D-966B37EB9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634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0F5833-22CC-435F-BEA1-AF8085FC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F8480D-0D0E-4583-982B-27D7D937D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FC8D696-CBCE-45F6-91C5-4763C323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1060-047E-4799-9B1E-376DF9501AF9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21F108-21DE-46C8-A0CB-830B4C57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154C54-8C12-41BC-897D-4C717C25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769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D66B81-52E6-491E-ADCE-566B6D10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AB794D7-699C-415C-B232-9186A8EC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EDFEDD-CF0B-40A3-92B1-0742D8D1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B4F7A-478C-478F-A129-B50C513A9D65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FAC21B-A1C3-4492-8268-DB017B66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EB3CEF8-B335-4761-A77E-8E89EF8D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15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9315BC-E298-4FE8-9007-00EFC8AF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A9B19DE-927B-4C23-ADEE-7F2184231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7999C3-605D-47FC-A673-778EA4435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6EC70B7-4CF1-4C1F-8667-108993BE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FE74-9DC4-4460-A8AF-12369A62080D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022FB1E-86F7-4819-8F63-520E091B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8CE15A6-6742-4B17-99D1-60F17CE2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191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966954-05C3-43F9-BA5F-6D34444D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60BC888-DB16-4CDA-AD8B-F23D4E5A3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BB6F1CD-45C1-4DCC-84B6-F6D27BF3F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CA7BE57-5B78-4844-8870-E17347427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3E68953-B9CC-4F05-AE65-4ABF75590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D07E5C7-01D5-4AEB-86BD-7A3991DC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8569-CA94-419E-8FED-D3857FB7C120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3E8D898-EB0F-4AEC-A871-16267267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A9C13EE-91B7-4DD0-9C9E-17FE2400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18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C37D0D-7F72-4FE2-B904-BA1C3FF0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6145B79-9884-42E3-AFE2-BB2D4D75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2ED25-44FA-40AF-A0CE-48D9A5CFC4B7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BAA4183-A8EF-45A7-B4A6-50720621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DB88F70-7D39-4FB5-BD25-F08667FE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663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5D18A7F-D3EF-4845-BA9A-FF29D122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8A85-D523-4934-9BB1-C16CB40C7F61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BE786F1-9DA3-4F66-BD99-58753BD0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5D297AA-FC66-4A4D-A97C-6A49D4B8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568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586B10-471D-4319-AE00-8DAF88E8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F4D7EE1-1D6E-43CF-AC80-C18EFE1E0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7A05C6-21F9-4D6F-B835-CED277186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5118413-8ABD-4A34-96B7-EB27EF26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DDA4-3223-45A6-A4CF-F31B5A57301F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B86180F-9C05-404C-86D1-721223AD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DB15874-FA3D-4E9F-A6FA-85E8A16F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40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E9C88F-DA88-432A-AE9F-549B524A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5FC37BE-B82D-47FF-A27D-27FC45036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4275B3F-B458-4ADA-8CBD-D70A25071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FB4872C-D475-4CF1-8EBD-DD513E8C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3BAA-3D3B-49C0-84B9-4E3C40A53051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962AC37-5D9F-4D2A-973F-9DD1A1B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810D01-EED7-4D48-B2E1-98448D9A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16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D0AD62-FAF3-4CE2-9382-B9A530F4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8B050E7-ABA2-4659-B2BB-CFE82083B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FA3A12-C275-4C64-8A79-B2C6F72E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AEE5-626A-4A95-8287-92698485905B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B2DEDF-1539-475C-A2DA-072ED097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E62C614-81F8-4EF0-8293-E95BC7B2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3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0EC8CEC-D95C-4B2D-A15D-0A19A5D48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06964C0-47A3-468B-B99E-3737CFE62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A00D65-FA93-489D-B04D-ACFEF4C0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239D8-6ACF-437D-AC0F-335C89A03CAD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8D0A5DC-770E-4DFB-B69D-CB98D00E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85E96A-D14D-46B3-9545-25887A92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115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49EFEBF-3302-40B9-9A90-6433ECF3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6C63085-541E-4727-8334-58EA143D2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F8A6766-D0D5-428B-8ED5-809700D5A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C0F1-6FF9-4835-9D06-7FDC9ACA4C0D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FE62F2-5C03-44D7-86F6-7EE3CD707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2813EB-BA3D-4268-8842-5725FB73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19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A782D7-A741-4698-8C4A-B05EE54E4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7953" y="2174180"/>
            <a:ext cx="6276089" cy="893134"/>
          </a:xfrm>
        </p:spPr>
        <p:txBody>
          <a:bodyPr>
            <a:noAutofit/>
          </a:bodyPr>
          <a:lstStyle/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יסודות החשבונאות</a:t>
            </a:r>
            <a:b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10280</a:t>
            </a:r>
          </a:p>
        </p:txBody>
      </p:sp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182E4EF0-5081-4592-9096-B4CA3DA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140FD856-B064-4B1D-BAA1-A713FB07BAF4}"/>
              </a:ext>
            </a:extLst>
          </p:cNvPr>
          <p:cNvSpPr txBox="1">
            <a:spLocks/>
          </p:cNvSpPr>
          <p:nvPr/>
        </p:nvSpPr>
        <p:spPr>
          <a:xfrm>
            <a:off x="2607689" y="4237253"/>
            <a:ext cx="697661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חשבונאי</a:t>
            </a:r>
          </a:p>
        </p:txBody>
      </p:sp>
    </p:spTree>
    <p:extLst>
      <p:ext uri="{BB962C8B-B14F-4D97-AF65-F5344CB8AC3E}">
        <p14:creationId xmlns:p14="http://schemas.microsoft.com/office/powerpoint/2010/main" val="3990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097F-5BCD-7101-1951-8C237FD8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949CBCD1-D0B9-DDB1-D313-97408553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10A6B82-7EDC-0955-E144-8E9D9A68D910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B3FA671A-329C-8BE3-533B-C016C5CC817E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כספי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D4DEC37F-957A-0EC3-3F91-E7CD5501FF4F}"/>
              </a:ext>
            </a:extLst>
          </p:cNvPr>
          <p:cNvSpPr txBox="1">
            <a:spLocks/>
          </p:cNvSpPr>
          <p:nvPr/>
        </p:nvSpPr>
        <p:spPr>
          <a:xfrm>
            <a:off x="927100" y="1493709"/>
            <a:ext cx="10569575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על מנת להבין לעומק את כללי הדיווח החשבונאי, עלינו תחילה להתמקד באופן הרישום של פעולות במערכות החשבונאיות.</a:t>
            </a:r>
          </a:p>
        </p:txBody>
      </p:sp>
      <p:pic>
        <p:nvPicPr>
          <p:cNvPr id="5" name="תמונה 32">
            <a:extLst>
              <a:ext uri="{FF2B5EF4-FFF2-40B4-BE49-F238E27FC236}">
                <a16:creationId xmlns:a16="http://schemas.microsoft.com/office/drawing/2014/main" id="{4FEEC927-20B2-B862-07AE-4B317F93CF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>
            <a:off x="5837928" y="2547878"/>
            <a:ext cx="747917" cy="848893"/>
          </a:xfrm>
          <a:prstGeom prst="rect">
            <a:avLst/>
          </a:prstGeom>
        </p:spPr>
      </p:pic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FBBF8539-2EAB-B0DA-B7CA-FA9D651707CA}"/>
              </a:ext>
            </a:extLst>
          </p:cNvPr>
          <p:cNvSpPr txBox="1">
            <a:spLocks/>
          </p:cNvSpPr>
          <p:nvPr/>
        </p:nvSpPr>
        <p:spPr>
          <a:xfrm>
            <a:off x="858478" y="3461230"/>
            <a:ext cx="10569575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חשבונות!</a:t>
            </a:r>
          </a:p>
        </p:txBody>
      </p:sp>
      <p:pic>
        <p:nvPicPr>
          <p:cNvPr id="7" name="תמונה 5">
            <a:extLst>
              <a:ext uri="{FF2B5EF4-FFF2-40B4-BE49-F238E27FC236}">
                <a16:creationId xmlns:a16="http://schemas.microsoft.com/office/drawing/2014/main" id="{92DAE9B8-C50D-7A25-4CA7-1D888B90C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78" y="3231338"/>
            <a:ext cx="2151504" cy="215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3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76672-AE3D-83D7-1604-2878C084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59CC06BE-C17B-FFC4-6304-F5CB292A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0A4ACCC-7F1B-CC3A-A4D8-042EB20FC598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המצב הכספי (מאזן) – חשבונאות כפולה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EED308CA-6BD2-0351-5B6A-4E5F1CD855A6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80181FCD-867B-DA23-55CA-DFEC221F693B}"/>
              </a:ext>
            </a:extLst>
          </p:cNvPr>
          <p:cNvSpPr txBox="1">
            <a:spLocks/>
          </p:cNvSpPr>
          <p:nvPr/>
        </p:nvSpPr>
        <p:spPr>
          <a:xfrm>
            <a:off x="508000" y="1608076"/>
            <a:ext cx="10988673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הבסיסי ביותר הוא המאזן ששמו המדויק – "הדוח על המצב הכספי".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E71932C1-4F78-03C0-C52C-7B34BF5341C1}"/>
              </a:ext>
            </a:extLst>
          </p:cNvPr>
          <p:cNvSpPr txBox="1">
            <a:spLocks/>
          </p:cNvSpPr>
          <p:nvPr/>
        </p:nvSpPr>
        <p:spPr>
          <a:xfrm>
            <a:off x="927097" y="2307624"/>
            <a:ext cx="10569575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 זה מציג את מצבה הכספי של החברה ליום מסוים (לדוגמה – בדוח שנתי יוצג מאזן ליום 31 בדצמבר של אותה שנה).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2D16CB9A-19DF-FFCD-867A-AE9FD1B310FC}"/>
              </a:ext>
            </a:extLst>
          </p:cNvPr>
          <p:cNvSpPr txBox="1">
            <a:spLocks/>
          </p:cNvSpPr>
          <p:nvPr/>
        </p:nvSpPr>
        <p:spPr>
          <a:xfrm>
            <a:off x="927097" y="3543598"/>
            <a:ext cx="10569575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שיטת החשבונאות הכפולה דורשת שכנגד כל רישום של מספר חיובי ירשם מספר שלילי, כך נוצר מצב בו – "המאזן תמיד מאוזן".</a:t>
            </a:r>
          </a:p>
        </p:txBody>
      </p:sp>
    </p:spTree>
    <p:extLst>
      <p:ext uri="{BB962C8B-B14F-4D97-AF65-F5344CB8AC3E}">
        <p14:creationId xmlns:p14="http://schemas.microsoft.com/office/powerpoint/2010/main" val="3032148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A3FB6-276E-2EE7-13A8-5C49973F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77A2EA89-AE40-56B7-C4CA-DF3E15DC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4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B7BD1D7-3007-5618-0087-D636230C3151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המצב הכספי (מאזן) – חשבונאות כפולה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3C95CEDF-20F4-B4E3-F9BC-0544A27D1DAB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C952E6B0-1C3A-786D-9308-93826DA09EA0}"/>
              </a:ext>
            </a:extLst>
          </p:cNvPr>
          <p:cNvSpPr txBox="1">
            <a:spLocks/>
          </p:cNvSpPr>
          <p:nvPr/>
        </p:nvSpPr>
        <p:spPr>
          <a:xfrm>
            <a:off x="6362700" y="2437143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</a:t>
            </a:r>
          </a:p>
        </p:txBody>
      </p:sp>
      <p:cxnSp>
        <p:nvCxnSpPr>
          <p:cNvPr id="5" name="מחבר ישר 2">
            <a:extLst>
              <a:ext uri="{FF2B5EF4-FFF2-40B4-BE49-F238E27FC236}">
                <a16:creationId xmlns:a16="http://schemas.microsoft.com/office/drawing/2014/main" id="{27BB2BF3-28AB-5A22-8490-3E070FE5A014}"/>
              </a:ext>
            </a:extLst>
          </p:cNvPr>
          <p:cNvCxnSpPr/>
          <p:nvPr/>
        </p:nvCxnSpPr>
        <p:spPr>
          <a:xfrm>
            <a:off x="2692400" y="1942146"/>
            <a:ext cx="70231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מחבר ישר 13">
            <a:extLst>
              <a:ext uri="{FF2B5EF4-FFF2-40B4-BE49-F238E27FC236}">
                <a16:creationId xmlns:a16="http://schemas.microsoft.com/office/drawing/2014/main" id="{60F425B6-34A8-29EC-64E6-C18135C3970C}"/>
              </a:ext>
            </a:extLst>
          </p:cNvPr>
          <p:cNvCxnSpPr>
            <a:cxnSpLocks/>
          </p:cNvCxnSpPr>
          <p:nvPr/>
        </p:nvCxnSpPr>
        <p:spPr>
          <a:xfrm flipV="1">
            <a:off x="6362700" y="1942146"/>
            <a:ext cx="0" cy="21580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D6F8799E-D9AB-6F8E-035E-FE0B5039A85E}"/>
              </a:ext>
            </a:extLst>
          </p:cNvPr>
          <p:cNvSpPr txBox="1">
            <a:spLocks/>
          </p:cNvSpPr>
          <p:nvPr/>
        </p:nvSpPr>
        <p:spPr>
          <a:xfrm>
            <a:off x="2714631" y="2440349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E98266B9-8D8C-6B66-0163-CC78377B8BDD}"/>
              </a:ext>
            </a:extLst>
          </p:cNvPr>
          <p:cNvSpPr txBox="1">
            <a:spLocks/>
          </p:cNvSpPr>
          <p:nvPr/>
        </p:nvSpPr>
        <p:spPr>
          <a:xfrm>
            <a:off x="2714631" y="3429000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</a:t>
            </a:r>
          </a:p>
        </p:txBody>
      </p:sp>
    </p:spTree>
    <p:extLst>
      <p:ext uri="{BB962C8B-B14F-4D97-AF65-F5344CB8AC3E}">
        <p14:creationId xmlns:p14="http://schemas.microsoft.com/office/powerpoint/2010/main" val="2948857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2A7D-C9D3-738E-590A-75BD98D6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5A54B23D-F5B3-3D72-6C9C-BFEDC176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39BF1D2-67AF-29DD-68EF-3A45B9621BEF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המצב הכספי (מאזן) – חשבונאות כפולה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0C1E9EFC-83DD-29B9-BD4A-8447B012ACD3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40B3E458-EE15-8DDC-08AA-AD7D66507954}"/>
              </a:ext>
            </a:extLst>
          </p:cNvPr>
          <p:cNvSpPr txBox="1">
            <a:spLocks/>
          </p:cNvSpPr>
          <p:nvPr/>
        </p:nvSpPr>
        <p:spPr>
          <a:xfrm>
            <a:off x="6362700" y="2437143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</a:t>
            </a:r>
          </a:p>
        </p:txBody>
      </p:sp>
      <p:cxnSp>
        <p:nvCxnSpPr>
          <p:cNvPr id="5" name="מחבר ישר 2">
            <a:extLst>
              <a:ext uri="{FF2B5EF4-FFF2-40B4-BE49-F238E27FC236}">
                <a16:creationId xmlns:a16="http://schemas.microsoft.com/office/drawing/2014/main" id="{53484D2C-0AC0-029C-BE26-D161EC5E2DFB}"/>
              </a:ext>
            </a:extLst>
          </p:cNvPr>
          <p:cNvCxnSpPr/>
          <p:nvPr/>
        </p:nvCxnSpPr>
        <p:spPr>
          <a:xfrm>
            <a:off x="2692400" y="1942146"/>
            <a:ext cx="70231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מחבר ישר 13">
            <a:extLst>
              <a:ext uri="{FF2B5EF4-FFF2-40B4-BE49-F238E27FC236}">
                <a16:creationId xmlns:a16="http://schemas.microsoft.com/office/drawing/2014/main" id="{ED494887-6ED4-8E83-D213-7A148ED333AD}"/>
              </a:ext>
            </a:extLst>
          </p:cNvPr>
          <p:cNvCxnSpPr>
            <a:cxnSpLocks/>
          </p:cNvCxnSpPr>
          <p:nvPr/>
        </p:nvCxnSpPr>
        <p:spPr>
          <a:xfrm flipV="1">
            <a:off x="6362700" y="1942146"/>
            <a:ext cx="0" cy="21580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1033A934-BA6F-8F57-7097-FA7BF5123F46}"/>
              </a:ext>
            </a:extLst>
          </p:cNvPr>
          <p:cNvSpPr txBox="1">
            <a:spLocks/>
          </p:cNvSpPr>
          <p:nvPr/>
        </p:nvSpPr>
        <p:spPr>
          <a:xfrm>
            <a:off x="2714631" y="2440349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8C4468D8-FA33-25B2-44A1-55D9950C4E32}"/>
              </a:ext>
            </a:extLst>
          </p:cNvPr>
          <p:cNvSpPr txBox="1">
            <a:spLocks/>
          </p:cNvSpPr>
          <p:nvPr/>
        </p:nvSpPr>
        <p:spPr>
          <a:xfrm>
            <a:off x="2714631" y="3429000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</a:t>
            </a:r>
          </a:p>
        </p:txBody>
      </p:sp>
      <p:pic>
        <p:nvPicPr>
          <p:cNvPr id="9" name="תמונה 19">
            <a:extLst>
              <a:ext uri="{FF2B5EF4-FFF2-40B4-BE49-F238E27FC236}">
                <a16:creationId xmlns:a16="http://schemas.microsoft.com/office/drawing/2014/main" id="{F5168B21-1889-48AD-A92A-B65584B824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>
            <a:off x="5988741" y="4217532"/>
            <a:ext cx="747917" cy="848893"/>
          </a:xfrm>
          <a:prstGeom prst="rect">
            <a:avLst/>
          </a:prstGeom>
        </p:spPr>
      </p:pic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8F82A1F9-E860-6A0B-828F-7721A36AA6DB}"/>
              </a:ext>
            </a:extLst>
          </p:cNvPr>
          <p:cNvSpPr txBox="1">
            <a:spLocks/>
          </p:cNvSpPr>
          <p:nvPr/>
        </p:nvSpPr>
        <p:spPr>
          <a:xfrm>
            <a:off x="3711320" y="5183771"/>
            <a:ext cx="176758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</a:t>
            </a:r>
          </a:p>
        </p:txBody>
      </p: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39AFB1D1-BF53-D7CD-ADF2-6AD78CA30D8D}"/>
              </a:ext>
            </a:extLst>
          </p:cNvPr>
          <p:cNvSpPr txBox="1">
            <a:spLocks/>
          </p:cNvSpPr>
          <p:nvPr/>
        </p:nvSpPr>
        <p:spPr>
          <a:xfrm>
            <a:off x="5321300" y="5183771"/>
            <a:ext cx="205740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8EEC1D33-660F-38D6-1C41-7F49E654FC9A}"/>
              </a:ext>
            </a:extLst>
          </p:cNvPr>
          <p:cNvSpPr txBox="1">
            <a:spLocks/>
          </p:cNvSpPr>
          <p:nvPr/>
        </p:nvSpPr>
        <p:spPr>
          <a:xfrm>
            <a:off x="7302942" y="5183771"/>
            <a:ext cx="176758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D466E386-6FFA-0620-F8DB-54ABF7B5D00D}"/>
              </a:ext>
            </a:extLst>
          </p:cNvPr>
          <p:cNvSpPr txBox="1">
            <a:spLocks/>
          </p:cNvSpPr>
          <p:nvPr/>
        </p:nvSpPr>
        <p:spPr>
          <a:xfrm>
            <a:off x="6997949" y="5158112"/>
            <a:ext cx="7325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=</a:t>
            </a:r>
          </a:p>
        </p:txBody>
      </p:sp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68114951-2D62-ACE8-5771-AF740DA17DE0}"/>
              </a:ext>
            </a:extLst>
          </p:cNvPr>
          <p:cNvSpPr txBox="1">
            <a:spLocks/>
          </p:cNvSpPr>
          <p:nvPr/>
        </p:nvSpPr>
        <p:spPr>
          <a:xfrm>
            <a:off x="4955031" y="5183771"/>
            <a:ext cx="7325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</a:t>
            </a:r>
          </a:p>
        </p:txBody>
      </p:sp>
      <p:sp>
        <p:nvSpPr>
          <p:cNvPr id="15" name="מלבן: פינות מעוגלות 6">
            <a:extLst>
              <a:ext uri="{FF2B5EF4-FFF2-40B4-BE49-F238E27FC236}">
                <a16:creationId xmlns:a16="http://schemas.microsoft.com/office/drawing/2014/main" id="{5286A151-E1CE-6E8F-F23B-5D885489DCDF}"/>
              </a:ext>
            </a:extLst>
          </p:cNvPr>
          <p:cNvSpPr/>
          <p:nvPr/>
        </p:nvSpPr>
        <p:spPr>
          <a:xfrm>
            <a:off x="3962400" y="5183771"/>
            <a:ext cx="4991100" cy="531229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292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EA70-419F-8A95-D192-11E864DD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0A83BEB7-6E51-8D92-4236-C6E13A04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6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F5F126C-93AF-7E9C-E998-306E4780B8F5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המצב הכספי (מאזן) – חשבונאות כפולה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64A0C4DE-40C9-C9E9-26CA-4A6E71D10589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הנהלת חשבונות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E8F5BB3E-9027-61FA-AA27-6BB6EED75A23}"/>
              </a:ext>
            </a:extLst>
          </p:cNvPr>
          <p:cNvSpPr txBox="1">
            <a:spLocks/>
          </p:cNvSpPr>
          <p:nvPr/>
        </p:nvSpPr>
        <p:spPr>
          <a:xfrm>
            <a:off x="8166100" y="2087888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חובה/זכות?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EDCF8A7C-3F13-359A-BB71-4D9DF700B480}"/>
              </a:ext>
            </a:extLst>
          </p:cNvPr>
          <p:cNvSpPr txBox="1">
            <a:spLocks/>
          </p:cNvSpPr>
          <p:nvPr/>
        </p:nvSpPr>
        <p:spPr>
          <a:xfrm>
            <a:off x="4710558" y="2671927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סימנים?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3405977B-7992-A519-0ADF-0C2F3A0EDB71}"/>
              </a:ext>
            </a:extLst>
          </p:cNvPr>
          <p:cNvSpPr txBox="1">
            <a:spLocks/>
          </p:cNvSpPr>
          <p:nvPr/>
        </p:nvSpPr>
        <p:spPr>
          <a:xfrm>
            <a:off x="1446658" y="3460459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יומן?</a:t>
            </a:r>
          </a:p>
        </p:txBody>
      </p:sp>
    </p:spTree>
    <p:extLst>
      <p:ext uri="{BB962C8B-B14F-4D97-AF65-F5344CB8AC3E}">
        <p14:creationId xmlns:p14="http://schemas.microsoft.com/office/powerpoint/2010/main" val="194933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F5F7-67D5-60FC-E546-64F0AE0A0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E8EAC703-DEAF-CBAC-8C00-A38298E0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7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D8F73383-DE74-E856-E90B-7BAF3000AE9D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המצב הכספי (מאזן)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222EA062-441A-1736-0420-17C726A3F5AA}"/>
              </a:ext>
            </a:extLst>
          </p:cNvPr>
          <p:cNvSpPr txBox="1">
            <a:spLocks/>
          </p:cNvSpPr>
          <p:nvPr/>
        </p:nvSpPr>
        <p:spPr>
          <a:xfrm>
            <a:off x="6350000" y="2526553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</a:t>
            </a:r>
          </a:p>
        </p:txBody>
      </p:sp>
      <p:cxnSp>
        <p:nvCxnSpPr>
          <p:cNvPr id="9" name="מחבר ישר 2">
            <a:extLst>
              <a:ext uri="{FF2B5EF4-FFF2-40B4-BE49-F238E27FC236}">
                <a16:creationId xmlns:a16="http://schemas.microsoft.com/office/drawing/2014/main" id="{95F2CA57-1BA5-C71B-6FA4-43EF08D69F16}"/>
              </a:ext>
            </a:extLst>
          </p:cNvPr>
          <p:cNvCxnSpPr>
            <a:cxnSpLocks/>
          </p:cNvCxnSpPr>
          <p:nvPr/>
        </p:nvCxnSpPr>
        <p:spPr>
          <a:xfrm>
            <a:off x="2584450" y="2437143"/>
            <a:ext cx="70231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מחבר ישר 13">
            <a:extLst>
              <a:ext uri="{FF2B5EF4-FFF2-40B4-BE49-F238E27FC236}">
                <a16:creationId xmlns:a16="http://schemas.microsoft.com/office/drawing/2014/main" id="{8D7D3D34-161D-F142-804F-28927C665197}"/>
              </a:ext>
            </a:extLst>
          </p:cNvPr>
          <p:cNvCxnSpPr>
            <a:cxnSpLocks/>
          </p:cNvCxnSpPr>
          <p:nvPr/>
        </p:nvCxnSpPr>
        <p:spPr>
          <a:xfrm flipV="1">
            <a:off x="6254750" y="2437143"/>
            <a:ext cx="0" cy="14445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320E2E3E-B30E-3FD8-F18D-C7C5FEFE53ED}"/>
              </a:ext>
            </a:extLst>
          </p:cNvPr>
          <p:cNvSpPr txBox="1">
            <a:spLocks/>
          </p:cNvSpPr>
          <p:nvPr/>
        </p:nvSpPr>
        <p:spPr>
          <a:xfrm>
            <a:off x="2714631" y="2554490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27A91B53-9E64-82FC-671C-50A28B0FD47E}"/>
              </a:ext>
            </a:extLst>
          </p:cNvPr>
          <p:cNvSpPr txBox="1">
            <a:spLocks/>
          </p:cNvSpPr>
          <p:nvPr/>
        </p:nvSpPr>
        <p:spPr>
          <a:xfrm>
            <a:off x="2714631" y="3157827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</a:t>
            </a:r>
          </a:p>
        </p:txBody>
      </p:sp>
      <p:pic>
        <p:nvPicPr>
          <p:cNvPr id="13" name="תמונה 19">
            <a:extLst>
              <a:ext uri="{FF2B5EF4-FFF2-40B4-BE49-F238E27FC236}">
                <a16:creationId xmlns:a16="http://schemas.microsoft.com/office/drawing/2014/main" id="{F950D280-1444-F5EF-B16D-FA28DBAE48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>
            <a:off x="5988741" y="4217532"/>
            <a:ext cx="747917" cy="848893"/>
          </a:xfrm>
          <a:prstGeom prst="rect">
            <a:avLst/>
          </a:prstGeom>
        </p:spPr>
      </p:pic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EAFC3597-CA87-1C20-A7F0-33B867C29873}"/>
              </a:ext>
            </a:extLst>
          </p:cNvPr>
          <p:cNvSpPr txBox="1">
            <a:spLocks/>
          </p:cNvSpPr>
          <p:nvPr/>
        </p:nvSpPr>
        <p:spPr>
          <a:xfrm>
            <a:off x="3711320" y="5183771"/>
            <a:ext cx="176758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C56B8B52-91F6-3E12-C986-E10C9E120277}"/>
              </a:ext>
            </a:extLst>
          </p:cNvPr>
          <p:cNvSpPr txBox="1">
            <a:spLocks/>
          </p:cNvSpPr>
          <p:nvPr/>
        </p:nvSpPr>
        <p:spPr>
          <a:xfrm>
            <a:off x="5321300" y="5183771"/>
            <a:ext cx="205740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</a:t>
            </a:r>
          </a:p>
        </p:txBody>
      </p:sp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3926ED67-D9E1-831D-4AAF-7EB33A02B650}"/>
              </a:ext>
            </a:extLst>
          </p:cNvPr>
          <p:cNvSpPr txBox="1">
            <a:spLocks/>
          </p:cNvSpPr>
          <p:nvPr/>
        </p:nvSpPr>
        <p:spPr>
          <a:xfrm>
            <a:off x="7302942" y="5183771"/>
            <a:ext cx="176758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</a:t>
            </a:r>
          </a:p>
        </p:txBody>
      </p:sp>
      <p:sp>
        <p:nvSpPr>
          <p:cNvPr id="17" name="כותרת משנה 2">
            <a:extLst>
              <a:ext uri="{FF2B5EF4-FFF2-40B4-BE49-F238E27FC236}">
                <a16:creationId xmlns:a16="http://schemas.microsoft.com/office/drawing/2014/main" id="{D42B56BA-28D3-F747-53BC-70994BBE5A24}"/>
              </a:ext>
            </a:extLst>
          </p:cNvPr>
          <p:cNvSpPr txBox="1">
            <a:spLocks/>
          </p:cNvSpPr>
          <p:nvPr/>
        </p:nvSpPr>
        <p:spPr>
          <a:xfrm>
            <a:off x="6997949" y="5158112"/>
            <a:ext cx="7325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=</a:t>
            </a:r>
          </a:p>
        </p:txBody>
      </p:sp>
      <p:sp>
        <p:nvSpPr>
          <p:cNvPr id="19" name="כותרת משנה 2">
            <a:extLst>
              <a:ext uri="{FF2B5EF4-FFF2-40B4-BE49-F238E27FC236}">
                <a16:creationId xmlns:a16="http://schemas.microsoft.com/office/drawing/2014/main" id="{F09FABC0-3AEC-FA2A-FF5D-6A5ED60155D7}"/>
              </a:ext>
            </a:extLst>
          </p:cNvPr>
          <p:cNvSpPr txBox="1">
            <a:spLocks/>
          </p:cNvSpPr>
          <p:nvPr/>
        </p:nvSpPr>
        <p:spPr>
          <a:xfrm>
            <a:off x="4955031" y="5183771"/>
            <a:ext cx="7325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</a:t>
            </a:r>
          </a:p>
        </p:txBody>
      </p:sp>
      <p:sp>
        <p:nvSpPr>
          <p:cNvPr id="20" name="מלבן: פינות מעוגלות 6">
            <a:extLst>
              <a:ext uri="{FF2B5EF4-FFF2-40B4-BE49-F238E27FC236}">
                <a16:creationId xmlns:a16="http://schemas.microsoft.com/office/drawing/2014/main" id="{202EB220-C82D-94F9-25E3-729DE1F67CCA}"/>
              </a:ext>
            </a:extLst>
          </p:cNvPr>
          <p:cNvSpPr/>
          <p:nvPr/>
        </p:nvSpPr>
        <p:spPr>
          <a:xfrm>
            <a:off x="3962400" y="5183771"/>
            <a:ext cx="4991100" cy="531229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כותרת משנה 2">
            <a:extLst>
              <a:ext uri="{FF2B5EF4-FFF2-40B4-BE49-F238E27FC236}">
                <a16:creationId xmlns:a16="http://schemas.microsoft.com/office/drawing/2014/main" id="{08B18DBF-1266-6B21-6388-23613E2DC57F}"/>
              </a:ext>
            </a:extLst>
          </p:cNvPr>
          <p:cNvSpPr txBox="1">
            <a:spLocks/>
          </p:cNvSpPr>
          <p:nvPr/>
        </p:nvSpPr>
        <p:spPr>
          <a:xfrm>
            <a:off x="697286" y="1493709"/>
            <a:ext cx="10797427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כאמור, הדוח על המצב הכספי הוא מצג רגעי של מצב החברה והוא מורכב מ- נכסים, התחייבויות והון עצמי.</a:t>
            </a:r>
          </a:p>
        </p:txBody>
      </p:sp>
      <p:sp>
        <p:nvSpPr>
          <p:cNvPr id="22" name="כותרת 1">
            <a:extLst>
              <a:ext uri="{FF2B5EF4-FFF2-40B4-BE49-F238E27FC236}">
                <a16:creationId xmlns:a16="http://schemas.microsoft.com/office/drawing/2014/main" id="{81D83109-3609-584C-B3C4-F658E814CC04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pic>
        <p:nvPicPr>
          <p:cNvPr id="23" name="תמונה 7">
            <a:extLst>
              <a:ext uri="{FF2B5EF4-FFF2-40B4-BE49-F238E27FC236}">
                <a16:creationId xmlns:a16="http://schemas.microsoft.com/office/drawing/2014/main" id="{3799BE31-46CC-7600-C209-075724FD6A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28" r="65782" b="35321"/>
          <a:stretch/>
        </p:blipFill>
        <p:spPr>
          <a:xfrm>
            <a:off x="262729" y="0"/>
            <a:ext cx="1955547" cy="15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6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7443-A27F-DAFF-F284-9E647D2D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A8E17332-C302-B3B2-E419-713001B1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8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1DC1115-F81C-B5AC-8BA4-A5F0BF9F7D43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המצב הכספי (המאזן)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250F52B7-33BA-A27C-5045-191AACB107F5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134AEB83-0AC8-A523-11DE-BE03F1565CEA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נגדיר את רכיבי הדוח על המצב הכספי (על פי המסגרת המושגית):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FB620499-05E9-A3D7-602D-0997E8A28BF6}"/>
              </a:ext>
            </a:extLst>
          </p:cNvPr>
          <p:cNvSpPr txBox="1">
            <a:spLocks/>
          </p:cNvSpPr>
          <p:nvPr/>
        </p:nvSpPr>
        <p:spPr>
          <a:xfrm>
            <a:off x="695325" y="2206810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נכס: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משאב הנשלט על ידי הישות כתוצאה מאירועי העבר, אשר ממנו עשויה (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Expected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 הישות להפיק הטבות כלכליות עתידיות.</a:t>
            </a:r>
            <a:endParaRPr lang="he-IL" sz="2800" u="sng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7017F4D6-2E19-6878-D820-666037CF6168}"/>
              </a:ext>
            </a:extLst>
          </p:cNvPr>
          <p:cNvSpPr txBox="1">
            <a:spLocks/>
          </p:cNvSpPr>
          <p:nvPr/>
        </p:nvSpPr>
        <p:spPr>
          <a:xfrm>
            <a:off x="695324" y="341371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התחייבות: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מחויבות בהווה של הישות הנובעת מאירועי העבר, אשר סילוקה עשוי (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Expected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 לגרום </a:t>
            </a:r>
            <a:r>
              <a:rPr lang="he-IL" sz="2800" dirty="0" err="1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לתזרים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שלילי מהישות של משאבים הכוללים הטבות כלכליות.</a:t>
            </a:r>
            <a:endParaRPr lang="he-IL" sz="2800" u="sng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DCAAF187-C940-52EF-48DD-523B01E0C04E}"/>
              </a:ext>
            </a:extLst>
          </p:cNvPr>
          <p:cNvSpPr txBox="1">
            <a:spLocks/>
          </p:cNvSpPr>
          <p:nvPr/>
        </p:nvSpPr>
        <p:spPr>
          <a:xfrm>
            <a:off x="699248" y="4962980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עצמי: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מייצג את שארית הנכסים הנותרת לעלי ישות מסוימת לאחר הפחתת כל התחייבויותיה.</a:t>
            </a:r>
            <a:endParaRPr lang="he-IL" sz="2800" u="sng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תמונה 4">
            <a:extLst>
              <a:ext uri="{FF2B5EF4-FFF2-40B4-BE49-F238E27FC236}">
                <a16:creationId xmlns:a16="http://schemas.microsoft.com/office/drawing/2014/main" id="{E09CC67F-348B-875B-B026-2150DCF13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5" y="158283"/>
            <a:ext cx="1288815" cy="128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03C1C-16A1-D368-AA7E-FDEECE1A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79C878DC-3B2B-B965-C7C4-4E1BF3A5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9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D57A64D-BEED-C2BB-CB85-022425F3767B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המצב הכספי (מאזן)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9A13130-8A15-E274-6FF2-1E4DF2A3A3B8}"/>
              </a:ext>
            </a:extLst>
          </p:cNvPr>
          <p:cNvSpPr txBox="1">
            <a:spLocks/>
          </p:cNvSpPr>
          <p:nvPr/>
        </p:nvSpPr>
        <p:spPr>
          <a:xfrm>
            <a:off x="6296212" y="1808556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cxnSp>
        <p:nvCxnSpPr>
          <p:cNvPr id="4" name="מחבר ישר 2">
            <a:extLst>
              <a:ext uri="{FF2B5EF4-FFF2-40B4-BE49-F238E27FC236}">
                <a16:creationId xmlns:a16="http://schemas.microsoft.com/office/drawing/2014/main" id="{D5A9398F-BFD9-9160-0921-AD1D341C0AAF}"/>
              </a:ext>
            </a:extLst>
          </p:cNvPr>
          <p:cNvCxnSpPr>
            <a:cxnSpLocks/>
          </p:cNvCxnSpPr>
          <p:nvPr/>
        </p:nvCxnSpPr>
        <p:spPr>
          <a:xfrm>
            <a:off x="2922775" y="1719146"/>
            <a:ext cx="663098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מחבר ישר 13">
            <a:extLst>
              <a:ext uri="{FF2B5EF4-FFF2-40B4-BE49-F238E27FC236}">
                <a16:creationId xmlns:a16="http://schemas.microsoft.com/office/drawing/2014/main" id="{D4348D94-0B1D-7DD3-C5F7-E84BE0E99612}"/>
              </a:ext>
            </a:extLst>
          </p:cNvPr>
          <p:cNvCxnSpPr>
            <a:cxnSpLocks/>
          </p:cNvCxnSpPr>
          <p:nvPr/>
        </p:nvCxnSpPr>
        <p:spPr>
          <a:xfrm flipV="1">
            <a:off x="6200962" y="1719146"/>
            <a:ext cx="0" cy="447285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360053F1-2283-23F8-52E7-890805A77B16}"/>
              </a:ext>
            </a:extLst>
          </p:cNvPr>
          <p:cNvSpPr txBox="1">
            <a:spLocks/>
          </p:cNvSpPr>
          <p:nvPr/>
        </p:nvSpPr>
        <p:spPr>
          <a:xfrm>
            <a:off x="2660843" y="1836493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6B6AD78B-4F62-F9CC-2387-9AEBE52C09A4}"/>
              </a:ext>
            </a:extLst>
          </p:cNvPr>
          <p:cNvSpPr txBox="1">
            <a:spLocks/>
          </p:cNvSpPr>
          <p:nvPr/>
        </p:nvSpPr>
        <p:spPr>
          <a:xfrm>
            <a:off x="2786349" y="4312025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92DE2A65-EBF1-321F-15B4-CD5FE36DC07A}"/>
              </a:ext>
            </a:extLst>
          </p:cNvPr>
          <p:cNvSpPr txBox="1">
            <a:spLocks/>
          </p:cNvSpPr>
          <p:nvPr/>
        </p:nvSpPr>
        <p:spPr>
          <a:xfrm>
            <a:off x="697286" y="1493709"/>
            <a:ext cx="10797427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סימנים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sp>
        <p:nvSpPr>
          <p:cNvPr id="19" name="כותרת 1">
            <a:extLst>
              <a:ext uri="{FF2B5EF4-FFF2-40B4-BE49-F238E27FC236}">
                <a16:creationId xmlns:a16="http://schemas.microsoft.com/office/drawing/2014/main" id="{F27094DF-D93B-BB5E-FC5F-8F1857CB2A6B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</p:spTree>
    <p:extLst>
      <p:ext uri="{BB962C8B-B14F-4D97-AF65-F5344CB8AC3E}">
        <p14:creationId xmlns:p14="http://schemas.microsoft.com/office/powerpoint/2010/main" val="3435527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4302-5BE9-4509-1AEA-573B6D91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C9AEA259-AD6E-3F41-3C83-157A2C3C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57CCD8C-8E00-4942-2C85-F47DD88A8D4E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המצב הכספי (מאזן)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11CCFE6-08B0-285B-6383-567BC4B6F2C5}"/>
              </a:ext>
            </a:extLst>
          </p:cNvPr>
          <p:cNvSpPr txBox="1">
            <a:spLocks/>
          </p:cNvSpPr>
          <p:nvPr/>
        </p:nvSpPr>
        <p:spPr>
          <a:xfrm>
            <a:off x="6350000" y="2526553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</a:t>
            </a:r>
          </a:p>
        </p:txBody>
      </p:sp>
      <p:cxnSp>
        <p:nvCxnSpPr>
          <p:cNvPr id="4" name="מחבר ישר 2">
            <a:extLst>
              <a:ext uri="{FF2B5EF4-FFF2-40B4-BE49-F238E27FC236}">
                <a16:creationId xmlns:a16="http://schemas.microsoft.com/office/drawing/2014/main" id="{D5E363C4-06F1-B522-D266-9CE21F5CA877}"/>
              </a:ext>
            </a:extLst>
          </p:cNvPr>
          <p:cNvCxnSpPr>
            <a:cxnSpLocks/>
          </p:cNvCxnSpPr>
          <p:nvPr/>
        </p:nvCxnSpPr>
        <p:spPr>
          <a:xfrm>
            <a:off x="2976563" y="2437143"/>
            <a:ext cx="663098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מחבר ישר 13">
            <a:extLst>
              <a:ext uri="{FF2B5EF4-FFF2-40B4-BE49-F238E27FC236}">
                <a16:creationId xmlns:a16="http://schemas.microsoft.com/office/drawing/2014/main" id="{192E9AA7-F6FA-A36E-786E-D63F68200BE4}"/>
              </a:ext>
            </a:extLst>
          </p:cNvPr>
          <p:cNvCxnSpPr>
            <a:cxnSpLocks/>
          </p:cNvCxnSpPr>
          <p:nvPr/>
        </p:nvCxnSpPr>
        <p:spPr>
          <a:xfrm flipV="1">
            <a:off x="6254750" y="2437143"/>
            <a:ext cx="0" cy="14445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D5EB0E72-9496-228C-CFB7-8A153A849E8E}"/>
              </a:ext>
            </a:extLst>
          </p:cNvPr>
          <p:cNvSpPr txBox="1">
            <a:spLocks/>
          </p:cNvSpPr>
          <p:nvPr/>
        </p:nvSpPr>
        <p:spPr>
          <a:xfrm>
            <a:off x="2714631" y="2554490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5A21F56C-B0E4-10F5-51DD-C328424F2B88}"/>
              </a:ext>
            </a:extLst>
          </p:cNvPr>
          <p:cNvSpPr txBox="1">
            <a:spLocks/>
          </p:cNvSpPr>
          <p:nvPr/>
        </p:nvSpPr>
        <p:spPr>
          <a:xfrm>
            <a:off x="2714631" y="3310230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</a:t>
            </a:r>
          </a:p>
        </p:txBody>
      </p:sp>
      <p:pic>
        <p:nvPicPr>
          <p:cNvPr id="8" name="תמונה 19">
            <a:extLst>
              <a:ext uri="{FF2B5EF4-FFF2-40B4-BE49-F238E27FC236}">
                <a16:creationId xmlns:a16="http://schemas.microsoft.com/office/drawing/2014/main" id="{149C063D-4EF1-38B0-C5D4-EE0887E055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>
            <a:off x="5880791" y="4247671"/>
            <a:ext cx="747917" cy="848893"/>
          </a:xfrm>
          <a:prstGeom prst="rect">
            <a:avLst/>
          </a:prstGeom>
        </p:spPr>
      </p:pic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254C54CC-C0DD-24D6-2FDD-8C0C7980E5F8}"/>
              </a:ext>
            </a:extLst>
          </p:cNvPr>
          <p:cNvSpPr txBox="1">
            <a:spLocks/>
          </p:cNvSpPr>
          <p:nvPr/>
        </p:nvSpPr>
        <p:spPr>
          <a:xfrm>
            <a:off x="3561463" y="5179289"/>
            <a:ext cx="176758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</a:t>
            </a:r>
          </a:p>
        </p:txBody>
      </p:sp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486BDD32-A541-0AE0-6A0B-52DD668FE543}"/>
              </a:ext>
            </a:extLst>
          </p:cNvPr>
          <p:cNvSpPr txBox="1">
            <a:spLocks/>
          </p:cNvSpPr>
          <p:nvPr/>
        </p:nvSpPr>
        <p:spPr>
          <a:xfrm>
            <a:off x="5171443" y="5179289"/>
            <a:ext cx="205740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</a:t>
            </a:r>
          </a:p>
        </p:txBody>
      </p: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5D6403BA-F978-608E-AEE3-BE8640D3DC19}"/>
              </a:ext>
            </a:extLst>
          </p:cNvPr>
          <p:cNvSpPr txBox="1">
            <a:spLocks/>
          </p:cNvSpPr>
          <p:nvPr/>
        </p:nvSpPr>
        <p:spPr>
          <a:xfrm>
            <a:off x="7153085" y="5179289"/>
            <a:ext cx="1767586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71441E6E-6AB4-424C-C205-DEF5FD95E9BE}"/>
              </a:ext>
            </a:extLst>
          </p:cNvPr>
          <p:cNvSpPr txBox="1">
            <a:spLocks/>
          </p:cNvSpPr>
          <p:nvPr/>
        </p:nvSpPr>
        <p:spPr>
          <a:xfrm>
            <a:off x="6848092" y="5153630"/>
            <a:ext cx="7325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=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FB074074-0E32-A01A-FB2D-EAEF78B226BE}"/>
              </a:ext>
            </a:extLst>
          </p:cNvPr>
          <p:cNvSpPr txBox="1">
            <a:spLocks/>
          </p:cNvSpPr>
          <p:nvPr/>
        </p:nvSpPr>
        <p:spPr>
          <a:xfrm>
            <a:off x="4805174" y="5179289"/>
            <a:ext cx="732537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</a:t>
            </a:r>
          </a:p>
        </p:txBody>
      </p:sp>
      <p:sp>
        <p:nvSpPr>
          <p:cNvPr id="14" name="מלבן: פינות מעוגלות 6">
            <a:extLst>
              <a:ext uri="{FF2B5EF4-FFF2-40B4-BE49-F238E27FC236}">
                <a16:creationId xmlns:a16="http://schemas.microsoft.com/office/drawing/2014/main" id="{D99B4A58-7DE9-2D66-05BE-A47180D4F7A5}"/>
              </a:ext>
            </a:extLst>
          </p:cNvPr>
          <p:cNvSpPr/>
          <p:nvPr/>
        </p:nvSpPr>
        <p:spPr>
          <a:xfrm>
            <a:off x="3812543" y="5179289"/>
            <a:ext cx="4991100" cy="531229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97DDB25E-4B7C-17B8-2AE1-B3961137E676}"/>
              </a:ext>
            </a:extLst>
          </p:cNvPr>
          <p:cNvSpPr txBox="1">
            <a:spLocks/>
          </p:cNvSpPr>
          <p:nvPr/>
        </p:nvSpPr>
        <p:spPr>
          <a:xfrm>
            <a:off x="697286" y="1493709"/>
            <a:ext cx="10797427" cy="986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סימנים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pic>
        <p:nvPicPr>
          <p:cNvPr id="16" name="תמונה 3">
            <a:extLst>
              <a:ext uri="{FF2B5EF4-FFF2-40B4-BE49-F238E27FC236}">
                <a16:creationId xmlns:a16="http://schemas.microsoft.com/office/drawing/2014/main" id="{89555AB1-F7DF-ACB8-A550-C03DC36B1F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9562" b="45480"/>
          <a:stretch/>
        </p:blipFill>
        <p:spPr>
          <a:xfrm>
            <a:off x="8848726" y="2554490"/>
            <a:ext cx="400050" cy="432423"/>
          </a:xfrm>
          <a:prstGeom prst="rect">
            <a:avLst/>
          </a:prstGeom>
        </p:spPr>
      </p:pic>
      <p:pic>
        <p:nvPicPr>
          <p:cNvPr id="17" name="תמונה 27">
            <a:extLst>
              <a:ext uri="{FF2B5EF4-FFF2-40B4-BE49-F238E27FC236}">
                <a16:creationId xmlns:a16="http://schemas.microsoft.com/office/drawing/2014/main" id="{6EF1DEE5-D189-DF59-3618-91B9176B56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52" b="52701"/>
          <a:stretch/>
        </p:blipFill>
        <p:spPr>
          <a:xfrm>
            <a:off x="3139408" y="2593835"/>
            <a:ext cx="409651" cy="375151"/>
          </a:xfrm>
          <a:prstGeom prst="rect">
            <a:avLst/>
          </a:prstGeom>
        </p:spPr>
      </p:pic>
      <p:pic>
        <p:nvPicPr>
          <p:cNvPr id="19" name="תמונה 30">
            <a:extLst>
              <a:ext uri="{FF2B5EF4-FFF2-40B4-BE49-F238E27FC236}">
                <a16:creationId xmlns:a16="http://schemas.microsoft.com/office/drawing/2014/main" id="{030DBA11-D811-BCA2-0FAB-DD32BC50D3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52" b="52701"/>
          <a:stretch/>
        </p:blipFill>
        <p:spPr>
          <a:xfrm>
            <a:off x="3149891" y="3388003"/>
            <a:ext cx="409651" cy="375151"/>
          </a:xfrm>
          <a:prstGeom prst="rect">
            <a:avLst/>
          </a:prstGeom>
        </p:spPr>
      </p:pic>
      <p:sp>
        <p:nvSpPr>
          <p:cNvPr id="20" name="כותרת משנה 2">
            <a:extLst>
              <a:ext uri="{FF2B5EF4-FFF2-40B4-BE49-F238E27FC236}">
                <a16:creationId xmlns:a16="http://schemas.microsoft.com/office/drawing/2014/main" id="{05889D71-AB08-30B3-DB15-21D3A81C358E}"/>
              </a:ext>
            </a:extLst>
          </p:cNvPr>
          <p:cNvSpPr txBox="1">
            <a:spLocks/>
          </p:cNvSpPr>
          <p:nvPr/>
        </p:nvSpPr>
        <p:spPr>
          <a:xfrm>
            <a:off x="6350000" y="1895279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חובה+</a:t>
            </a:r>
          </a:p>
        </p:txBody>
      </p:sp>
      <p:sp>
        <p:nvSpPr>
          <p:cNvPr id="21" name="כותרת משנה 2">
            <a:extLst>
              <a:ext uri="{FF2B5EF4-FFF2-40B4-BE49-F238E27FC236}">
                <a16:creationId xmlns:a16="http://schemas.microsoft.com/office/drawing/2014/main" id="{0BF0250B-6075-5018-4806-B0881516CBB5}"/>
              </a:ext>
            </a:extLst>
          </p:cNvPr>
          <p:cNvSpPr txBox="1">
            <a:spLocks/>
          </p:cNvSpPr>
          <p:nvPr/>
        </p:nvSpPr>
        <p:spPr>
          <a:xfrm>
            <a:off x="2644582" y="1883303"/>
            <a:ext cx="3648070" cy="671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זכות(-)</a:t>
            </a:r>
          </a:p>
        </p:txBody>
      </p:sp>
      <p:sp>
        <p:nvSpPr>
          <p:cNvPr id="22" name="בועת דיבור: מלבן 4">
            <a:extLst>
              <a:ext uri="{FF2B5EF4-FFF2-40B4-BE49-F238E27FC236}">
                <a16:creationId xmlns:a16="http://schemas.microsoft.com/office/drawing/2014/main" id="{56933601-CD63-AA8E-298E-77CF3E4D84E4}"/>
              </a:ext>
            </a:extLst>
          </p:cNvPr>
          <p:cNvSpPr/>
          <p:nvPr/>
        </p:nvSpPr>
        <p:spPr>
          <a:xfrm>
            <a:off x="9864920" y="2479742"/>
            <a:ext cx="2184401" cy="1685863"/>
          </a:xfrm>
          <a:prstGeom prst="wedgeRectCallout">
            <a:avLst>
              <a:gd name="adj1" fmla="val -75480"/>
              <a:gd name="adj2" fmla="val -33251"/>
            </a:avLst>
          </a:prstGeom>
          <a:noFill/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3" name="כותרת משנה 2">
            <a:extLst>
              <a:ext uri="{FF2B5EF4-FFF2-40B4-BE49-F238E27FC236}">
                <a16:creationId xmlns:a16="http://schemas.microsoft.com/office/drawing/2014/main" id="{0000BF1F-385D-0A36-9714-AF6CE86C8539}"/>
              </a:ext>
            </a:extLst>
          </p:cNvPr>
          <p:cNvSpPr txBox="1">
            <a:spLocks/>
          </p:cNvSpPr>
          <p:nvPr/>
        </p:nvSpPr>
        <p:spPr>
          <a:xfrm>
            <a:off x="9864919" y="2550825"/>
            <a:ext cx="2184407" cy="11190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נכסים גדלים בחובה (+), כי הם מייצגים צפי להטבות כלכליות בעתיד</a:t>
            </a:r>
          </a:p>
        </p:txBody>
      </p:sp>
      <p:sp>
        <p:nvSpPr>
          <p:cNvPr id="24" name="כותרת 1">
            <a:extLst>
              <a:ext uri="{FF2B5EF4-FFF2-40B4-BE49-F238E27FC236}">
                <a16:creationId xmlns:a16="http://schemas.microsoft.com/office/drawing/2014/main" id="{97D7D458-96E7-0689-D2BF-F261D4DCC08E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25" name="בועת דיבור: מלבן 35">
            <a:extLst>
              <a:ext uri="{FF2B5EF4-FFF2-40B4-BE49-F238E27FC236}">
                <a16:creationId xmlns:a16="http://schemas.microsoft.com/office/drawing/2014/main" id="{CDE454D5-2593-343C-3527-75FD8D8A07CB}"/>
              </a:ext>
            </a:extLst>
          </p:cNvPr>
          <p:cNvSpPr/>
          <p:nvPr/>
        </p:nvSpPr>
        <p:spPr>
          <a:xfrm>
            <a:off x="137674" y="1372773"/>
            <a:ext cx="2384422" cy="1685863"/>
          </a:xfrm>
          <a:prstGeom prst="wedgeRectCallout">
            <a:avLst>
              <a:gd name="adj1" fmla="val 73759"/>
              <a:gd name="adj2" fmla="val 33588"/>
            </a:avLst>
          </a:prstGeom>
          <a:noFill/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6" name="כותרת משנה 2">
            <a:extLst>
              <a:ext uri="{FF2B5EF4-FFF2-40B4-BE49-F238E27FC236}">
                <a16:creationId xmlns:a16="http://schemas.microsoft.com/office/drawing/2014/main" id="{21431A5F-4817-EE5D-2651-EF15CC5CE1F7}"/>
              </a:ext>
            </a:extLst>
          </p:cNvPr>
          <p:cNvSpPr txBox="1">
            <a:spLocks/>
          </p:cNvSpPr>
          <p:nvPr/>
        </p:nvSpPr>
        <p:spPr>
          <a:xfrm>
            <a:off x="137674" y="1470435"/>
            <a:ext cx="2384426" cy="11190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התחייבויות גדלות בזכות (-), כי הן מייצגות צפי </a:t>
            </a:r>
            <a:r>
              <a:rPr lang="he-IL" sz="2000" dirty="0" err="1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לתזרים</a:t>
            </a:r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שלילי של הטבות כלכליות בעתיד</a:t>
            </a:r>
          </a:p>
        </p:txBody>
      </p:sp>
      <p:sp>
        <p:nvSpPr>
          <p:cNvPr id="27" name="בועת דיבור: מלבן 37">
            <a:extLst>
              <a:ext uri="{FF2B5EF4-FFF2-40B4-BE49-F238E27FC236}">
                <a16:creationId xmlns:a16="http://schemas.microsoft.com/office/drawing/2014/main" id="{8C2D57DB-96DA-820D-9172-85118BABFC57}"/>
              </a:ext>
            </a:extLst>
          </p:cNvPr>
          <p:cNvSpPr/>
          <p:nvPr/>
        </p:nvSpPr>
        <p:spPr>
          <a:xfrm>
            <a:off x="137674" y="3221266"/>
            <a:ext cx="2384422" cy="2199762"/>
          </a:xfrm>
          <a:prstGeom prst="wedgeRectCallout">
            <a:avLst>
              <a:gd name="adj1" fmla="val 74976"/>
              <a:gd name="adj2" fmla="val -33565"/>
            </a:avLst>
          </a:prstGeom>
          <a:noFill/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8" name="כותרת משנה 2">
            <a:extLst>
              <a:ext uri="{FF2B5EF4-FFF2-40B4-BE49-F238E27FC236}">
                <a16:creationId xmlns:a16="http://schemas.microsoft.com/office/drawing/2014/main" id="{2AEE96CD-8108-3103-4576-76FF1126443D}"/>
              </a:ext>
            </a:extLst>
          </p:cNvPr>
          <p:cNvSpPr txBox="1">
            <a:spLocks/>
          </p:cNvSpPr>
          <p:nvPr/>
        </p:nvSpPr>
        <p:spPr>
          <a:xfrm>
            <a:off x="137674" y="3282533"/>
            <a:ext cx="2384426" cy="11190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הון עצמי גדל בזכות (-), כי הוא מייצג את "המחויבות" של החברה כלפי בעליה (בגובה שארית הנכסים על ההתחייבויות)</a:t>
            </a:r>
          </a:p>
        </p:txBody>
      </p:sp>
    </p:spTree>
    <p:extLst>
      <p:ext uri="{BB962C8B-B14F-4D97-AF65-F5344CB8AC3E}">
        <p14:creationId xmlns:p14="http://schemas.microsoft.com/office/powerpoint/2010/main" val="246948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31DE-8D8F-CF6A-F974-C2523862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A3DC384E-27A3-BB74-0817-25C66DAC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11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C21ED6D-385A-BC06-849B-5C9FEE4767C6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פקודות יומן 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83B1AD4F-DF8C-E7D9-FD6D-B5AB4692123B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יומן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26FE53F0-2426-98F3-1518-FD05452D48EA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היומן הן ה-"מילים" של הנהלת החשבונות. בכל פעם שמתרחשת פעולה שצריכה לקבל ביטוי ביתרות שעתידות להרכיב את הדוחות הכספיים, התנועה בחשבונות (יתרות) אלו תבוצע על ידי פקודת יומן.</a:t>
            </a:r>
          </a:p>
        </p:txBody>
      </p:sp>
      <p:pic>
        <p:nvPicPr>
          <p:cNvPr id="5" name="תמונה 2">
            <a:extLst>
              <a:ext uri="{FF2B5EF4-FFF2-40B4-BE49-F238E27FC236}">
                <a16:creationId xmlns:a16="http://schemas.microsoft.com/office/drawing/2014/main" id="{66932D89-DEAB-4E41-90C0-AE7E557B4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20" y="194402"/>
            <a:ext cx="1181961" cy="118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03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D162-A683-C718-3F06-F1E73CE8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72388F9B-9A10-BDF7-B435-331BC54E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F835977-A8AA-7CD6-7B94-1BD936C35B0B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פקודות יומן 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2BF26EFC-825A-FE65-A16F-9C880803A06A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יומן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233A9552-4534-3DD6-CE0B-9E64E2D0299A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היומן הן ה-"מילים" של הנהלת החשבונות. בכל פעם שמתרחשת פעולה שצריכה לקבל ביטוי ביתרות שעתידות להרכיב את הדוחות הכספיים, התנועה בחשבונות (יתרות) אלו תבוצע על ידי פקודת יומן.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6E4682C0-671D-515B-5C83-9397A10680C3}"/>
              </a:ext>
            </a:extLst>
          </p:cNvPr>
          <p:cNvSpPr txBox="1">
            <a:spLocks/>
          </p:cNvSpPr>
          <p:nvPr/>
        </p:nvSpPr>
        <p:spPr>
          <a:xfrm>
            <a:off x="697286" y="2970634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לדוגמה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החברה רכשה השקעה בני"ע תמורת 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 ש"ח במזומן.</a:t>
            </a:r>
          </a:p>
        </p:txBody>
      </p:sp>
      <p:pic>
        <p:nvPicPr>
          <p:cNvPr id="6" name="תמונה 2">
            <a:extLst>
              <a:ext uri="{FF2B5EF4-FFF2-40B4-BE49-F238E27FC236}">
                <a16:creationId xmlns:a16="http://schemas.microsoft.com/office/drawing/2014/main" id="{D4FB6285-EE5C-CCC1-DB32-A82AF7E90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20" y="194402"/>
            <a:ext cx="1181961" cy="118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09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F90E3-4C27-F057-555F-A929571C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007338E2-AFCA-B511-D7BC-3A061335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D3B59FC-EE27-CA55-C65E-BF839F27C8EA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פקודות יומן 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6BC1AC25-0269-9FEE-FE0B-D02664E11DD4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יומן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CE91ABFD-4296-8AE0-BAEE-32031BF79E47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היומן הן ה-"מילים" של הנהלת החשבונות. בכל פעם שמתרחשת פעולה שצריכה לקבל ביטוי ביתרות שעתידות להרכיב את הדוחות הכספיים, התנועה בחשבונות (יתרות) אלו תבוצע על ידי פקודת יומן.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7AFC262E-BAA7-4955-2F4B-109DBE2CBAE6}"/>
              </a:ext>
            </a:extLst>
          </p:cNvPr>
          <p:cNvSpPr txBox="1">
            <a:spLocks/>
          </p:cNvSpPr>
          <p:nvPr/>
        </p:nvSpPr>
        <p:spPr>
          <a:xfrm>
            <a:off x="697286" y="2970634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לדוגמה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החברה רכשה השקעה בני"ע תמורת 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 ש"ח במזומן.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17F18D8F-DF05-FE89-C60C-814CA0EE1D3D}"/>
              </a:ext>
            </a:extLst>
          </p:cNvPr>
          <p:cNvSpPr txBox="1">
            <a:spLocks/>
          </p:cNvSpPr>
          <p:nvPr/>
        </p:nvSpPr>
        <p:spPr>
          <a:xfrm>
            <a:off x="2887620" y="5063352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ז. מזומן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0379E80C-A27E-FDBD-E3AC-BD085BDFCBF9}"/>
              </a:ext>
            </a:extLst>
          </p:cNvPr>
          <p:cNvSpPr txBox="1">
            <a:spLocks/>
          </p:cNvSpPr>
          <p:nvPr/>
        </p:nvSpPr>
        <p:spPr>
          <a:xfrm>
            <a:off x="-127591" y="5063352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</a:t>
            </a:r>
          </a:p>
        </p:txBody>
      </p:sp>
      <p:pic>
        <p:nvPicPr>
          <p:cNvPr id="8" name="תמונה 14">
            <a:extLst>
              <a:ext uri="{FF2B5EF4-FFF2-40B4-BE49-F238E27FC236}">
                <a16:creationId xmlns:a16="http://schemas.microsoft.com/office/drawing/2014/main" id="{C298F1C4-5538-63DB-928D-C140FDEFA3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6716443" y="4971762"/>
            <a:ext cx="539592" cy="622328"/>
          </a:xfrm>
          <a:prstGeom prst="rect">
            <a:avLst/>
          </a:prstGeom>
        </p:spPr>
      </p:pic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DD4EAD20-6438-261A-92B1-54909C46A367}"/>
              </a:ext>
            </a:extLst>
          </p:cNvPr>
          <p:cNvSpPr txBox="1">
            <a:spLocks/>
          </p:cNvSpPr>
          <p:nvPr/>
        </p:nvSpPr>
        <p:spPr>
          <a:xfrm>
            <a:off x="7334383" y="5093695"/>
            <a:ext cx="2435628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קיטון בנכס – 'מזומן'</a:t>
            </a:r>
          </a:p>
        </p:txBody>
      </p:sp>
      <p:pic>
        <p:nvPicPr>
          <p:cNvPr id="10" name="תמונה 2">
            <a:extLst>
              <a:ext uri="{FF2B5EF4-FFF2-40B4-BE49-F238E27FC236}">
                <a16:creationId xmlns:a16="http://schemas.microsoft.com/office/drawing/2014/main" id="{827ECB3F-07D3-2A64-FCBB-9C655D65E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20" y="194402"/>
            <a:ext cx="1181961" cy="118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352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0ED4-9084-DCE1-15C1-6D73F8BB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0C22E6CF-D34A-3E12-323A-3D46BF2B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14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5107267-86DC-AF87-491D-3676584E0EDF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פקודות יומן 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042D952E-7769-7F6B-63A4-2EC4835E821F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יומן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102BED5F-5798-9A72-16F4-2FA40D332F1F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היומן הן ה-"מילים" של הנהלת החשבונות. בכל פעם שמתרחשת פעולה שצריכה לקבל ביטוי ביתרות שעתידות להרכיב את הדוחות הכספיים, התנועה בחשבונות (יתרות) אלו תבוצע על ידי פקודת יומן.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66478052-F2E2-E1F9-57E0-0B4C7FD54CD4}"/>
              </a:ext>
            </a:extLst>
          </p:cNvPr>
          <p:cNvSpPr txBox="1">
            <a:spLocks/>
          </p:cNvSpPr>
          <p:nvPr/>
        </p:nvSpPr>
        <p:spPr>
          <a:xfrm>
            <a:off x="697286" y="2970634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לדוגמה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החברה רכשה השקעה בני"ע תמורת 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 ש"ח במזומן.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3915C5C5-F11A-6518-0426-DE9BE311F65D}"/>
              </a:ext>
            </a:extLst>
          </p:cNvPr>
          <p:cNvSpPr txBox="1">
            <a:spLocks/>
          </p:cNvSpPr>
          <p:nvPr/>
        </p:nvSpPr>
        <p:spPr>
          <a:xfrm>
            <a:off x="3584906" y="4544464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ח. השקעה בני"ע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1FA7150B-0D83-5071-E836-9C7B2B2A26E0}"/>
              </a:ext>
            </a:extLst>
          </p:cNvPr>
          <p:cNvSpPr txBox="1">
            <a:spLocks/>
          </p:cNvSpPr>
          <p:nvPr/>
        </p:nvSpPr>
        <p:spPr>
          <a:xfrm>
            <a:off x="2887620" y="5063352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ז. מזומן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2EF8FBB1-1EBB-D9A0-B1B6-A1DC40A3A11E}"/>
              </a:ext>
            </a:extLst>
          </p:cNvPr>
          <p:cNvSpPr txBox="1">
            <a:spLocks/>
          </p:cNvSpPr>
          <p:nvPr/>
        </p:nvSpPr>
        <p:spPr>
          <a:xfrm>
            <a:off x="563801" y="4544464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7A1ADEF9-CB12-4404-A5BF-4731238877EA}"/>
              </a:ext>
            </a:extLst>
          </p:cNvPr>
          <p:cNvSpPr txBox="1">
            <a:spLocks/>
          </p:cNvSpPr>
          <p:nvPr/>
        </p:nvSpPr>
        <p:spPr>
          <a:xfrm>
            <a:off x="-127591" y="5063352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</a:t>
            </a:r>
          </a:p>
        </p:txBody>
      </p:sp>
      <p:pic>
        <p:nvPicPr>
          <p:cNvPr id="10" name="תמונה 13">
            <a:extLst>
              <a:ext uri="{FF2B5EF4-FFF2-40B4-BE49-F238E27FC236}">
                <a16:creationId xmlns:a16="http://schemas.microsoft.com/office/drawing/2014/main" id="{1B7D2270-DD14-0283-A11A-3A181BB2DD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6716443" y="4474755"/>
            <a:ext cx="539592" cy="622328"/>
          </a:xfrm>
          <a:prstGeom prst="rect">
            <a:avLst/>
          </a:prstGeom>
        </p:spPr>
      </p:pic>
      <p:pic>
        <p:nvPicPr>
          <p:cNvPr id="11" name="תמונה 14">
            <a:extLst>
              <a:ext uri="{FF2B5EF4-FFF2-40B4-BE49-F238E27FC236}">
                <a16:creationId xmlns:a16="http://schemas.microsoft.com/office/drawing/2014/main" id="{07E57113-3132-A4D1-ECE9-F2404C9418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6716443" y="4971762"/>
            <a:ext cx="539592" cy="622328"/>
          </a:xfrm>
          <a:prstGeom prst="rect">
            <a:avLst/>
          </a:prstGeom>
        </p:spPr>
      </p:pic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6D73DF48-36DC-736A-7E5B-D94FEC318C86}"/>
              </a:ext>
            </a:extLst>
          </p:cNvPr>
          <p:cNvSpPr txBox="1">
            <a:spLocks/>
          </p:cNvSpPr>
          <p:nvPr/>
        </p:nvSpPr>
        <p:spPr>
          <a:xfrm>
            <a:off x="7334383" y="5093695"/>
            <a:ext cx="2435628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קיטון בנכס – 'מזומן'</a:t>
            </a:r>
          </a:p>
        </p:txBody>
      </p:sp>
      <p:pic>
        <p:nvPicPr>
          <p:cNvPr id="13" name="תמונה 2">
            <a:extLst>
              <a:ext uri="{FF2B5EF4-FFF2-40B4-BE49-F238E27FC236}">
                <a16:creationId xmlns:a16="http://schemas.microsoft.com/office/drawing/2014/main" id="{F508B901-039E-B198-3ED9-2801609BF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20" y="194402"/>
            <a:ext cx="1181961" cy="1181961"/>
          </a:xfrm>
          <a:prstGeom prst="rect">
            <a:avLst/>
          </a:prstGeom>
        </p:spPr>
      </p:pic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68D3E2E2-C5A1-11D6-723B-449DEC33E296}"/>
              </a:ext>
            </a:extLst>
          </p:cNvPr>
          <p:cNvSpPr txBox="1">
            <a:spLocks/>
          </p:cNvSpPr>
          <p:nvPr/>
        </p:nvSpPr>
        <p:spPr>
          <a:xfrm>
            <a:off x="7297403" y="4570389"/>
            <a:ext cx="3460244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גידול בנכס – 'השקעה בני"ע'</a:t>
            </a:r>
          </a:p>
        </p:txBody>
      </p:sp>
    </p:spTree>
    <p:extLst>
      <p:ext uri="{BB962C8B-B14F-4D97-AF65-F5344CB8AC3E}">
        <p14:creationId xmlns:p14="http://schemas.microsoft.com/office/powerpoint/2010/main" val="3635846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2BDC8-C993-9945-FA73-91808271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F754158A-2475-C55D-0C43-66085F91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15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82B9ABE-0FFE-CD05-E06D-5B4E29D6E687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פקודות יומן 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95120E51-59DA-3840-1167-3ECA397A2FAF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יומן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8128A71B-85F2-A63C-0E17-F9435918F99B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היומן הן ה-"מילים" של הנהלת החשבונות. בכל פעם שמתרחשת פעולה שצריכה לקבל ביטוי ביתרות שעתידות להרכיב את הדוחות הכספיים, התנועה בחשבונות (יתרות) אלו תבוצע על ידי פקודת יומן.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A4CA3F92-C1DB-AAB7-BF01-C73F72A8B0EA}"/>
              </a:ext>
            </a:extLst>
          </p:cNvPr>
          <p:cNvSpPr txBox="1">
            <a:spLocks/>
          </p:cNvSpPr>
          <p:nvPr/>
        </p:nvSpPr>
        <p:spPr>
          <a:xfrm>
            <a:off x="697286" y="2970634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לדוגמה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החברה רכשה השקעה בני"ע תמורת 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 ש"ח במזומן.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B24776D1-4440-F823-FFDA-3D4B7FECA3DE}"/>
              </a:ext>
            </a:extLst>
          </p:cNvPr>
          <p:cNvSpPr txBox="1">
            <a:spLocks/>
          </p:cNvSpPr>
          <p:nvPr/>
        </p:nvSpPr>
        <p:spPr>
          <a:xfrm>
            <a:off x="3584906" y="4544464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ח. השקעה בני"ע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5D2A749E-E1DE-C5FF-A121-0D5EC7EB77C4}"/>
              </a:ext>
            </a:extLst>
          </p:cNvPr>
          <p:cNvSpPr txBox="1">
            <a:spLocks/>
          </p:cNvSpPr>
          <p:nvPr/>
        </p:nvSpPr>
        <p:spPr>
          <a:xfrm>
            <a:off x="2887620" y="5063352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ז. מזומן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BF3A86CB-D770-901E-6A13-0DDB82EFFD5E}"/>
              </a:ext>
            </a:extLst>
          </p:cNvPr>
          <p:cNvSpPr txBox="1">
            <a:spLocks/>
          </p:cNvSpPr>
          <p:nvPr/>
        </p:nvSpPr>
        <p:spPr>
          <a:xfrm>
            <a:off x="563801" y="4544464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11545E8B-7BB6-2ED0-7638-24D4568A8025}"/>
              </a:ext>
            </a:extLst>
          </p:cNvPr>
          <p:cNvSpPr txBox="1">
            <a:spLocks/>
          </p:cNvSpPr>
          <p:nvPr/>
        </p:nvSpPr>
        <p:spPr>
          <a:xfrm>
            <a:off x="-127591" y="5063352"/>
            <a:ext cx="3021105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100</a:t>
            </a:r>
          </a:p>
        </p:txBody>
      </p:sp>
      <p:pic>
        <p:nvPicPr>
          <p:cNvPr id="10" name="תמונה 13">
            <a:extLst>
              <a:ext uri="{FF2B5EF4-FFF2-40B4-BE49-F238E27FC236}">
                <a16:creationId xmlns:a16="http://schemas.microsoft.com/office/drawing/2014/main" id="{4571F6A7-5553-0B5E-4D02-A618B42F7F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6716443" y="4474755"/>
            <a:ext cx="539592" cy="622328"/>
          </a:xfrm>
          <a:prstGeom prst="rect">
            <a:avLst/>
          </a:prstGeom>
        </p:spPr>
      </p:pic>
      <p:pic>
        <p:nvPicPr>
          <p:cNvPr id="11" name="תמונה 14">
            <a:extLst>
              <a:ext uri="{FF2B5EF4-FFF2-40B4-BE49-F238E27FC236}">
                <a16:creationId xmlns:a16="http://schemas.microsoft.com/office/drawing/2014/main" id="{BA596743-5108-72E2-1652-4FC2885195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6716443" y="4971762"/>
            <a:ext cx="539592" cy="622328"/>
          </a:xfrm>
          <a:prstGeom prst="rect">
            <a:avLst/>
          </a:prstGeom>
        </p:spPr>
      </p:pic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421F2AFA-1285-2DF0-56B4-B31E78283EDB}"/>
              </a:ext>
            </a:extLst>
          </p:cNvPr>
          <p:cNvSpPr txBox="1">
            <a:spLocks/>
          </p:cNvSpPr>
          <p:nvPr/>
        </p:nvSpPr>
        <p:spPr>
          <a:xfrm>
            <a:off x="7334383" y="5093695"/>
            <a:ext cx="2435628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קיטון בנכס – 'מזומן'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B459FA1E-0026-20FF-0283-06DCCFE8E9E2}"/>
              </a:ext>
            </a:extLst>
          </p:cNvPr>
          <p:cNvSpPr txBox="1">
            <a:spLocks/>
          </p:cNvSpPr>
          <p:nvPr/>
        </p:nvSpPr>
        <p:spPr>
          <a:xfrm>
            <a:off x="7297403" y="4570389"/>
            <a:ext cx="3460244" cy="51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גידול בנכס – 'השקעה בני"ע'</a:t>
            </a:r>
          </a:p>
        </p:txBody>
      </p:sp>
      <p:sp>
        <p:nvSpPr>
          <p:cNvPr id="14" name="מלבן: פינות מעוגלות 19">
            <a:extLst>
              <a:ext uri="{FF2B5EF4-FFF2-40B4-BE49-F238E27FC236}">
                <a16:creationId xmlns:a16="http://schemas.microsoft.com/office/drawing/2014/main" id="{61392FAA-88E9-3DE7-AFD2-FB983500756A}"/>
              </a:ext>
            </a:extLst>
          </p:cNvPr>
          <p:cNvSpPr/>
          <p:nvPr/>
        </p:nvSpPr>
        <p:spPr>
          <a:xfrm>
            <a:off x="1931165" y="4544464"/>
            <a:ext cx="4706930" cy="1037776"/>
          </a:xfrm>
          <a:prstGeom prst="roundRect">
            <a:avLst>
              <a:gd name="adj" fmla="val 14075"/>
            </a:avLst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5" name="תמונה 2">
            <a:extLst>
              <a:ext uri="{FF2B5EF4-FFF2-40B4-BE49-F238E27FC236}">
                <a16:creationId xmlns:a16="http://schemas.microsoft.com/office/drawing/2014/main" id="{143CD46A-6247-1CE1-0C5A-BD2F965EA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20" y="194402"/>
            <a:ext cx="1181961" cy="118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34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B332F-71E4-FD73-07A4-AADD7B68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2EE11382-3C3E-920C-525B-B5E45956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16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כותרת 1">
            <a:extLst>
              <a:ext uri="{FF2B5EF4-FFF2-40B4-BE49-F238E27FC236}">
                <a16:creationId xmlns:a16="http://schemas.microsoft.com/office/drawing/2014/main" id="{A1E85181-F206-6117-221F-FE929637994D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פקודות יומן </a:t>
            </a:r>
          </a:p>
        </p:txBody>
      </p:sp>
      <p:sp>
        <p:nvSpPr>
          <p:cNvPr id="17" name="כותרת 1">
            <a:extLst>
              <a:ext uri="{FF2B5EF4-FFF2-40B4-BE49-F238E27FC236}">
                <a16:creationId xmlns:a16="http://schemas.microsoft.com/office/drawing/2014/main" id="{87E5B937-7470-EBC8-BC07-BF827A01E55E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פקודות יומן</a:t>
            </a:r>
          </a:p>
        </p:txBody>
      </p:sp>
      <p:sp>
        <p:nvSpPr>
          <p:cNvPr id="19" name="כותרת משנה 2">
            <a:extLst>
              <a:ext uri="{FF2B5EF4-FFF2-40B4-BE49-F238E27FC236}">
                <a16:creationId xmlns:a16="http://schemas.microsoft.com/office/drawing/2014/main" id="{06DB289A-2A27-E6BC-7CC9-010E3B354B5E}"/>
              </a:ext>
            </a:extLst>
          </p:cNvPr>
          <p:cNvSpPr txBox="1">
            <a:spLocks/>
          </p:cNvSpPr>
          <p:nvPr/>
        </p:nvSpPr>
        <p:spPr>
          <a:xfrm>
            <a:off x="705655" y="1493709"/>
            <a:ext cx="10797427" cy="1339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דוגמאות נוספות (באקסל)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...</a:t>
            </a:r>
          </a:p>
        </p:txBody>
      </p:sp>
      <p:pic>
        <p:nvPicPr>
          <p:cNvPr id="20" name="תמונה 20">
            <a:extLst>
              <a:ext uri="{FF2B5EF4-FFF2-40B4-BE49-F238E27FC236}">
                <a16:creationId xmlns:a16="http://schemas.microsoft.com/office/drawing/2014/main" id="{39E25861-0456-9FEE-1F35-94C4BE67F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" y="163829"/>
            <a:ext cx="1202692" cy="120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44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D0ED0-7059-B803-C29D-27B105BA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68E27436-2EAC-31EA-7270-ABACB0F2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17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8B3743C-552D-DBC2-D895-892A015C1938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A5384513-EEA2-65B1-B96A-DF052EBF38A1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7320B616-5925-6C0B-04CB-2D820C2EA6C4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כפי שראינו, בכל פעם שהחברה מרוויחה או מפסידה, העודפים גדלים או קטנים (בהתאמה).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D4D4F649-00B5-19A6-0246-B6E4C6A5F886}"/>
              </a:ext>
            </a:extLst>
          </p:cNvPr>
          <p:cNvSpPr txBox="1">
            <a:spLocks/>
          </p:cNvSpPr>
          <p:nvPr/>
        </p:nvSpPr>
        <p:spPr>
          <a:xfrm>
            <a:off x="695325" y="25485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על מנת שנוכל לעקוב בצורה מיטבית אחר </a:t>
            </a:r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ההתפתחות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של התנועה בעודפים במהלך </a:t>
            </a:r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כל תקופת הדיווח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עדיף לתת לתנועות הללו בעודפים שמות יותר מפורטים. לכן: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B716D30E-3531-1BE5-1AF5-530DAF1CDFE6}"/>
              </a:ext>
            </a:extLst>
          </p:cNvPr>
          <p:cNvSpPr txBox="1">
            <a:spLocks/>
          </p:cNvSpPr>
          <p:nvPr/>
        </p:nvSpPr>
        <p:spPr>
          <a:xfrm>
            <a:off x="8875060" y="4327288"/>
            <a:ext cx="2617692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במקום לרשום: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02451E2C-D294-936E-B682-B492E6530BFB}"/>
              </a:ext>
            </a:extLst>
          </p:cNvPr>
          <p:cNvSpPr txBox="1">
            <a:spLocks/>
          </p:cNvSpPr>
          <p:nvPr/>
        </p:nvSpPr>
        <p:spPr>
          <a:xfrm>
            <a:off x="7288306" y="4327288"/>
            <a:ext cx="1733572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ז. עודפים </a:t>
            </a:r>
          </a:p>
        </p:txBody>
      </p:sp>
      <p:grpSp>
        <p:nvGrpSpPr>
          <p:cNvPr id="8" name="קבוצה 2">
            <a:extLst>
              <a:ext uri="{FF2B5EF4-FFF2-40B4-BE49-F238E27FC236}">
                <a16:creationId xmlns:a16="http://schemas.microsoft.com/office/drawing/2014/main" id="{53638DBF-32FB-5275-5061-23C67C2182D5}"/>
              </a:ext>
            </a:extLst>
          </p:cNvPr>
          <p:cNvGrpSpPr/>
          <p:nvPr/>
        </p:nvGrpSpPr>
        <p:grpSpPr>
          <a:xfrm>
            <a:off x="6221506" y="4325248"/>
            <a:ext cx="1066800" cy="540548"/>
            <a:chOff x="6140823" y="4327288"/>
            <a:chExt cx="1066800" cy="540548"/>
          </a:xfrm>
        </p:grpSpPr>
        <p:sp>
          <p:nvSpPr>
            <p:cNvPr id="9" name="חץ: שמאלה-ימינה 1">
              <a:extLst>
                <a:ext uri="{FF2B5EF4-FFF2-40B4-BE49-F238E27FC236}">
                  <a16:creationId xmlns:a16="http://schemas.microsoft.com/office/drawing/2014/main" id="{B238EB59-91EB-C611-313D-FB65AE89BB18}"/>
                </a:ext>
              </a:extLst>
            </p:cNvPr>
            <p:cNvSpPr/>
            <p:nvPr/>
          </p:nvSpPr>
          <p:spPr>
            <a:xfrm>
              <a:off x="6212541" y="4327288"/>
              <a:ext cx="995082" cy="540548"/>
            </a:xfrm>
            <a:prstGeom prst="left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כותרת משנה 2">
              <a:extLst>
                <a:ext uri="{FF2B5EF4-FFF2-40B4-BE49-F238E27FC236}">
                  <a16:creationId xmlns:a16="http://schemas.microsoft.com/office/drawing/2014/main" id="{D0C8BB43-E364-137F-DAAA-6E0186BF4248}"/>
                </a:ext>
              </a:extLst>
            </p:cNvPr>
            <p:cNvSpPr txBox="1">
              <a:spLocks/>
            </p:cNvSpPr>
            <p:nvPr/>
          </p:nvSpPr>
          <p:spPr>
            <a:xfrm>
              <a:off x="6140823" y="4403826"/>
              <a:ext cx="995082" cy="4318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1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None/>
                <a:defRPr sz="2200" kern="1200" spc="10" baseline="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he-IL" sz="2000" dirty="0">
                  <a:solidFill>
                    <a:schemeClr val="tx1">
                      <a:lumMod val="9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נרשום</a:t>
              </a:r>
            </a:p>
          </p:txBody>
        </p:sp>
      </p:grp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27B39548-B7A6-4A0B-403A-BCF9C111CBA7}"/>
              </a:ext>
            </a:extLst>
          </p:cNvPr>
          <p:cNvSpPr txBox="1">
            <a:spLocks/>
          </p:cNvSpPr>
          <p:nvPr/>
        </p:nvSpPr>
        <p:spPr>
          <a:xfrm>
            <a:off x="334962" y="4325248"/>
            <a:ext cx="5814825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ז. הכנסות מ.../ רווח מ... 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C0B9B2C2-A5A4-F603-9359-5947362460C3}"/>
              </a:ext>
            </a:extLst>
          </p:cNvPr>
          <p:cNvSpPr txBox="1">
            <a:spLocks/>
          </p:cNvSpPr>
          <p:nvPr/>
        </p:nvSpPr>
        <p:spPr>
          <a:xfrm>
            <a:off x="8878983" y="5121941"/>
            <a:ext cx="2617692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במקום לרשום: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4F8AEF74-3D0D-B843-9BB0-A81FAE885250}"/>
              </a:ext>
            </a:extLst>
          </p:cNvPr>
          <p:cNvSpPr txBox="1">
            <a:spLocks/>
          </p:cNvSpPr>
          <p:nvPr/>
        </p:nvSpPr>
        <p:spPr>
          <a:xfrm>
            <a:off x="7292229" y="5121941"/>
            <a:ext cx="1733572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ח. עודפים </a:t>
            </a:r>
          </a:p>
        </p:txBody>
      </p:sp>
      <p:grpSp>
        <p:nvGrpSpPr>
          <p:cNvPr id="14" name="קבוצה 22">
            <a:extLst>
              <a:ext uri="{FF2B5EF4-FFF2-40B4-BE49-F238E27FC236}">
                <a16:creationId xmlns:a16="http://schemas.microsoft.com/office/drawing/2014/main" id="{3DB28582-E3AF-96C9-359F-70A61B139D49}"/>
              </a:ext>
            </a:extLst>
          </p:cNvPr>
          <p:cNvGrpSpPr/>
          <p:nvPr/>
        </p:nvGrpSpPr>
        <p:grpSpPr>
          <a:xfrm>
            <a:off x="6225429" y="5119901"/>
            <a:ext cx="1066800" cy="540548"/>
            <a:chOff x="6140823" y="4327288"/>
            <a:chExt cx="1066800" cy="540548"/>
          </a:xfrm>
        </p:grpSpPr>
        <p:sp>
          <p:nvSpPr>
            <p:cNvPr id="15" name="חץ: שמאלה-ימינה 23">
              <a:extLst>
                <a:ext uri="{FF2B5EF4-FFF2-40B4-BE49-F238E27FC236}">
                  <a16:creationId xmlns:a16="http://schemas.microsoft.com/office/drawing/2014/main" id="{60FA278D-C7A5-E042-B303-F05916CFAD82}"/>
                </a:ext>
              </a:extLst>
            </p:cNvPr>
            <p:cNvSpPr/>
            <p:nvPr/>
          </p:nvSpPr>
          <p:spPr>
            <a:xfrm>
              <a:off x="6212541" y="4327288"/>
              <a:ext cx="995082" cy="540548"/>
            </a:xfrm>
            <a:prstGeom prst="left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כותרת משנה 2">
              <a:extLst>
                <a:ext uri="{FF2B5EF4-FFF2-40B4-BE49-F238E27FC236}">
                  <a16:creationId xmlns:a16="http://schemas.microsoft.com/office/drawing/2014/main" id="{DCC4D041-ED6A-2DDA-60D5-90C3A6E3F1DE}"/>
                </a:ext>
              </a:extLst>
            </p:cNvPr>
            <p:cNvSpPr txBox="1">
              <a:spLocks/>
            </p:cNvSpPr>
            <p:nvPr/>
          </p:nvSpPr>
          <p:spPr>
            <a:xfrm>
              <a:off x="6140823" y="4403826"/>
              <a:ext cx="995082" cy="4318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1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None/>
                <a:defRPr sz="2200" kern="1200" spc="10" baseline="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he-IL" sz="2000" dirty="0">
                  <a:solidFill>
                    <a:schemeClr val="tx1">
                      <a:lumMod val="9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נרשום</a:t>
              </a:r>
            </a:p>
          </p:txBody>
        </p:sp>
      </p:grpSp>
      <p:sp>
        <p:nvSpPr>
          <p:cNvPr id="17" name="כותרת משנה 2">
            <a:extLst>
              <a:ext uri="{FF2B5EF4-FFF2-40B4-BE49-F238E27FC236}">
                <a16:creationId xmlns:a16="http://schemas.microsoft.com/office/drawing/2014/main" id="{2D64F782-D039-768C-4740-24E8E71D97D0}"/>
              </a:ext>
            </a:extLst>
          </p:cNvPr>
          <p:cNvSpPr txBox="1">
            <a:spLocks/>
          </p:cNvSpPr>
          <p:nvPr/>
        </p:nvSpPr>
        <p:spPr>
          <a:xfrm>
            <a:off x="338885" y="5119901"/>
            <a:ext cx="5814825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ח. הוצאות מ.../ הפסד מ... </a:t>
            </a:r>
          </a:p>
        </p:txBody>
      </p:sp>
      <p:pic>
        <p:nvPicPr>
          <p:cNvPr id="19" name="תמונה 4">
            <a:extLst>
              <a:ext uri="{FF2B5EF4-FFF2-40B4-BE49-F238E27FC236}">
                <a16:creationId xmlns:a16="http://schemas.microsoft.com/office/drawing/2014/main" id="{4BF816D1-18F5-8C97-7597-4C67561263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8" t="68108"/>
          <a:stretch/>
        </p:blipFill>
        <p:spPr>
          <a:xfrm>
            <a:off x="704289" y="0"/>
            <a:ext cx="1736912" cy="171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7798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20151</TotalTime>
  <Words>825</Words>
  <Application>Microsoft Macintosh PowerPoint</Application>
  <PresentationFormat>Widescreen</PresentationFormat>
  <Paragraphs>158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Segoe UI Light</vt:lpstr>
      <vt:lpstr>ערכת נושא Office</vt:lpstr>
      <vt:lpstr>יסודות החשבונאות 10280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מסים על ההכנסה</dc:title>
  <dc:creator>דימה פנטליס</dc:creator>
  <cp:lastModifiedBy>Dima Fantalis</cp:lastModifiedBy>
  <cp:revision>230</cp:revision>
  <dcterms:created xsi:type="dcterms:W3CDTF">2018-10-16T21:27:06Z</dcterms:created>
  <dcterms:modified xsi:type="dcterms:W3CDTF">2026-09-06T14:28:06Z</dcterms:modified>
</cp:coreProperties>
</file>